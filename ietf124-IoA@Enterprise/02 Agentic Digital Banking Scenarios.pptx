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0" r:id="rId3"/>
  </p:sldMasterIdLst>
  <p:notesMasterIdLst>
    <p:notesMasterId r:id="rId12"/>
  </p:notesMasterIdLst>
  <p:sldIdLst>
    <p:sldId id="256" r:id="rId4"/>
    <p:sldId id="2147483145" r:id="rId5"/>
    <p:sldId id="2147483140" r:id="rId6"/>
    <p:sldId id="16776716" r:id="rId7"/>
    <p:sldId id="2147483141" r:id="rId8"/>
    <p:sldId id="2147483139" r:id="rId9"/>
    <p:sldId id="16776711" r:id="rId10"/>
    <p:sldId id="263" r:id="rId11"/>
  </p:sldIdLst>
  <p:sldSz cx="9144000" cy="5143500" type="screen16x9"/>
  <p:notesSz cx="6858000" cy="9144000"/>
  <p:defaultTextStyle>
    <a:defPPr>
      <a:defRPr lang="zh-CN"/>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0" d="100"/>
          <a:sy n="140" d="100"/>
        </p:scale>
        <p:origin x="96" y="1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页眉占位符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zh-CN"/>
          </a:p>
        </p:txBody>
      </p:sp>
      <p:sp>
        <p:nvSpPr>
          <p:cNvPr id="3" name="日期占位符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D2B79AA8-49F1-4003-8A51-A751EE1E53CD}" type="datetimeFigureOut">
              <a:rPr lang="en-US" altLang="zh-CN"/>
              <a:t>11/6/2025</a:t>
            </a:fld>
            <a:endParaRPr lang="zh-CN"/>
          </a:p>
        </p:txBody>
      </p:sp>
      <p:sp>
        <p:nvSpPr>
          <p:cNvPr id="4" name="幻灯片图像占位符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zh-CN"/>
          </a:p>
        </p:txBody>
      </p:sp>
      <p:sp>
        <p:nvSpPr>
          <p:cNvPr id="5" name="备注占位符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zh-CN"/>
              <a:t>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6" name="页脚占位符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zh-CN"/>
          </a:p>
        </p:txBody>
      </p:sp>
      <p:sp>
        <p:nvSpPr>
          <p:cNvPr id="7" name="灯片编号占位符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76C7144C-B4A8-4B70-B284-BD31AA71D525}" type="slidenum">
              <a:rPr lang="zh-CN"/>
              <a:t>‹#›</a:t>
            </a:fld>
            <a:endParaRPr lang="zh-CN"/>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91867A-D5F4-11EE-7F13-9257EBA51393}"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8995F86-9627-9B5D-48B7-91A1B923E601}"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6C7144C-B4A8-4B70-B284-BD31AA71D525}" type="slidenum">
              <a:rPr lang="en-US" altLang="zh-CN" smtClean="0"/>
              <a:t>3</a:t>
            </a:fld>
            <a:endParaRPr lang="zh-CN"/>
          </a:p>
        </p:txBody>
      </p:sp>
    </p:spTree>
    <p:extLst>
      <p:ext uri="{BB962C8B-B14F-4D97-AF65-F5344CB8AC3E}">
        <p14:creationId xmlns:p14="http://schemas.microsoft.com/office/powerpoint/2010/main" val="2799814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dirty="0">
                <a:solidFill>
                  <a:srgbClr val="FF0000"/>
                </a:solidFill>
                <a:sym typeface="+mn-ea"/>
              </a:rPr>
              <a:t>Open banking platforms enable retailers to complete a seamless, end-to-end process online for credit</a:t>
            </a:r>
            <a:r>
              <a:rPr lang="en-US" dirty="0">
                <a:solidFill>
                  <a:srgbClr val="FF0000"/>
                </a:solidFill>
                <a:sym typeface="+mn-ea"/>
              </a:rPr>
              <a:t> application</a:t>
            </a:r>
            <a:r>
              <a:rPr dirty="0">
                <a:solidFill>
                  <a:srgbClr val="FF0000"/>
                </a:solidFill>
                <a:sym typeface="+mn-ea"/>
              </a:rPr>
              <a:t>, account opening, lending, and order tracking</a:t>
            </a:r>
            <a:r>
              <a:rPr lang="en-US" dirty="0">
                <a:solidFill>
                  <a:srgbClr val="FF0000"/>
                </a:solidFill>
                <a:sym typeface="+mn-ea"/>
              </a:rPr>
              <a:t>, </a:t>
            </a:r>
            <a:r>
              <a:rPr dirty="0">
                <a:solidFill>
                  <a:srgbClr val="FF0000"/>
                </a:solidFill>
                <a:sym typeface="+mn-ea"/>
              </a:rPr>
              <a:t>which is far more efficient than obtaining loans through third-party internet firms.</a:t>
            </a:r>
            <a:endParaRPr dirty="0">
              <a:solidFill>
                <a:srgbClr val="FF0000"/>
              </a:solidFill>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6</a:t>
            </a:fld>
            <a:endParaRPr lang="en-US"/>
          </a:p>
        </p:txBody>
      </p:sp>
    </p:spTree>
    <p:extLst>
      <p:ext uri="{BB962C8B-B14F-4D97-AF65-F5344CB8AC3E}">
        <p14:creationId xmlns:p14="http://schemas.microsoft.com/office/powerpoint/2010/main" val="2829416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B6F87C4-FC79-C8EE-B030-DDE906DE1360}" type="slidenum">
              <a:rPr/>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标题幻灯片">
    <p:spTree>
      <p:nvGrpSpPr>
        <p:cNvPr id="1" name=""/>
        <p:cNvGrpSpPr/>
        <p:nvPr/>
      </p:nvGrpSpPr>
      <p:grpSpPr bwMode="auto">
        <a:xfrm>
          <a:off x="0" y="0"/>
          <a:ext cx="0" cy="0"/>
          <a:chOff x="0" y="0"/>
          <a:chExt cx="0" cy="0"/>
        </a:xfrm>
      </p:grpSpPr>
      <p:sp>
        <p:nvSpPr>
          <p:cNvPr id="2" name="标题 1"/>
          <p:cNvSpPr>
            <a:spLocks noGrp="1"/>
          </p:cNvSpPr>
          <p:nvPr>
            <p:ph type="ctrTitle"/>
          </p:nvPr>
        </p:nvSpPr>
        <p:spPr bwMode="auto">
          <a:xfrm>
            <a:off x="685800" y="1597819"/>
            <a:ext cx="7772400" cy="1102519"/>
          </a:xfrm>
        </p:spPr>
        <p:txBody>
          <a:bodyPr/>
          <a:lstStyle/>
          <a:p>
            <a:pPr>
              <a:defRPr/>
            </a:pPr>
            <a:r>
              <a:rPr lang="zh-CN"/>
              <a:t>单击此处编辑母版标题样式</a:t>
            </a:r>
            <a:endParaRPr/>
          </a:p>
        </p:txBody>
      </p:sp>
      <p:sp>
        <p:nvSpPr>
          <p:cNvPr id="3" name="副标题 2"/>
          <p:cNvSpPr>
            <a:spLocks noGrp="1"/>
          </p:cNvSpPr>
          <p:nvPr>
            <p:ph type="subTitle" idx="1"/>
          </p:nvPr>
        </p:nvSpPr>
        <p:spPr bwMode="auto">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zh-CN"/>
              <a:t>单击此处编辑母版副标题样式</a:t>
            </a:r>
            <a:endParaRP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标题和内容">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p>
            <a:pPr>
              <a:defRPr/>
            </a:pPr>
            <a:r>
              <a:rPr lang="zh-CN"/>
              <a:t>单击此处编辑母版标题样式</a:t>
            </a:r>
            <a:endParaRPr/>
          </a:p>
        </p:txBody>
      </p:sp>
      <p:sp>
        <p:nvSpPr>
          <p:cNvPr id="3" name="内容占位符 2"/>
          <p:cNvSpPr>
            <a:spLocks noGrp="1"/>
          </p:cNvSpPr>
          <p:nvPr>
            <p:ph idx="1"/>
          </p:nvPr>
        </p:nvSpPr>
        <p:spPr bwMode="auto"/>
        <p:txBody>
          <a:bodyPr/>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节标题">
    <p:spTree>
      <p:nvGrpSpPr>
        <p:cNvPr id="1" name=""/>
        <p:cNvGrpSpPr/>
        <p:nvPr/>
      </p:nvGrpSpPr>
      <p:grpSpPr bwMode="auto">
        <a:xfrm>
          <a:off x="0" y="0"/>
          <a:ext cx="0" cy="0"/>
          <a:chOff x="0" y="0"/>
          <a:chExt cx="0" cy="0"/>
        </a:xfrm>
      </p:grpSpPr>
      <p:sp>
        <p:nvSpPr>
          <p:cNvPr id="2" name="标题 1"/>
          <p:cNvSpPr>
            <a:spLocks noGrp="1"/>
          </p:cNvSpPr>
          <p:nvPr>
            <p:ph type="title"/>
          </p:nvPr>
        </p:nvSpPr>
        <p:spPr bwMode="auto">
          <a:xfrm>
            <a:off x="722313" y="3305176"/>
            <a:ext cx="7772400" cy="1021556"/>
          </a:xfrm>
        </p:spPr>
        <p:txBody>
          <a:bodyPr anchor="t"/>
          <a:lstStyle>
            <a:lvl1pPr algn="l">
              <a:defRPr sz="4000" b="1" cap="all"/>
            </a:lvl1pPr>
          </a:lstStyle>
          <a:p>
            <a:pPr>
              <a:defRPr/>
            </a:pPr>
            <a:r>
              <a:rPr lang="zh-CN"/>
              <a:t>单击此处编辑母版标题样式</a:t>
            </a:r>
            <a:endParaRPr/>
          </a:p>
        </p:txBody>
      </p:sp>
      <p:sp>
        <p:nvSpPr>
          <p:cNvPr id="3" name="文本占位符 2"/>
          <p:cNvSpPr>
            <a:spLocks noGrp="1"/>
          </p:cNvSpPr>
          <p:nvPr>
            <p:ph type="body" idx="1"/>
          </p:nvPr>
        </p:nvSpPr>
        <p:spPr bwMode="auto">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zh-CN"/>
              <a:t>单击此处编辑母版文本样式</a:t>
            </a:r>
            <a:endParaRP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两栏内容">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p>
            <a:pPr>
              <a:defRPr/>
            </a:pPr>
            <a:r>
              <a:rPr lang="zh-CN"/>
              <a:t>单击此处编辑母版标题样式</a:t>
            </a:r>
            <a:endParaRPr/>
          </a:p>
        </p:txBody>
      </p:sp>
      <p:sp>
        <p:nvSpPr>
          <p:cNvPr id="3" name="内容占位符 2"/>
          <p:cNvSpPr>
            <a:spLocks noGrp="1"/>
          </p:cNvSpPr>
          <p:nvPr>
            <p:ph sz="half" idx="1"/>
          </p:nvPr>
        </p:nvSpPr>
        <p:spPr bwMode="auto">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4" name="内容占位符 3"/>
          <p:cNvSpPr>
            <a:spLocks noGrp="1"/>
          </p:cNvSpPr>
          <p:nvPr>
            <p:ph sz="half" idx="2"/>
          </p:nvPr>
        </p:nvSpPr>
        <p:spPr bwMode="auto">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5" name="日期占位符 4"/>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6" name="页脚占位符 5"/>
          <p:cNvSpPr>
            <a:spLocks noGrp="1"/>
          </p:cNvSpPr>
          <p:nvPr>
            <p:ph type="ftr" sz="quarter" idx="11"/>
          </p:nvPr>
        </p:nvSpPr>
        <p:spPr bwMode="auto"/>
        <p:txBody>
          <a:bodyPr/>
          <a:lstStyle/>
          <a:p>
            <a:pPr>
              <a:defRPr/>
            </a:pPr>
            <a:endParaRPr lang="zh-CN"/>
          </a:p>
        </p:txBody>
      </p:sp>
      <p:sp>
        <p:nvSpPr>
          <p:cNvPr id="7" name="灯片编号占位符 6"/>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比较">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lvl1pPr>
              <a:defRPr/>
            </a:lvl1pPr>
          </a:lstStyle>
          <a:p>
            <a:pPr>
              <a:defRPr/>
            </a:pPr>
            <a:r>
              <a:rPr lang="zh-CN"/>
              <a:t>单击此处编辑母版标题样式</a:t>
            </a:r>
            <a:endParaRPr/>
          </a:p>
        </p:txBody>
      </p:sp>
      <p:sp>
        <p:nvSpPr>
          <p:cNvPr id="3" name="文本占位符 2"/>
          <p:cNvSpPr>
            <a:spLocks noGrp="1"/>
          </p:cNvSpPr>
          <p:nvPr>
            <p:ph type="body" idx="1"/>
          </p:nvPr>
        </p:nvSpPr>
        <p:spPr bwMode="auto">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zh-CN"/>
              <a:t>单击此处编辑母版文本样式</a:t>
            </a:r>
            <a:endParaRPr/>
          </a:p>
        </p:txBody>
      </p:sp>
      <p:sp>
        <p:nvSpPr>
          <p:cNvPr id="4" name="内容占位符 3"/>
          <p:cNvSpPr>
            <a:spLocks noGrp="1"/>
          </p:cNvSpPr>
          <p:nvPr>
            <p:ph sz="half" idx="2"/>
          </p:nvPr>
        </p:nvSpPr>
        <p:spPr bwMode="auto">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5" name="文本占位符 4"/>
          <p:cNvSpPr>
            <a:spLocks noGrp="1"/>
          </p:cNvSpPr>
          <p:nvPr>
            <p:ph type="body" sz="quarter" idx="3"/>
          </p:nvPr>
        </p:nvSpPr>
        <p:spPr bwMode="auto">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zh-CN"/>
              <a:t>单击此处编辑母版文本样式</a:t>
            </a:r>
            <a:endParaRPr/>
          </a:p>
        </p:txBody>
      </p:sp>
      <p:sp>
        <p:nvSpPr>
          <p:cNvPr id="6" name="内容占位符 5"/>
          <p:cNvSpPr>
            <a:spLocks noGrp="1"/>
          </p:cNvSpPr>
          <p:nvPr>
            <p:ph sz="quarter" idx="4"/>
          </p:nvPr>
        </p:nvSpPr>
        <p:spPr bwMode="auto">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7" name="日期占位符 6"/>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8" name="页脚占位符 7"/>
          <p:cNvSpPr>
            <a:spLocks noGrp="1"/>
          </p:cNvSpPr>
          <p:nvPr>
            <p:ph type="ftr" sz="quarter" idx="11"/>
          </p:nvPr>
        </p:nvSpPr>
        <p:spPr bwMode="auto"/>
        <p:txBody>
          <a:bodyPr/>
          <a:lstStyle/>
          <a:p>
            <a:pPr>
              <a:defRPr/>
            </a:pPr>
            <a:endParaRPr lang="zh-CN"/>
          </a:p>
        </p:txBody>
      </p:sp>
      <p:sp>
        <p:nvSpPr>
          <p:cNvPr id="9" name="灯片编号占位符 8"/>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仅标题">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p>
            <a:pPr>
              <a:defRPr/>
            </a:pPr>
            <a:r>
              <a:rPr lang="zh-CN"/>
              <a:t>单击此处编辑母版标题样式</a:t>
            </a:r>
            <a:endParaRPr/>
          </a:p>
        </p:txBody>
      </p:sp>
      <p:sp>
        <p:nvSpPr>
          <p:cNvPr id="3" name="日期占位符 2"/>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4" name="页脚占位符 3"/>
          <p:cNvSpPr>
            <a:spLocks noGrp="1"/>
          </p:cNvSpPr>
          <p:nvPr>
            <p:ph type="ftr" sz="quarter" idx="11"/>
          </p:nvPr>
        </p:nvSpPr>
        <p:spPr bwMode="auto"/>
        <p:txBody>
          <a:bodyPr/>
          <a:lstStyle/>
          <a:p>
            <a:pPr>
              <a:defRPr/>
            </a:pPr>
            <a:endParaRPr lang="zh-CN"/>
          </a:p>
        </p:txBody>
      </p:sp>
      <p:sp>
        <p:nvSpPr>
          <p:cNvPr id="5" name="灯片编号占位符 4"/>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空白">
    <p:spTree>
      <p:nvGrpSpPr>
        <p:cNvPr id="1" name=""/>
        <p:cNvGrpSpPr/>
        <p:nvPr/>
      </p:nvGrpSpPr>
      <p:grpSpPr bwMode="auto">
        <a:xfrm>
          <a:off x="0" y="0"/>
          <a:ext cx="0" cy="0"/>
          <a:chOff x="0" y="0"/>
          <a:chExt cx="0" cy="0"/>
        </a:xfrm>
      </p:grpSpPr>
      <p:sp>
        <p:nvSpPr>
          <p:cNvPr id="2" name="日期占位符 1"/>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3" name="页脚占位符 2"/>
          <p:cNvSpPr>
            <a:spLocks noGrp="1"/>
          </p:cNvSpPr>
          <p:nvPr>
            <p:ph type="ftr" sz="quarter" idx="11"/>
          </p:nvPr>
        </p:nvSpPr>
        <p:spPr bwMode="auto"/>
        <p:txBody>
          <a:bodyPr/>
          <a:lstStyle/>
          <a:p>
            <a:pPr>
              <a:defRPr/>
            </a:pPr>
            <a:endParaRPr lang="zh-CN"/>
          </a:p>
        </p:txBody>
      </p:sp>
      <p:sp>
        <p:nvSpPr>
          <p:cNvPr id="4" name="灯片编号占位符 3"/>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内容与标题">
    <p:spTree>
      <p:nvGrpSpPr>
        <p:cNvPr id="1" name=""/>
        <p:cNvGrpSpPr/>
        <p:nvPr/>
      </p:nvGrpSpPr>
      <p:grpSpPr bwMode="auto">
        <a:xfrm>
          <a:off x="0" y="0"/>
          <a:ext cx="0" cy="0"/>
          <a:chOff x="0" y="0"/>
          <a:chExt cx="0" cy="0"/>
        </a:xfrm>
      </p:grpSpPr>
      <p:sp>
        <p:nvSpPr>
          <p:cNvPr id="2" name="标题 1"/>
          <p:cNvSpPr>
            <a:spLocks noGrp="1"/>
          </p:cNvSpPr>
          <p:nvPr>
            <p:ph type="title"/>
          </p:nvPr>
        </p:nvSpPr>
        <p:spPr bwMode="auto">
          <a:xfrm>
            <a:off x="457201" y="204787"/>
            <a:ext cx="3008313" cy="871538"/>
          </a:xfrm>
        </p:spPr>
        <p:txBody>
          <a:bodyPr anchor="b"/>
          <a:lstStyle>
            <a:lvl1pPr algn="l">
              <a:defRPr sz="2000" b="1"/>
            </a:lvl1pPr>
          </a:lstStyle>
          <a:p>
            <a:pPr>
              <a:defRPr/>
            </a:pPr>
            <a:r>
              <a:rPr lang="zh-CN"/>
              <a:t>单击此处编辑母版标题样式</a:t>
            </a:r>
            <a:endParaRPr/>
          </a:p>
        </p:txBody>
      </p:sp>
      <p:sp>
        <p:nvSpPr>
          <p:cNvPr id="3" name="内容占位符 2"/>
          <p:cNvSpPr>
            <a:spLocks noGrp="1"/>
          </p:cNvSpPr>
          <p:nvPr>
            <p:ph idx="1"/>
          </p:nvPr>
        </p:nvSpPr>
        <p:spPr bwMode="auto">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4" name="文本占位符 3"/>
          <p:cNvSpPr>
            <a:spLocks noGrp="1"/>
          </p:cNvSpPr>
          <p:nvPr>
            <p:ph type="body" sz="half" idx="2"/>
          </p:nvPr>
        </p:nvSpPr>
        <p:spPr bwMode="auto">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zh-CN"/>
              <a:t>单击此处编辑母版文本样式</a:t>
            </a:r>
            <a:endParaRPr/>
          </a:p>
        </p:txBody>
      </p:sp>
      <p:sp>
        <p:nvSpPr>
          <p:cNvPr id="5" name="日期占位符 4"/>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6" name="页脚占位符 5"/>
          <p:cNvSpPr>
            <a:spLocks noGrp="1"/>
          </p:cNvSpPr>
          <p:nvPr>
            <p:ph type="ftr" sz="quarter" idx="11"/>
          </p:nvPr>
        </p:nvSpPr>
        <p:spPr bwMode="auto"/>
        <p:txBody>
          <a:bodyPr/>
          <a:lstStyle/>
          <a:p>
            <a:pPr>
              <a:defRPr/>
            </a:pPr>
            <a:endParaRPr lang="zh-CN"/>
          </a:p>
        </p:txBody>
      </p:sp>
      <p:sp>
        <p:nvSpPr>
          <p:cNvPr id="7" name="灯片编号占位符 6"/>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图片与标题">
    <p:spTree>
      <p:nvGrpSpPr>
        <p:cNvPr id="1" name=""/>
        <p:cNvGrpSpPr/>
        <p:nvPr/>
      </p:nvGrpSpPr>
      <p:grpSpPr bwMode="auto">
        <a:xfrm>
          <a:off x="0" y="0"/>
          <a:ext cx="0" cy="0"/>
          <a:chOff x="0" y="0"/>
          <a:chExt cx="0" cy="0"/>
        </a:xfrm>
      </p:grpSpPr>
      <p:sp>
        <p:nvSpPr>
          <p:cNvPr id="2" name="标题 1"/>
          <p:cNvSpPr>
            <a:spLocks noGrp="1"/>
          </p:cNvSpPr>
          <p:nvPr>
            <p:ph type="title"/>
          </p:nvPr>
        </p:nvSpPr>
        <p:spPr bwMode="auto">
          <a:xfrm>
            <a:off x="1792288" y="3600450"/>
            <a:ext cx="5486400" cy="425054"/>
          </a:xfrm>
        </p:spPr>
        <p:txBody>
          <a:bodyPr anchor="b"/>
          <a:lstStyle>
            <a:lvl1pPr algn="l">
              <a:defRPr sz="2000" b="1"/>
            </a:lvl1pPr>
          </a:lstStyle>
          <a:p>
            <a:pPr>
              <a:defRPr/>
            </a:pPr>
            <a:r>
              <a:rPr lang="zh-CN"/>
              <a:t>单击此处编辑母版标题样式</a:t>
            </a:r>
            <a:endParaRPr/>
          </a:p>
        </p:txBody>
      </p:sp>
      <p:sp>
        <p:nvSpPr>
          <p:cNvPr id="3" name="图片占位符 2"/>
          <p:cNvSpPr>
            <a:spLocks noGrp="1"/>
          </p:cNvSpPr>
          <p:nvPr>
            <p:ph type="pic" idx="1"/>
          </p:nvPr>
        </p:nvSpPr>
        <p:spPr bwMode="auto">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zh-CN"/>
          </a:p>
        </p:txBody>
      </p:sp>
      <p:sp>
        <p:nvSpPr>
          <p:cNvPr id="4" name="文本占位符 3"/>
          <p:cNvSpPr>
            <a:spLocks noGrp="1"/>
          </p:cNvSpPr>
          <p:nvPr>
            <p:ph type="body" sz="half" idx="2"/>
          </p:nvPr>
        </p:nvSpPr>
        <p:spPr bwMode="auto">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zh-CN"/>
              <a:t>单击此处编辑母版文本样式</a:t>
            </a:r>
            <a:endParaRPr/>
          </a:p>
        </p:txBody>
      </p:sp>
      <p:sp>
        <p:nvSpPr>
          <p:cNvPr id="5" name="日期占位符 4"/>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6" name="页脚占位符 5"/>
          <p:cNvSpPr>
            <a:spLocks noGrp="1"/>
          </p:cNvSpPr>
          <p:nvPr>
            <p:ph type="ftr" sz="quarter" idx="11"/>
          </p:nvPr>
        </p:nvSpPr>
        <p:spPr bwMode="auto"/>
        <p:txBody>
          <a:bodyPr/>
          <a:lstStyle/>
          <a:p>
            <a:pPr>
              <a:defRPr/>
            </a:pPr>
            <a:endParaRPr lang="zh-CN"/>
          </a:p>
        </p:txBody>
      </p:sp>
      <p:sp>
        <p:nvSpPr>
          <p:cNvPr id="7" name="灯片编号占位符 6"/>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标题和竖排文字">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p>
            <a:pPr>
              <a:defRPr/>
            </a:pPr>
            <a:r>
              <a:rPr lang="zh-CN"/>
              <a:t>单击此处编辑母版标题样式</a:t>
            </a:r>
            <a:endParaRPr/>
          </a:p>
        </p:txBody>
      </p:sp>
      <p:sp>
        <p:nvSpPr>
          <p:cNvPr id="3" name="竖排文字占位符 2"/>
          <p:cNvSpPr>
            <a:spLocks noGrp="1"/>
          </p:cNvSpPr>
          <p:nvPr>
            <p:ph type="body" orient="vert" idx="1"/>
          </p:nvPr>
        </p:nvSpPr>
        <p:spPr bwMode="auto"/>
        <p:txBody>
          <a:bodyPr vert="eaVert"/>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垂直排列标题与文本">
    <p:spTree>
      <p:nvGrpSpPr>
        <p:cNvPr id="1" name=""/>
        <p:cNvGrpSpPr/>
        <p:nvPr/>
      </p:nvGrpSpPr>
      <p:grpSpPr bwMode="auto">
        <a:xfrm>
          <a:off x="0" y="0"/>
          <a:ext cx="0" cy="0"/>
          <a:chOff x="0" y="0"/>
          <a:chExt cx="0" cy="0"/>
        </a:xfrm>
      </p:grpSpPr>
      <p:sp>
        <p:nvSpPr>
          <p:cNvPr id="2" name="竖排标题 1"/>
          <p:cNvSpPr>
            <a:spLocks noGrp="1"/>
          </p:cNvSpPr>
          <p:nvPr>
            <p:ph type="title" orient="vert"/>
          </p:nvPr>
        </p:nvSpPr>
        <p:spPr bwMode="auto">
          <a:xfrm>
            <a:off x="6629400" y="205979"/>
            <a:ext cx="2057400" cy="4388644"/>
          </a:xfrm>
        </p:spPr>
        <p:txBody>
          <a:bodyPr vert="eaVert"/>
          <a:lstStyle/>
          <a:p>
            <a:pPr>
              <a:defRPr/>
            </a:pPr>
            <a:r>
              <a:rPr lang="zh-CN"/>
              <a:t>单击此处编辑母版标题样式</a:t>
            </a:r>
            <a:endParaRPr/>
          </a:p>
        </p:txBody>
      </p:sp>
      <p:sp>
        <p:nvSpPr>
          <p:cNvPr id="3" name="竖排文字占位符 2"/>
          <p:cNvSpPr>
            <a:spLocks noGrp="1"/>
          </p:cNvSpPr>
          <p:nvPr>
            <p:ph type="body" orient="vert" idx="1"/>
          </p:nvPr>
        </p:nvSpPr>
        <p:spPr bwMode="auto">
          <a:xfrm>
            <a:off x="457200" y="205979"/>
            <a:ext cx="6019800" cy="4388644"/>
          </a:xfrm>
        </p:spPr>
        <p:txBody>
          <a:bodyPr vert="eaVert"/>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标题幻灯片">
    <p:spTree>
      <p:nvGrpSpPr>
        <p:cNvPr id="1" name=""/>
        <p:cNvGrpSpPr/>
        <p:nvPr/>
      </p:nvGrpSpPr>
      <p:grpSpPr bwMode="auto">
        <a:xfrm>
          <a:off x="0" y="0"/>
          <a:ext cx="0" cy="0"/>
          <a:chOff x="0" y="0"/>
          <a:chExt cx="0" cy="0"/>
        </a:xfrm>
      </p:grpSpPr>
      <p:sp>
        <p:nvSpPr>
          <p:cNvPr id="4" name="标题 1"/>
          <p:cNvSpPr>
            <a:spLocks noGrp="1"/>
          </p:cNvSpPr>
          <p:nvPr>
            <p:ph type="ctrTitle" hasCustomPrompt="1"/>
          </p:nvPr>
        </p:nvSpPr>
        <p:spPr bwMode="auto">
          <a:xfrm>
            <a:off x="294197" y="483518"/>
            <a:ext cx="7493035" cy="900000"/>
          </a:xfrm>
        </p:spPr>
        <p:txBody>
          <a:bodyPr>
            <a:normAutofit/>
          </a:bodyPr>
          <a:lstStyle>
            <a:lvl1pPr marL="0" marR="0" indent="0" algn="l" defTabSz="1023967">
              <a:lnSpc>
                <a:spcPct val="100000"/>
              </a:lnSpc>
              <a:spcBef>
                <a:spcPts val="0"/>
              </a:spcBef>
              <a:spcAft>
                <a:spcPts val="0"/>
              </a:spcAft>
              <a:buClrTx/>
              <a:buSzTx/>
              <a:buFontTx/>
              <a:buNone/>
              <a:defRPr sz="4000" b="1">
                <a:solidFill>
                  <a:schemeClr val="bg1"/>
                </a:solidFill>
                <a:latin typeface="+mj-lt"/>
              </a:defRPr>
            </a:lvl1pPr>
          </a:lstStyle>
          <a:p>
            <a:pPr>
              <a:defRPr/>
            </a:pPr>
            <a:r>
              <a:rPr lang="en-US"/>
              <a:t>Contents :</a:t>
            </a:r>
            <a:endParaRPr/>
          </a:p>
        </p:txBody>
      </p:sp>
      <p:sp>
        <p:nvSpPr>
          <p:cNvPr id="5" name="副标题 2"/>
          <p:cNvSpPr>
            <a:spLocks noGrp="1"/>
          </p:cNvSpPr>
          <p:nvPr>
            <p:ph type="subTitle" idx="1" hasCustomPrompt="1"/>
          </p:nvPr>
        </p:nvSpPr>
        <p:spPr bwMode="auto">
          <a:xfrm>
            <a:off x="330770" y="1587520"/>
            <a:ext cx="7493035" cy="3072482"/>
          </a:xfrm>
        </p:spPr>
        <p:txBody>
          <a:bodyPr>
            <a:normAutofit/>
          </a:bodyPr>
          <a:lstStyle>
            <a:lvl1pPr marL="0" marR="0" indent="0" algn="l" defTabSz="1023967">
              <a:lnSpc>
                <a:spcPct val="100000"/>
              </a:lnSpc>
              <a:spcBef>
                <a:spcPts val="0"/>
              </a:spcBef>
              <a:spcAft>
                <a:spcPts val="0"/>
              </a:spcAft>
              <a:buClrTx/>
              <a:buSzTx/>
              <a:buFont typeface="Arial"/>
              <a:buNone/>
              <a:defRPr sz="3000" b="1">
                <a:solidFill>
                  <a:schemeClr val="bg1"/>
                </a:solidFill>
              </a:defRPr>
            </a:lvl1pPr>
            <a:lvl2pPr marL="511984" indent="0" algn="ctr">
              <a:buNone/>
              <a:defRPr>
                <a:solidFill>
                  <a:schemeClr val="tx1">
                    <a:tint val="75000"/>
                  </a:schemeClr>
                </a:solidFill>
              </a:defRPr>
            </a:lvl2pPr>
            <a:lvl3pPr marL="1023967" indent="0" algn="ctr">
              <a:buNone/>
              <a:defRPr>
                <a:solidFill>
                  <a:schemeClr val="tx1">
                    <a:tint val="75000"/>
                  </a:schemeClr>
                </a:solidFill>
              </a:defRPr>
            </a:lvl3pPr>
            <a:lvl4pPr marL="1535951" indent="0" algn="ctr">
              <a:buNone/>
              <a:defRPr>
                <a:solidFill>
                  <a:schemeClr val="tx1">
                    <a:tint val="75000"/>
                  </a:schemeClr>
                </a:solidFill>
              </a:defRPr>
            </a:lvl4pPr>
            <a:lvl5pPr marL="2047934" indent="0" algn="ctr">
              <a:buNone/>
              <a:defRPr>
                <a:solidFill>
                  <a:schemeClr val="tx1">
                    <a:tint val="75000"/>
                  </a:schemeClr>
                </a:solidFill>
              </a:defRPr>
            </a:lvl5pPr>
            <a:lvl6pPr marL="2559918" indent="0" algn="ctr">
              <a:buNone/>
              <a:defRPr>
                <a:solidFill>
                  <a:schemeClr val="tx1">
                    <a:tint val="75000"/>
                  </a:schemeClr>
                </a:solidFill>
              </a:defRPr>
            </a:lvl6pPr>
            <a:lvl7pPr marL="3071901" indent="0" algn="ctr">
              <a:buNone/>
              <a:defRPr>
                <a:solidFill>
                  <a:schemeClr val="tx1">
                    <a:tint val="75000"/>
                  </a:schemeClr>
                </a:solidFill>
              </a:defRPr>
            </a:lvl7pPr>
            <a:lvl8pPr marL="3583884" indent="0" algn="ctr">
              <a:buNone/>
              <a:defRPr>
                <a:solidFill>
                  <a:schemeClr val="tx1">
                    <a:tint val="75000"/>
                  </a:schemeClr>
                </a:solidFill>
              </a:defRPr>
            </a:lvl8pPr>
            <a:lvl9pPr marL="4095868" indent="0" algn="ctr">
              <a:buNone/>
              <a:defRPr>
                <a:solidFill>
                  <a:schemeClr val="tx1">
                    <a:tint val="75000"/>
                  </a:schemeClr>
                </a:solidFill>
              </a:defRPr>
            </a:lvl9pPr>
          </a:lstStyle>
          <a:p>
            <a:pPr>
              <a:defRPr/>
            </a:pPr>
            <a:r>
              <a:rPr lang="en-US"/>
              <a:t>Headline in Arial 36-40 point</a:t>
            </a:r>
            <a:endParaRPr 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userDrawn="1">
  <p:cSld name="节标题">
    <p:spTree>
      <p:nvGrpSpPr>
        <p:cNvPr id="1" name=""/>
        <p:cNvGrpSpPr/>
        <p:nvPr/>
      </p:nvGrpSpPr>
      <p:grpSpPr bwMode="auto">
        <a:xfrm>
          <a:off x="0" y="0"/>
          <a:ext cx="0" cy="0"/>
          <a:chOff x="0" y="0"/>
          <a:chExt cx="0" cy="0"/>
        </a:xfrm>
      </p:grpSpPr>
      <p:sp>
        <p:nvSpPr>
          <p:cNvPr id="2" name="标题 1"/>
          <p:cNvSpPr>
            <a:spLocks noGrp="1"/>
          </p:cNvSpPr>
          <p:nvPr>
            <p:ph type="title" hasCustomPrompt="1"/>
          </p:nvPr>
        </p:nvSpPr>
        <p:spPr bwMode="auto">
          <a:xfrm>
            <a:off x="249451" y="340213"/>
            <a:ext cx="6268054" cy="569751"/>
          </a:xfrm>
          <a:prstGeom prst="rect">
            <a:avLst/>
          </a:prstGeom>
          <a:noFill/>
          <a:ln w="9525" algn="ctr">
            <a:noFill/>
            <a:miter lim="800000"/>
            <a:headEnd/>
            <a:tailEnd/>
          </a:ln>
          <a:effectLst/>
        </p:spPr>
        <p:txBody>
          <a:bodyPr vert="horz" wrap="square" lIns="76750" tIns="38373" rIns="76750" bIns="38373" numCol="1" anchor="ctr" anchorCtr="0" compatLnSpc="1">
            <a:prstTxWarp prst="textNoShape">
              <a:avLst/>
            </a:prstTxWarp>
          </a:bodyPr>
          <a:lstStyle>
            <a:lvl1pPr marL="0" indent="0">
              <a:buFont typeface="Arial"/>
              <a:buNone/>
              <a:defRPr lang="zh-CN" sz="3400" b="0">
                <a:solidFill>
                  <a:schemeClr val="bg1"/>
                </a:solidFill>
                <a:latin typeface="FrutigerNext LT Regular"/>
                <a:ea typeface="黑体"/>
              </a:defRPr>
            </a:lvl1pPr>
          </a:lstStyle>
          <a:p>
            <a:pPr lvl="0">
              <a:defRPr/>
            </a:pPr>
            <a:r>
              <a:rPr lang="en-US"/>
              <a:t>HEADLINE TEXT TO BE PLACED HERE</a:t>
            </a:r>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userDrawn="1">
  <p:cSld name="2_节标题">
    <p:spTree>
      <p:nvGrpSpPr>
        <p:cNvPr id="1" name=""/>
        <p:cNvGrpSpPr/>
        <p:nvPr/>
      </p:nvGrpSpPr>
      <p:grpSpPr bwMode="auto">
        <a:xfrm>
          <a:off x="0" y="0"/>
          <a:ext cx="0" cy="0"/>
          <a:chOff x="0" y="0"/>
          <a:chExt cx="0" cy="0"/>
        </a:xfrm>
      </p:grpSpPr>
      <p:sp>
        <p:nvSpPr>
          <p:cNvPr id="3" name="Title 2"/>
          <p:cNvSpPr>
            <a:spLocks noGrp="1"/>
          </p:cNvSpPr>
          <p:nvPr>
            <p:ph type="title"/>
          </p:nvPr>
        </p:nvSpPr>
        <p:spPr bwMode="auto">
          <a:xfrm>
            <a:off x="585638" y="253624"/>
            <a:ext cx="8229837" cy="529828"/>
          </a:xfrm>
          <a:prstGeom prst="rect">
            <a:avLst/>
          </a:prstGeom>
        </p:spPr>
        <p:txBody>
          <a:bodyPr/>
          <a:lstStyle>
            <a:lvl1pPr>
              <a:defRPr>
                <a:latin typeface="Arial"/>
                <a:ea typeface="微软雅黑"/>
                <a:cs typeface="Arial"/>
              </a:defRPr>
            </a:lvl1pPr>
          </a:lstStyle>
          <a:p>
            <a:pPr>
              <a:defRPr/>
            </a:pPr>
            <a:r>
              <a:rPr lang="en-US"/>
              <a:t>Click to edit Master title style</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userDrawn="1">
  <p:cSld name="4_Content with Caption">
    <p:spTree>
      <p:nvGrpSpPr>
        <p:cNvPr id="1" name=""/>
        <p:cNvGrpSpPr/>
        <p:nvPr/>
      </p:nvGrpSpPr>
      <p:grpSpPr bwMode="auto">
        <a:xfrm>
          <a:off x="0" y="0"/>
          <a:ext cx="0" cy="0"/>
          <a:chOff x="0" y="0"/>
          <a:chExt cx="0" cy="0"/>
        </a:xfrm>
      </p:grpSpPr>
      <p:sp>
        <p:nvSpPr>
          <p:cNvPr id="4" name="矩形 3"/>
          <p:cNvSpPr/>
          <p:nvPr userDrawn="1"/>
        </p:nvSpPr>
        <p:spPr bwMode="auto">
          <a:xfrm>
            <a:off x="1" y="0"/>
            <a:ext cx="9171534" cy="5143500"/>
          </a:xfrm>
          <a:prstGeom prst="rect">
            <a:avLst/>
          </a:prstGeom>
          <a:gradFill>
            <a:gsLst>
              <a:gs pos="17000">
                <a:schemeClr val="tx2">
                  <a:lumMod val="50000"/>
                </a:schemeClr>
              </a:gs>
              <a:gs pos="73000">
                <a:srgbClr val="010219"/>
              </a:gs>
            </a:gsLst>
            <a:lin ang="16200000" scaled="1"/>
          </a:gradFill>
          <a:ln w="9525" algn="ctr">
            <a:noFill/>
            <a:miter lim="800000"/>
            <a:headEnd/>
            <a:tailEnd/>
          </a:ln>
        </p:spPr>
        <p:txBody>
          <a:bodyPr wrap="square" lIns="56273" tIns="28141" rIns="0" bIns="28141" rtlCol="0" anchor="ctr">
            <a:noAutofit/>
          </a:bodyPr>
          <a:lstStyle/>
          <a:p>
            <a:pPr marL="221267" indent="-221267" algn="ctr" defTabSz="563832">
              <a:buClr>
                <a:srgbClr val="990000"/>
              </a:buClr>
              <a:buSzPct val="80000"/>
              <a:buFont typeface="Arial"/>
              <a:buChar char="•"/>
              <a:defRPr/>
            </a:pPr>
            <a:endParaRPr lang="zh-CN" sz="2000" b="1">
              <a:solidFill>
                <a:srgbClr val="C00000"/>
              </a:solidFill>
              <a:latin typeface="微软雅黑"/>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userDrawn="1">
  <p:cSld name="2_Content with Caption">
    <p:spTree>
      <p:nvGrpSpPr>
        <p:cNvPr id="1" name=""/>
        <p:cNvGrpSpPr/>
        <p:nvPr/>
      </p:nvGrpSpPr>
      <p:grpSpPr bwMode="auto">
        <a:xfrm>
          <a:off x="0" y="0"/>
          <a:ext cx="0" cy="0"/>
          <a:chOff x="0" y="0"/>
          <a:chExt cx="0" cy="0"/>
        </a:xfrm>
      </p:grpSpPr>
      <p:sp>
        <p:nvSpPr>
          <p:cNvPr id="4" name="矩形 3"/>
          <p:cNvSpPr/>
          <p:nvPr userDrawn="1"/>
        </p:nvSpPr>
        <p:spPr bwMode="auto">
          <a:xfrm>
            <a:off x="1" y="0"/>
            <a:ext cx="9171534" cy="5143500"/>
          </a:xfrm>
          <a:prstGeom prst="rect">
            <a:avLst/>
          </a:prstGeom>
          <a:gradFill>
            <a:gsLst>
              <a:gs pos="17000">
                <a:schemeClr val="tx2">
                  <a:lumMod val="50000"/>
                </a:schemeClr>
              </a:gs>
              <a:gs pos="73000">
                <a:srgbClr val="010219"/>
              </a:gs>
            </a:gsLst>
            <a:lin ang="16200000" scaled="1"/>
          </a:gradFill>
          <a:ln w="9525" algn="ctr">
            <a:noFill/>
            <a:miter lim="800000"/>
            <a:headEnd/>
            <a:tailEnd/>
          </a:ln>
        </p:spPr>
        <p:txBody>
          <a:bodyPr wrap="square" lIns="56273" tIns="28141" rIns="0" bIns="28141" rtlCol="0" anchor="ctr">
            <a:noAutofit/>
          </a:bodyPr>
          <a:lstStyle/>
          <a:p>
            <a:pPr marL="221267" indent="-221267" algn="ctr" defTabSz="563832">
              <a:buClr>
                <a:srgbClr val="990000"/>
              </a:buClr>
              <a:buSzPct val="80000"/>
              <a:buFont typeface="Arial"/>
              <a:buChar char="•"/>
              <a:defRPr/>
            </a:pPr>
            <a:endParaRPr lang="zh-CN" sz="2000" b="1">
              <a:solidFill>
                <a:srgbClr val="C00000"/>
              </a:solidFill>
              <a:latin typeface="微软雅黑"/>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userDrawn="1">
  <p:cSld name="1_标题和内容">
    <p:spTree>
      <p:nvGrpSpPr>
        <p:cNvPr id="1" name=""/>
        <p:cNvGrpSpPr/>
        <p:nvPr/>
      </p:nvGrpSpPr>
      <p:grpSpPr bwMode="auto">
        <a:xfrm>
          <a:off x="0" y="0"/>
          <a:ext cx="0" cy="0"/>
          <a:chOff x="0" y="0"/>
          <a:chExt cx="0" cy="0"/>
        </a:xfrm>
      </p:grpSpPr>
      <p:sp>
        <p:nvSpPr>
          <p:cNvPr id="2" name="标题 1"/>
          <p:cNvSpPr>
            <a:spLocks noGrp="1"/>
          </p:cNvSpPr>
          <p:nvPr>
            <p:ph type="title"/>
          </p:nvPr>
        </p:nvSpPr>
        <p:spPr bwMode="auto">
          <a:xfrm>
            <a:off x="477117" y="265530"/>
            <a:ext cx="7632700" cy="653653"/>
          </a:xfrm>
          <a:prstGeom prst="rect">
            <a:avLst/>
          </a:prstGeom>
        </p:spPr>
        <p:txBody>
          <a:bodyPr anchor="ctr"/>
          <a:lstStyle>
            <a:lvl1pPr>
              <a:defRPr sz="3000">
                <a:latin typeface="Arial"/>
                <a:cs typeface="Arial"/>
              </a:defRPr>
            </a:lvl1pPr>
          </a:lstStyle>
          <a:p>
            <a:pPr>
              <a:defRPr/>
            </a:pPr>
            <a:r>
              <a:rPr lang="en-US"/>
              <a:t>Click to edit Master title style</a:t>
            </a:r>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userDrawn="1">
  <p:cSld name="Title and Chart">
    <p:spTree>
      <p:nvGrpSpPr>
        <p:cNvPr id="1" name=""/>
        <p:cNvGrpSpPr/>
        <p:nvPr/>
      </p:nvGrpSpPr>
      <p:grpSpPr bwMode="auto">
        <a:xfrm>
          <a:off x="0" y="0"/>
          <a:ext cx="0" cy="0"/>
          <a:chOff x="0" y="0"/>
          <a:chExt cx="0" cy="0"/>
        </a:xfrm>
      </p:grpSpPr>
      <p:sp>
        <p:nvSpPr>
          <p:cNvPr id="3" name="Chart Placeholder 2"/>
          <p:cNvSpPr>
            <a:spLocks noGrp="1"/>
          </p:cNvSpPr>
          <p:nvPr>
            <p:ph type="chart" idx="1"/>
          </p:nvPr>
        </p:nvSpPr>
        <p:spPr bwMode="auto">
          <a:xfrm>
            <a:off x="468313" y="844171"/>
            <a:ext cx="8280400" cy="3618309"/>
          </a:xfrm>
          <a:prstGeom prst="rect">
            <a:avLst/>
          </a:prstGeom>
        </p:spPr>
        <p:txBody>
          <a:bodyPr lIns="102375" tIns="51188" rIns="102375" bIns="51188"/>
          <a:lstStyle/>
          <a:p>
            <a:pPr lvl="0">
              <a:defRPr/>
            </a:pPr>
            <a:endParaRPr lang="zh-CN"/>
          </a:p>
        </p:txBody>
      </p:sp>
      <p:sp>
        <p:nvSpPr>
          <p:cNvPr id="4" name="Rectangle 5"/>
          <p:cNvSpPr>
            <a:spLocks noGrp="1" noChangeArrowheads="1"/>
          </p:cNvSpPr>
          <p:nvPr>
            <p:ph type="dt" sz="half" idx="10"/>
          </p:nvPr>
        </p:nvSpPr>
        <p:spPr bwMode="auto">
          <a:xfrm>
            <a:off x="6156325" y="4805567"/>
            <a:ext cx="2097088" cy="341709"/>
          </a:xfrm>
          <a:prstGeom prst="rect">
            <a:avLst/>
          </a:prstGeom>
          <a:ln/>
        </p:spPr>
        <p:txBody>
          <a:bodyPr lIns="102331" tIns="51168" rIns="102331" bIns="51168"/>
          <a:lstStyle>
            <a:lvl1pPr defTabSz="511873">
              <a:defRPr>
                <a:solidFill>
                  <a:schemeClr val="bg1"/>
                </a:solidFill>
              </a:defRPr>
            </a:lvl1pPr>
          </a:lstStyle>
          <a:p>
            <a:pPr>
              <a:defRPr/>
            </a:pPr>
            <a:r>
              <a:rPr lang="de-DE" sz="1400">
                <a:solidFill>
                  <a:srgbClr val="FFFFFF"/>
                </a:solidFill>
              </a:rPr>
              <a:t>Page </a:t>
            </a:r>
            <a:fld id="{A304142B-001E-4ABA-9083-D38E3CCDC6AD}" type="slidenum">
              <a:rPr lang="de-DE" sz="1400">
                <a:solidFill>
                  <a:srgbClr val="FFFFFF"/>
                </a:solidFill>
              </a:rPr>
              <a:t>‹#›</a:t>
            </a:fld>
            <a:endParaRPr lang="en-GB" sz="1400">
              <a:solidFill>
                <a:srgbClr val="FFFFFF"/>
              </a:solidFill>
            </a:endParaRPr>
          </a:p>
        </p:txBody>
      </p:sp>
      <p:sp>
        <p:nvSpPr>
          <p:cNvPr id="7" name="Title 1"/>
          <p:cNvSpPr>
            <a:spLocks noGrp="1"/>
          </p:cNvSpPr>
          <p:nvPr>
            <p:ph type="title"/>
          </p:nvPr>
        </p:nvSpPr>
        <p:spPr bwMode="auto">
          <a:xfrm>
            <a:off x="457200" y="316133"/>
            <a:ext cx="8229600" cy="468000"/>
          </a:xfrm>
          <a:prstGeom prst="rect">
            <a:avLst/>
          </a:prstGeom>
        </p:spPr>
        <p:txBody>
          <a:bodyPr lIns="63971" tIns="31985" rIns="63971" bIns="31985" anchor="ctr" anchorCtr="0"/>
          <a:lstStyle>
            <a:lvl1pPr>
              <a:defRPr sz="3100">
                <a:solidFill>
                  <a:srgbClr val="FFFF00"/>
                </a:solidFill>
              </a:defRPr>
            </a:lvl1pPr>
          </a:lstStyle>
          <a:p>
            <a:pPr>
              <a:defRPr/>
            </a:pPr>
            <a:r>
              <a:rPr lang="zh-CN"/>
              <a:t>单击此处编辑母版标题样式</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userDrawn="1">
  <p:cSld name="3_仅标题">
    <p:spTree>
      <p:nvGrpSpPr>
        <p:cNvPr id="1" name=""/>
        <p:cNvGrpSpPr/>
        <p:nvPr/>
      </p:nvGrpSpPr>
      <p:grpSpPr bwMode="auto">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type="obj" userDrawn="1">
  <p:cSld name="标题和内容">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p>
            <a:pPr>
              <a:defRPr/>
            </a:pPr>
            <a:r>
              <a:rPr lang="zh-CN"/>
              <a:t>单击此处编辑母版标题样式</a:t>
            </a:r>
            <a:endParaRPr/>
          </a:p>
        </p:txBody>
      </p:sp>
      <p:sp>
        <p:nvSpPr>
          <p:cNvPr id="3" name="内容占位符 2"/>
          <p:cNvSpPr>
            <a:spLocks noGrp="1"/>
          </p:cNvSpPr>
          <p:nvPr>
            <p:ph idx="1"/>
          </p:nvPr>
        </p:nvSpPr>
        <p:spPr bwMode="auto"/>
        <p:txBody>
          <a:bodyPr/>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4" name="Rectangle 10"/>
          <p:cNvSpPr>
            <a:spLocks noGrp="1" noChangeArrowheads="1"/>
          </p:cNvSpPr>
          <p:nvPr>
            <p:ph type="dt" sz="half" idx="10"/>
          </p:nvPr>
        </p:nvSpPr>
        <p:spPr bwMode="auto">
          <a:ln/>
        </p:spPr>
        <p:txBody>
          <a:bodyPr/>
          <a:lstStyle>
            <a:lvl1pPr>
              <a:defRPr/>
            </a:lvl1pPr>
          </a:lstStyle>
          <a:p>
            <a:pPr>
              <a:defRPr/>
            </a:pPr>
            <a:endParaRPr lang="de-DE">
              <a:solidFill>
                <a:prstClr val="white"/>
              </a:solidFill>
            </a:endParaRPr>
          </a:p>
          <a:p>
            <a:pPr>
              <a:defRPr/>
            </a:pPr>
            <a:r>
              <a:rPr lang="de-DE">
                <a:solidFill>
                  <a:prstClr val="white"/>
                </a:solidFill>
              </a:rPr>
              <a:t>Page </a:t>
            </a:r>
            <a:fld id="{F06D84B6-858C-439B-B2AE-E0A85BFF946B}" type="slidenum">
              <a:rPr lang="de-DE">
                <a:solidFill>
                  <a:prstClr val="white"/>
                </a:solidFill>
              </a:rPr>
              <a:t>‹#›</a:t>
            </a:fld>
            <a:endParaRPr lang="en-GB">
              <a:solidFill>
                <a:prstClr val="white"/>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title" preserve="1" userDrawn="1">
  <p:cSld name="标题幻灯片">
    <p:spTree>
      <p:nvGrpSpPr>
        <p:cNvPr id="1" name=""/>
        <p:cNvGrpSpPr/>
        <p:nvPr/>
      </p:nvGrpSpPr>
      <p:grpSpPr bwMode="auto">
        <a:xfrm>
          <a:off x="0" y="0"/>
          <a:ext cx="0" cy="0"/>
          <a:chOff x="0" y="0"/>
          <a:chExt cx="0" cy="0"/>
        </a:xfrm>
      </p:grpSpPr>
      <p:sp>
        <p:nvSpPr>
          <p:cNvPr id="2" name="标题 1"/>
          <p:cNvSpPr>
            <a:spLocks noGrp="1"/>
          </p:cNvSpPr>
          <p:nvPr>
            <p:ph type="ctrTitle"/>
          </p:nvPr>
        </p:nvSpPr>
        <p:spPr bwMode="auto">
          <a:xfrm>
            <a:off x="685800" y="1597819"/>
            <a:ext cx="7772400" cy="1102519"/>
          </a:xfrm>
        </p:spPr>
        <p:txBody>
          <a:bodyPr/>
          <a:lstStyle/>
          <a:p>
            <a:pPr>
              <a:defRPr/>
            </a:pPr>
            <a:r>
              <a:rPr lang="zh-CN"/>
              <a:t>单击此处编辑母版标题样式</a:t>
            </a:r>
          </a:p>
        </p:txBody>
      </p:sp>
      <p:sp>
        <p:nvSpPr>
          <p:cNvPr id="3" name="副标题 2"/>
          <p:cNvSpPr>
            <a:spLocks noGrp="1"/>
          </p:cNvSpPr>
          <p:nvPr>
            <p:ph type="subTitle" idx="1"/>
          </p:nvPr>
        </p:nvSpPr>
        <p:spPr bwMode="auto">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zh-CN"/>
              <a:t>单击此处编辑母版副标题样式</a:t>
            </a: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41502639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obj" preserve="1" userDrawn="1">
  <p:cSld name="标题和内容">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p>
            <a:pPr>
              <a:defRPr/>
            </a:pPr>
            <a:r>
              <a:rPr lang="zh-CN"/>
              <a:t>单击此处编辑母版标题样式</a:t>
            </a:r>
          </a:p>
        </p:txBody>
      </p:sp>
      <p:sp>
        <p:nvSpPr>
          <p:cNvPr id="3" name="内容占位符 2"/>
          <p:cNvSpPr>
            <a:spLocks noGrp="1"/>
          </p:cNvSpPr>
          <p:nvPr>
            <p:ph idx="1"/>
          </p:nvPr>
        </p:nvSpPr>
        <p:spPr bwMode="auto"/>
        <p:txBody>
          <a:bodyPr/>
          <a:lstStyle/>
          <a:p>
            <a:pPr lvl="0">
              <a:defRPr/>
            </a:pPr>
            <a:r>
              <a:rPr lang="zh-CN"/>
              <a:t>单击此处编辑母版文本样式</a:t>
            </a:r>
          </a:p>
          <a:p>
            <a:pPr lvl="1">
              <a:defRPr/>
            </a:pPr>
            <a:r>
              <a:rPr lang="zh-CN"/>
              <a:t>第二级</a:t>
            </a:r>
          </a:p>
          <a:p>
            <a:pPr lvl="2">
              <a:defRPr/>
            </a:pPr>
            <a:r>
              <a:rPr lang="zh-CN"/>
              <a:t>第三级</a:t>
            </a:r>
          </a:p>
          <a:p>
            <a:pPr lvl="3">
              <a:defRPr/>
            </a:pPr>
            <a:r>
              <a:rPr lang="zh-CN"/>
              <a:t>第四级</a:t>
            </a:r>
          </a:p>
          <a:p>
            <a:pPr lvl="4">
              <a:defRPr/>
            </a:pPr>
            <a:r>
              <a:rPr lang="zh-CN"/>
              <a:t>第五级</a:t>
            </a: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18411335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type="secHead" preserve="1" userDrawn="1">
  <p:cSld name="节标题">
    <p:spTree>
      <p:nvGrpSpPr>
        <p:cNvPr id="1" name=""/>
        <p:cNvGrpSpPr/>
        <p:nvPr/>
      </p:nvGrpSpPr>
      <p:grpSpPr bwMode="auto">
        <a:xfrm>
          <a:off x="0" y="0"/>
          <a:ext cx="0" cy="0"/>
          <a:chOff x="0" y="0"/>
          <a:chExt cx="0" cy="0"/>
        </a:xfrm>
      </p:grpSpPr>
      <p:sp>
        <p:nvSpPr>
          <p:cNvPr id="2" name="标题 1"/>
          <p:cNvSpPr>
            <a:spLocks noGrp="1"/>
          </p:cNvSpPr>
          <p:nvPr>
            <p:ph type="title"/>
          </p:nvPr>
        </p:nvSpPr>
        <p:spPr bwMode="auto">
          <a:xfrm>
            <a:off x="722313" y="3305176"/>
            <a:ext cx="7772400" cy="1021556"/>
          </a:xfrm>
        </p:spPr>
        <p:txBody>
          <a:bodyPr anchor="t"/>
          <a:lstStyle>
            <a:lvl1pPr algn="l">
              <a:defRPr sz="4000" b="1" cap="all"/>
            </a:lvl1pPr>
          </a:lstStyle>
          <a:p>
            <a:pPr>
              <a:defRPr/>
            </a:pPr>
            <a:r>
              <a:rPr lang="zh-CN"/>
              <a:t>单击此处编辑母版标题样式</a:t>
            </a:r>
          </a:p>
        </p:txBody>
      </p:sp>
      <p:sp>
        <p:nvSpPr>
          <p:cNvPr id="3" name="文本占位符 2"/>
          <p:cNvSpPr>
            <a:spLocks noGrp="1"/>
          </p:cNvSpPr>
          <p:nvPr>
            <p:ph type="body" idx="1"/>
          </p:nvPr>
        </p:nvSpPr>
        <p:spPr bwMode="auto">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zh-CN"/>
              <a:t>单击此处编辑母版文本样式</a:t>
            </a: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12654049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twoObj" preserve="1" userDrawn="1">
  <p:cSld name="两栏内容">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p>
            <a:pPr>
              <a:defRPr/>
            </a:pPr>
            <a:r>
              <a:rPr lang="zh-CN"/>
              <a:t>单击此处编辑母版标题样式</a:t>
            </a:r>
          </a:p>
        </p:txBody>
      </p:sp>
      <p:sp>
        <p:nvSpPr>
          <p:cNvPr id="3" name="内容占位符 2"/>
          <p:cNvSpPr>
            <a:spLocks noGrp="1"/>
          </p:cNvSpPr>
          <p:nvPr>
            <p:ph sz="half" idx="1"/>
          </p:nvPr>
        </p:nvSpPr>
        <p:spPr bwMode="auto">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zh-CN"/>
              <a:t>单击此处编辑母版文本样式</a:t>
            </a:r>
          </a:p>
          <a:p>
            <a:pPr lvl="1">
              <a:defRPr/>
            </a:pPr>
            <a:r>
              <a:rPr lang="zh-CN"/>
              <a:t>第二级</a:t>
            </a:r>
          </a:p>
          <a:p>
            <a:pPr lvl="2">
              <a:defRPr/>
            </a:pPr>
            <a:r>
              <a:rPr lang="zh-CN"/>
              <a:t>第三级</a:t>
            </a:r>
          </a:p>
          <a:p>
            <a:pPr lvl="3">
              <a:defRPr/>
            </a:pPr>
            <a:r>
              <a:rPr lang="zh-CN"/>
              <a:t>第四级</a:t>
            </a:r>
          </a:p>
          <a:p>
            <a:pPr lvl="4">
              <a:defRPr/>
            </a:pPr>
            <a:r>
              <a:rPr lang="zh-CN"/>
              <a:t>第五级</a:t>
            </a:r>
          </a:p>
        </p:txBody>
      </p:sp>
      <p:sp>
        <p:nvSpPr>
          <p:cNvPr id="4" name="内容占位符 3"/>
          <p:cNvSpPr>
            <a:spLocks noGrp="1"/>
          </p:cNvSpPr>
          <p:nvPr>
            <p:ph sz="half" idx="2"/>
          </p:nvPr>
        </p:nvSpPr>
        <p:spPr bwMode="auto">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zh-CN"/>
              <a:t>单击此处编辑母版文本样式</a:t>
            </a:r>
          </a:p>
          <a:p>
            <a:pPr lvl="1">
              <a:defRPr/>
            </a:pPr>
            <a:r>
              <a:rPr lang="zh-CN"/>
              <a:t>第二级</a:t>
            </a:r>
          </a:p>
          <a:p>
            <a:pPr lvl="2">
              <a:defRPr/>
            </a:pPr>
            <a:r>
              <a:rPr lang="zh-CN"/>
              <a:t>第三级</a:t>
            </a:r>
          </a:p>
          <a:p>
            <a:pPr lvl="3">
              <a:defRPr/>
            </a:pPr>
            <a:r>
              <a:rPr lang="zh-CN"/>
              <a:t>第四级</a:t>
            </a:r>
          </a:p>
          <a:p>
            <a:pPr lvl="4">
              <a:defRPr/>
            </a:pPr>
            <a:r>
              <a:rPr lang="zh-CN"/>
              <a:t>第五级</a:t>
            </a:r>
          </a:p>
        </p:txBody>
      </p:sp>
      <p:sp>
        <p:nvSpPr>
          <p:cNvPr id="5" name="日期占位符 4"/>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6" name="页脚占位符 5"/>
          <p:cNvSpPr>
            <a:spLocks noGrp="1"/>
          </p:cNvSpPr>
          <p:nvPr>
            <p:ph type="ftr" sz="quarter" idx="11"/>
          </p:nvPr>
        </p:nvSpPr>
        <p:spPr bwMode="auto"/>
        <p:txBody>
          <a:bodyPr/>
          <a:lstStyle/>
          <a:p>
            <a:pPr>
              <a:defRPr/>
            </a:pPr>
            <a:endParaRPr lang="zh-CN"/>
          </a:p>
        </p:txBody>
      </p:sp>
      <p:sp>
        <p:nvSpPr>
          <p:cNvPr id="7" name="灯片编号占位符 6"/>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20872849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比较">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lvl1pPr>
              <a:defRPr/>
            </a:lvl1pPr>
          </a:lstStyle>
          <a:p>
            <a:pPr>
              <a:defRPr/>
            </a:pPr>
            <a:r>
              <a:rPr lang="zh-CN"/>
              <a:t>单击此处编辑母版标题样式</a:t>
            </a:r>
          </a:p>
        </p:txBody>
      </p:sp>
      <p:sp>
        <p:nvSpPr>
          <p:cNvPr id="3" name="文本占位符 2"/>
          <p:cNvSpPr>
            <a:spLocks noGrp="1"/>
          </p:cNvSpPr>
          <p:nvPr>
            <p:ph type="body" idx="1"/>
          </p:nvPr>
        </p:nvSpPr>
        <p:spPr bwMode="auto">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zh-CN"/>
              <a:t>单击此处编辑母版文本样式</a:t>
            </a:r>
          </a:p>
        </p:txBody>
      </p:sp>
      <p:sp>
        <p:nvSpPr>
          <p:cNvPr id="4" name="内容占位符 3"/>
          <p:cNvSpPr>
            <a:spLocks noGrp="1"/>
          </p:cNvSpPr>
          <p:nvPr>
            <p:ph sz="half" idx="2"/>
          </p:nvPr>
        </p:nvSpPr>
        <p:spPr bwMode="auto">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zh-CN"/>
              <a:t>单击此处编辑母版文本样式</a:t>
            </a:r>
          </a:p>
          <a:p>
            <a:pPr lvl="1">
              <a:defRPr/>
            </a:pPr>
            <a:r>
              <a:rPr lang="zh-CN"/>
              <a:t>第二级</a:t>
            </a:r>
          </a:p>
          <a:p>
            <a:pPr lvl="2">
              <a:defRPr/>
            </a:pPr>
            <a:r>
              <a:rPr lang="zh-CN"/>
              <a:t>第三级</a:t>
            </a:r>
          </a:p>
          <a:p>
            <a:pPr lvl="3">
              <a:defRPr/>
            </a:pPr>
            <a:r>
              <a:rPr lang="zh-CN"/>
              <a:t>第四级</a:t>
            </a:r>
          </a:p>
          <a:p>
            <a:pPr lvl="4">
              <a:defRPr/>
            </a:pPr>
            <a:r>
              <a:rPr lang="zh-CN"/>
              <a:t>第五级</a:t>
            </a:r>
          </a:p>
        </p:txBody>
      </p:sp>
      <p:sp>
        <p:nvSpPr>
          <p:cNvPr id="5" name="文本占位符 4"/>
          <p:cNvSpPr>
            <a:spLocks noGrp="1"/>
          </p:cNvSpPr>
          <p:nvPr>
            <p:ph type="body" sz="quarter" idx="3"/>
          </p:nvPr>
        </p:nvSpPr>
        <p:spPr bwMode="auto">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zh-CN"/>
              <a:t>单击此处编辑母版文本样式</a:t>
            </a:r>
          </a:p>
        </p:txBody>
      </p:sp>
      <p:sp>
        <p:nvSpPr>
          <p:cNvPr id="6" name="内容占位符 5"/>
          <p:cNvSpPr>
            <a:spLocks noGrp="1"/>
          </p:cNvSpPr>
          <p:nvPr>
            <p:ph sz="quarter" idx="4"/>
          </p:nvPr>
        </p:nvSpPr>
        <p:spPr bwMode="auto">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zh-CN"/>
              <a:t>单击此处编辑母版文本样式</a:t>
            </a:r>
          </a:p>
          <a:p>
            <a:pPr lvl="1">
              <a:defRPr/>
            </a:pPr>
            <a:r>
              <a:rPr lang="zh-CN"/>
              <a:t>第二级</a:t>
            </a:r>
          </a:p>
          <a:p>
            <a:pPr lvl="2">
              <a:defRPr/>
            </a:pPr>
            <a:r>
              <a:rPr lang="zh-CN"/>
              <a:t>第三级</a:t>
            </a:r>
          </a:p>
          <a:p>
            <a:pPr lvl="3">
              <a:defRPr/>
            </a:pPr>
            <a:r>
              <a:rPr lang="zh-CN"/>
              <a:t>第四级</a:t>
            </a:r>
          </a:p>
          <a:p>
            <a:pPr lvl="4">
              <a:defRPr/>
            </a:pPr>
            <a:r>
              <a:rPr lang="zh-CN"/>
              <a:t>第五级</a:t>
            </a:r>
          </a:p>
        </p:txBody>
      </p:sp>
      <p:sp>
        <p:nvSpPr>
          <p:cNvPr id="7" name="日期占位符 6"/>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8" name="页脚占位符 7"/>
          <p:cNvSpPr>
            <a:spLocks noGrp="1"/>
          </p:cNvSpPr>
          <p:nvPr>
            <p:ph type="ftr" sz="quarter" idx="11"/>
          </p:nvPr>
        </p:nvSpPr>
        <p:spPr bwMode="auto"/>
        <p:txBody>
          <a:bodyPr/>
          <a:lstStyle/>
          <a:p>
            <a:pPr>
              <a:defRPr/>
            </a:pPr>
            <a:endParaRPr lang="zh-CN"/>
          </a:p>
        </p:txBody>
      </p:sp>
      <p:sp>
        <p:nvSpPr>
          <p:cNvPr id="9" name="灯片编号占位符 8"/>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36801280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仅标题">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p>
            <a:pPr>
              <a:defRPr/>
            </a:pPr>
            <a:r>
              <a:rPr lang="zh-CN"/>
              <a:t>单击此处编辑母版标题样式</a:t>
            </a:r>
          </a:p>
        </p:txBody>
      </p:sp>
      <p:sp>
        <p:nvSpPr>
          <p:cNvPr id="3" name="日期占位符 2"/>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4" name="页脚占位符 3"/>
          <p:cNvSpPr>
            <a:spLocks noGrp="1"/>
          </p:cNvSpPr>
          <p:nvPr>
            <p:ph type="ftr" sz="quarter" idx="11"/>
          </p:nvPr>
        </p:nvSpPr>
        <p:spPr bwMode="auto"/>
        <p:txBody>
          <a:bodyPr/>
          <a:lstStyle/>
          <a:p>
            <a:pPr>
              <a:defRPr/>
            </a:pPr>
            <a:endParaRPr lang="zh-CN"/>
          </a:p>
        </p:txBody>
      </p:sp>
      <p:sp>
        <p:nvSpPr>
          <p:cNvPr id="5" name="灯片编号占位符 4"/>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42053333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type="blank" preserve="1" userDrawn="1">
  <p:cSld name="空白">
    <p:spTree>
      <p:nvGrpSpPr>
        <p:cNvPr id="1" name=""/>
        <p:cNvGrpSpPr/>
        <p:nvPr/>
      </p:nvGrpSpPr>
      <p:grpSpPr bwMode="auto">
        <a:xfrm>
          <a:off x="0" y="0"/>
          <a:ext cx="0" cy="0"/>
          <a:chOff x="0" y="0"/>
          <a:chExt cx="0" cy="0"/>
        </a:xfrm>
      </p:grpSpPr>
      <p:sp>
        <p:nvSpPr>
          <p:cNvPr id="2" name="日期占位符 1"/>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3" name="页脚占位符 2"/>
          <p:cNvSpPr>
            <a:spLocks noGrp="1"/>
          </p:cNvSpPr>
          <p:nvPr>
            <p:ph type="ftr" sz="quarter" idx="11"/>
          </p:nvPr>
        </p:nvSpPr>
        <p:spPr bwMode="auto"/>
        <p:txBody>
          <a:bodyPr/>
          <a:lstStyle/>
          <a:p>
            <a:pPr>
              <a:defRPr/>
            </a:pPr>
            <a:endParaRPr lang="zh-CN"/>
          </a:p>
        </p:txBody>
      </p:sp>
      <p:sp>
        <p:nvSpPr>
          <p:cNvPr id="4" name="灯片编号占位符 3"/>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2784667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type="objTx" preserve="1" userDrawn="1">
  <p:cSld name="内容与标题">
    <p:spTree>
      <p:nvGrpSpPr>
        <p:cNvPr id="1" name=""/>
        <p:cNvGrpSpPr/>
        <p:nvPr/>
      </p:nvGrpSpPr>
      <p:grpSpPr bwMode="auto">
        <a:xfrm>
          <a:off x="0" y="0"/>
          <a:ext cx="0" cy="0"/>
          <a:chOff x="0" y="0"/>
          <a:chExt cx="0" cy="0"/>
        </a:xfrm>
      </p:grpSpPr>
      <p:sp>
        <p:nvSpPr>
          <p:cNvPr id="2" name="标题 1"/>
          <p:cNvSpPr>
            <a:spLocks noGrp="1"/>
          </p:cNvSpPr>
          <p:nvPr>
            <p:ph type="title"/>
          </p:nvPr>
        </p:nvSpPr>
        <p:spPr bwMode="auto">
          <a:xfrm>
            <a:off x="457201" y="204787"/>
            <a:ext cx="3008313" cy="871538"/>
          </a:xfrm>
        </p:spPr>
        <p:txBody>
          <a:bodyPr anchor="b"/>
          <a:lstStyle>
            <a:lvl1pPr algn="l">
              <a:defRPr sz="2000" b="1"/>
            </a:lvl1pPr>
          </a:lstStyle>
          <a:p>
            <a:pPr>
              <a:defRPr/>
            </a:pPr>
            <a:r>
              <a:rPr lang="zh-CN"/>
              <a:t>单击此处编辑母版标题样式</a:t>
            </a:r>
          </a:p>
        </p:txBody>
      </p:sp>
      <p:sp>
        <p:nvSpPr>
          <p:cNvPr id="3" name="内容占位符 2"/>
          <p:cNvSpPr>
            <a:spLocks noGrp="1"/>
          </p:cNvSpPr>
          <p:nvPr>
            <p:ph idx="1"/>
          </p:nvPr>
        </p:nvSpPr>
        <p:spPr bwMode="auto">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zh-CN"/>
              <a:t>单击此处编辑母版文本样式</a:t>
            </a:r>
          </a:p>
          <a:p>
            <a:pPr lvl="1">
              <a:defRPr/>
            </a:pPr>
            <a:r>
              <a:rPr lang="zh-CN"/>
              <a:t>第二级</a:t>
            </a:r>
          </a:p>
          <a:p>
            <a:pPr lvl="2">
              <a:defRPr/>
            </a:pPr>
            <a:r>
              <a:rPr lang="zh-CN"/>
              <a:t>第三级</a:t>
            </a:r>
          </a:p>
          <a:p>
            <a:pPr lvl="3">
              <a:defRPr/>
            </a:pPr>
            <a:r>
              <a:rPr lang="zh-CN"/>
              <a:t>第四级</a:t>
            </a:r>
          </a:p>
          <a:p>
            <a:pPr lvl="4">
              <a:defRPr/>
            </a:pPr>
            <a:r>
              <a:rPr lang="zh-CN"/>
              <a:t>第五级</a:t>
            </a:r>
          </a:p>
        </p:txBody>
      </p:sp>
      <p:sp>
        <p:nvSpPr>
          <p:cNvPr id="4" name="文本占位符 3"/>
          <p:cNvSpPr>
            <a:spLocks noGrp="1"/>
          </p:cNvSpPr>
          <p:nvPr>
            <p:ph type="body" sz="half" idx="2"/>
          </p:nvPr>
        </p:nvSpPr>
        <p:spPr bwMode="auto">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zh-CN"/>
              <a:t>单击此处编辑母版文本样式</a:t>
            </a:r>
          </a:p>
        </p:txBody>
      </p:sp>
      <p:sp>
        <p:nvSpPr>
          <p:cNvPr id="5" name="日期占位符 4"/>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6" name="页脚占位符 5"/>
          <p:cNvSpPr>
            <a:spLocks noGrp="1"/>
          </p:cNvSpPr>
          <p:nvPr>
            <p:ph type="ftr" sz="quarter" idx="11"/>
          </p:nvPr>
        </p:nvSpPr>
        <p:spPr bwMode="auto"/>
        <p:txBody>
          <a:bodyPr/>
          <a:lstStyle/>
          <a:p>
            <a:pPr>
              <a:defRPr/>
            </a:pPr>
            <a:endParaRPr lang="zh-CN"/>
          </a:p>
        </p:txBody>
      </p:sp>
      <p:sp>
        <p:nvSpPr>
          <p:cNvPr id="7" name="灯片编号占位符 6"/>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2480324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type="picTx" preserve="1" userDrawn="1">
  <p:cSld name="图片与标题">
    <p:spTree>
      <p:nvGrpSpPr>
        <p:cNvPr id="1" name=""/>
        <p:cNvGrpSpPr/>
        <p:nvPr/>
      </p:nvGrpSpPr>
      <p:grpSpPr bwMode="auto">
        <a:xfrm>
          <a:off x="0" y="0"/>
          <a:ext cx="0" cy="0"/>
          <a:chOff x="0" y="0"/>
          <a:chExt cx="0" cy="0"/>
        </a:xfrm>
      </p:grpSpPr>
      <p:sp>
        <p:nvSpPr>
          <p:cNvPr id="2" name="标题 1"/>
          <p:cNvSpPr>
            <a:spLocks noGrp="1"/>
          </p:cNvSpPr>
          <p:nvPr>
            <p:ph type="title"/>
          </p:nvPr>
        </p:nvSpPr>
        <p:spPr bwMode="auto">
          <a:xfrm>
            <a:off x="1792288" y="3600450"/>
            <a:ext cx="5486400" cy="425054"/>
          </a:xfrm>
        </p:spPr>
        <p:txBody>
          <a:bodyPr anchor="b"/>
          <a:lstStyle>
            <a:lvl1pPr algn="l">
              <a:defRPr sz="2000" b="1"/>
            </a:lvl1pPr>
          </a:lstStyle>
          <a:p>
            <a:pPr>
              <a:defRPr/>
            </a:pPr>
            <a:r>
              <a:rPr lang="zh-CN"/>
              <a:t>单击此处编辑母版标题样式</a:t>
            </a:r>
          </a:p>
        </p:txBody>
      </p:sp>
      <p:sp>
        <p:nvSpPr>
          <p:cNvPr id="3" name="图片占位符 2"/>
          <p:cNvSpPr>
            <a:spLocks noGrp="1"/>
          </p:cNvSpPr>
          <p:nvPr>
            <p:ph type="pic" idx="1"/>
          </p:nvPr>
        </p:nvSpPr>
        <p:spPr bwMode="auto">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zh-CN"/>
          </a:p>
        </p:txBody>
      </p:sp>
      <p:sp>
        <p:nvSpPr>
          <p:cNvPr id="4" name="文本占位符 3"/>
          <p:cNvSpPr>
            <a:spLocks noGrp="1"/>
          </p:cNvSpPr>
          <p:nvPr>
            <p:ph type="body" sz="half" idx="2"/>
          </p:nvPr>
        </p:nvSpPr>
        <p:spPr bwMode="auto">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zh-CN"/>
              <a:t>单击此处编辑母版文本样式</a:t>
            </a:r>
          </a:p>
        </p:txBody>
      </p:sp>
      <p:sp>
        <p:nvSpPr>
          <p:cNvPr id="5" name="日期占位符 4"/>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6" name="页脚占位符 5"/>
          <p:cNvSpPr>
            <a:spLocks noGrp="1"/>
          </p:cNvSpPr>
          <p:nvPr>
            <p:ph type="ftr" sz="quarter" idx="11"/>
          </p:nvPr>
        </p:nvSpPr>
        <p:spPr bwMode="auto"/>
        <p:txBody>
          <a:bodyPr/>
          <a:lstStyle/>
          <a:p>
            <a:pPr>
              <a:defRPr/>
            </a:pPr>
            <a:endParaRPr lang="zh-CN"/>
          </a:p>
        </p:txBody>
      </p:sp>
      <p:sp>
        <p:nvSpPr>
          <p:cNvPr id="7" name="灯片编号占位符 6"/>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40421639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type="vertTx" preserve="1" userDrawn="1">
  <p:cSld name="标题和竖排文字">
    <p:spTree>
      <p:nvGrpSpPr>
        <p:cNvPr id="1" name=""/>
        <p:cNvGrpSpPr/>
        <p:nvPr/>
      </p:nvGrpSpPr>
      <p:grpSpPr bwMode="auto">
        <a:xfrm>
          <a:off x="0" y="0"/>
          <a:ext cx="0" cy="0"/>
          <a:chOff x="0" y="0"/>
          <a:chExt cx="0" cy="0"/>
        </a:xfrm>
      </p:grpSpPr>
      <p:sp>
        <p:nvSpPr>
          <p:cNvPr id="2" name="标题 1"/>
          <p:cNvSpPr>
            <a:spLocks noGrp="1"/>
          </p:cNvSpPr>
          <p:nvPr>
            <p:ph type="title"/>
          </p:nvPr>
        </p:nvSpPr>
        <p:spPr bwMode="auto"/>
        <p:txBody>
          <a:bodyPr/>
          <a:lstStyle/>
          <a:p>
            <a:pPr>
              <a:defRPr/>
            </a:pPr>
            <a:r>
              <a:rPr lang="zh-CN"/>
              <a:t>单击此处编辑母版标题样式</a:t>
            </a:r>
          </a:p>
        </p:txBody>
      </p:sp>
      <p:sp>
        <p:nvSpPr>
          <p:cNvPr id="3" name="竖排文字占位符 2"/>
          <p:cNvSpPr>
            <a:spLocks noGrp="1"/>
          </p:cNvSpPr>
          <p:nvPr>
            <p:ph type="body" orient="vert" idx="1"/>
          </p:nvPr>
        </p:nvSpPr>
        <p:spPr bwMode="auto"/>
        <p:txBody>
          <a:bodyPr vert="eaVert"/>
          <a:lstStyle/>
          <a:p>
            <a:pPr lvl="0">
              <a:defRPr/>
            </a:pPr>
            <a:r>
              <a:rPr lang="zh-CN"/>
              <a:t>单击此处编辑母版文本样式</a:t>
            </a:r>
          </a:p>
          <a:p>
            <a:pPr lvl="1">
              <a:defRPr/>
            </a:pPr>
            <a:r>
              <a:rPr lang="zh-CN"/>
              <a:t>第二级</a:t>
            </a:r>
          </a:p>
          <a:p>
            <a:pPr lvl="2">
              <a:defRPr/>
            </a:pPr>
            <a:r>
              <a:rPr lang="zh-CN"/>
              <a:t>第三级</a:t>
            </a:r>
          </a:p>
          <a:p>
            <a:pPr lvl="3">
              <a:defRPr/>
            </a:pPr>
            <a:r>
              <a:rPr lang="zh-CN"/>
              <a:t>第四级</a:t>
            </a:r>
          </a:p>
          <a:p>
            <a:pPr lvl="4">
              <a:defRPr/>
            </a:pPr>
            <a:r>
              <a:rPr lang="zh-CN"/>
              <a:t>第五级</a:t>
            </a: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15833948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垂直排列标题与文本">
    <p:spTree>
      <p:nvGrpSpPr>
        <p:cNvPr id="1" name=""/>
        <p:cNvGrpSpPr/>
        <p:nvPr/>
      </p:nvGrpSpPr>
      <p:grpSpPr bwMode="auto">
        <a:xfrm>
          <a:off x="0" y="0"/>
          <a:ext cx="0" cy="0"/>
          <a:chOff x="0" y="0"/>
          <a:chExt cx="0" cy="0"/>
        </a:xfrm>
      </p:grpSpPr>
      <p:sp>
        <p:nvSpPr>
          <p:cNvPr id="2" name="竖排标题 1"/>
          <p:cNvSpPr>
            <a:spLocks noGrp="1"/>
          </p:cNvSpPr>
          <p:nvPr>
            <p:ph type="title" orient="vert"/>
          </p:nvPr>
        </p:nvSpPr>
        <p:spPr bwMode="auto">
          <a:xfrm>
            <a:off x="6629400" y="205979"/>
            <a:ext cx="2057400" cy="4388644"/>
          </a:xfrm>
        </p:spPr>
        <p:txBody>
          <a:bodyPr vert="eaVert"/>
          <a:lstStyle/>
          <a:p>
            <a:pPr>
              <a:defRPr/>
            </a:pPr>
            <a:r>
              <a:rPr lang="zh-CN"/>
              <a:t>单击此处编辑母版标题样式</a:t>
            </a:r>
          </a:p>
        </p:txBody>
      </p:sp>
      <p:sp>
        <p:nvSpPr>
          <p:cNvPr id="3" name="竖排文字占位符 2"/>
          <p:cNvSpPr>
            <a:spLocks noGrp="1"/>
          </p:cNvSpPr>
          <p:nvPr>
            <p:ph type="body" orient="vert" idx="1"/>
          </p:nvPr>
        </p:nvSpPr>
        <p:spPr bwMode="auto">
          <a:xfrm>
            <a:off x="457200" y="205979"/>
            <a:ext cx="6019800" cy="4388644"/>
          </a:xfrm>
        </p:spPr>
        <p:txBody>
          <a:bodyPr vert="eaVert"/>
          <a:lstStyle/>
          <a:p>
            <a:pPr lvl="0">
              <a:defRPr/>
            </a:pPr>
            <a:r>
              <a:rPr lang="zh-CN"/>
              <a:t>单击此处编辑母版文本样式</a:t>
            </a:r>
          </a:p>
          <a:p>
            <a:pPr lvl="1">
              <a:defRPr/>
            </a:pPr>
            <a:r>
              <a:rPr lang="zh-CN"/>
              <a:t>第二级</a:t>
            </a:r>
          </a:p>
          <a:p>
            <a:pPr lvl="2">
              <a:defRPr/>
            </a:pPr>
            <a:r>
              <a:rPr lang="zh-CN"/>
              <a:t>第三级</a:t>
            </a:r>
          </a:p>
          <a:p>
            <a:pPr lvl="3">
              <a:defRPr/>
            </a:pPr>
            <a:r>
              <a:rPr lang="zh-CN"/>
              <a:t>第四级</a:t>
            </a:r>
          </a:p>
          <a:p>
            <a:pPr lvl="4">
              <a:defRPr/>
            </a:pPr>
            <a:r>
              <a:rPr lang="zh-CN"/>
              <a:t>第五级</a:t>
            </a:r>
          </a:p>
        </p:txBody>
      </p:sp>
      <p:sp>
        <p:nvSpPr>
          <p:cNvPr id="4" name="日期占位符 3"/>
          <p:cNvSpPr>
            <a:spLocks noGrp="1"/>
          </p:cNvSpPr>
          <p:nvPr>
            <p:ph type="dt" sz="half" idx="10"/>
          </p:nvPr>
        </p:nvSpPr>
        <p:spPr bwMode="auto"/>
        <p:txBody>
          <a:body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11"/>
          </p:nvPr>
        </p:nvSpPr>
        <p:spPr bwMode="auto"/>
        <p:txBody>
          <a:bodyPr/>
          <a:lstStyle/>
          <a:p>
            <a:pPr>
              <a:defRPr/>
            </a:pPr>
            <a:endParaRPr lang="zh-CN"/>
          </a:p>
        </p:txBody>
      </p:sp>
      <p:sp>
        <p:nvSpPr>
          <p:cNvPr id="6" name="灯片编号占位符 5"/>
          <p:cNvSpPr>
            <a:spLocks noGrp="1"/>
          </p:cNvSpPr>
          <p:nvPr>
            <p:ph type="sldNum" sz="quarter" idx="12"/>
          </p:nvPr>
        </p:nvSpPr>
        <p:spPr bwMode="auto"/>
        <p:txBody>
          <a:body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2314791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jp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标题占位符 1"/>
          <p:cNvSpPr>
            <a:spLocks noGrp="1"/>
          </p:cNvSpPr>
          <p:nvPr>
            <p:ph type="title"/>
          </p:nvPr>
        </p:nvSpPr>
        <p:spPr bwMode="auto">
          <a:xfrm>
            <a:off x="457200" y="205978"/>
            <a:ext cx="8229600" cy="857250"/>
          </a:xfrm>
          <a:prstGeom prst="rect">
            <a:avLst/>
          </a:prstGeom>
        </p:spPr>
        <p:txBody>
          <a:bodyPr vert="horz" lIns="91440" tIns="45720" rIns="91440" bIns="45720" rtlCol="0" anchor="ctr">
            <a:normAutofit/>
          </a:bodyPr>
          <a:lstStyle/>
          <a:p>
            <a:pPr>
              <a:defRPr/>
            </a:pPr>
            <a:r>
              <a:rPr lang="zh-CN"/>
              <a:t>单击此处编辑母版标题样式</a:t>
            </a:r>
            <a:endParaRPr/>
          </a:p>
        </p:txBody>
      </p:sp>
      <p:sp>
        <p:nvSpPr>
          <p:cNvPr id="3" name="文本占位符 2"/>
          <p:cNvSpPr>
            <a:spLocks noGrp="1"/>
          </p:cNvSpPr>
          <p:nvPr>
            <p:ph type="body" idx="1"/>
          </p:nvPr>
        </p:nvSpPr>
        <p:spPr bwMode="auto">
          <a:xfrm>
            <a:off x="457200" y="1200151"/>
            <a:ext cx="8229600" cy="3394472"/>
          </a:xfrm>
          <a:prstGeom prst="rect">
            <a:avLst/>
          </a:prstGeom>
        </p:spPr>
        <p:txBody>
          <a:bodyPr vert="horz" lIns="91440" tIns="45720" rIns="91440" bIns="45720" rtlCol="0">
            <a:normAutofit/>
          </a:bodyPr>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4" name="日期占位符 3"/>
          <p:cNvSpPr>
            <a:spLocks noGrp="1"/>
          </p:cNvSpPr>
          <p:nvPr>
            <p:ph type="dt" sz="half" idx="2"/>
          </p:nvPr>
        </p:nvSpPr>
        <p:spPr bwMode="auto">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3"/>
          </p:nvPr>
        </p:nvSpPr>
        <p:spPr bwMode="auto">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6" name="灯片编号占位符 5"/>
          <p:cNvSpPr>
            <a:spLocks noGrp="1"/>
          </p:cNvSpPr>
          <p:nvPr>
            <p:ph type="sldNum" sz="quarter" idx="4"/>
          </p:nvPr>
        </p:nvSpPr>
        <p:spPr bwMode="auto">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3433DD8-C388-4B0C-A2AE-1CF06BE20B19}"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zh-CN"/>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pic>
        <p:nvPicPr>
          <p:cNvPr id="10" name="Picture 1"/>
          <p:cNvPicPr>
            <a:picLocks noChangeAspect="1"/>
          </p:cNvPicPr>
          <p:nvPr userDrawn="1"/>
        </p:nvPicPr>
        <p:blipFill>
          <a:blip r:embed="rId11"/>
          <a:stretch/>
        </p:blipFill>
        <p:spPr bwMode="auto">
          <a:xfrm>
            <a:off x="2" y="1231"/>
            <a:ext cx="9143999" cy="5141078"/>
          </a:xfrm>
          <a:prstGeom prst="rect">
            <a:avLst/>
          </a:prstGeom>
        </p:spPr>
      </p:pic>
      <p:sp>
        <p:nvSpPr>
          <p:cNvPr id="2" name="标题占位符 1"/>
          <p:cNvSpPr>
            <a:spLocks noGrp="1"/>
          </p:cNvSpPr>
          <p:nvPr>
            <p:ph type="title"/>
          </p:nvPr>
        </p:nvSpPr>
        <p:spPr bwMode="auto">
          <a:xfrm>
            <a:off x="457200" y="206394"/>
            <a:ext cx="8229600" cy="857250"/>
          </a:xfrm>
          <a:prstGeom prst="rect">
            <a:avLst/>
          </a:prstGeom>
        </p:spPr>
        <p:txBody>
          <a:bodyPr vert="horz" lIns="102396" tIns="51198" rIns="102396" bIns="51198" rtlCol="0" anchor="ctr">
            <a:normAutofit/>
          </a:bodyPr>
          <a:lstStyle/>
          <a:p>
            <a:pPr>
              <a:defRPr/>
            </a:pPr>
            <a:r>
              <a:rPr lang="zh-CN"/>
              <a:t>单击此处编辑母版标题样式</a:t>
            </a:r>
            <a:endParaRPr/>
          </a:p>
        </p:txBody>
      </p:sp>
      <p:sp>
        <p:nvSpPr>
          <p:cNvPr id="3" name="文本占位符 2"/>
          <p:cNvSpPr>
            <a:spLocks noGrp="1"/>
          </p:cNvSpPr>
          <p:nvPr>
            <p:ph type="body" idx="1"/>
          </p:nvPr>
        </p:nvSpPr>
        <p:spPr bwMode="auto">
          <a:xfrm>
            <a:off x="457200" y="1200170"/>
            <a:ext cx="8229600" cy="3394075"/>
          </a:xfrm>
          <a:prstGeom prst="rect">
            <a:avLst/>
          </a:prstGeom>
        </p:spPr>
        <p:txBody>
          <a:bodyPr vert="horz" lIns="102396" tIns="51198" rIns="102396" bIns="51198" rtlCol="0">
            <a:normAutofit/>
          </a:bodyPr>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4" name="日期占位符 3"/>
          <p:cNvSpPr>
            <a:spLocks noGrp="1"/>
          </p:cNvSpPr>
          <p:nvPr>
            <p:ph type="dt" sz="half" idx="2"/>
          </p:nvPr>
        </p:nvSpPr>
        <p:spPr bwMode="auto">
          <a:xfrm>
            <a:off x="457201" y="4767283"/>
            <a:ext cx="2133600" cy="274637"/>
          </a:xfrm>
          <a:prstGeom prst="rect">
            <a:avLst/>
          </a:prstGeom>
        </p:spPr>
        <p:txBody>
          <a:bodyPr vert="horz" lIns="102396" tIns="51198" rIns="102396" bIns="51198" rtlCol="0" anchor="ctr"/>
          <a:lstStyle>
            <a:lvl1pPr algn="l">
              <a:defRPr sz="1300">
                <a:solidFill>
                  <a:schemeClr val="bg1"/>
                </a:solidFill>
              </a:defRPr>
            </a:lvl1pPr>
          </a:lstStyle>
          <a:p>
            <a:pPr defTabSz="1023967">
              <a:defRPr/>
            </a:pPr>
            <a:fld id="{1A5B2B23-E5F0-44D7-A9FF-4B8E82156B39}" type="datetimeFigureOut">
              <a:rPr lang="en-US" altLang="zh-CN">
                <a:solidFill>
                  <a:prstClr val="white"/>
                </a:solidFill>
              </a:rPr>
              <a:t>11/6/2025</a:t>
            </a:fld>
            <a:endParaRPr lang="zh-CN">
              <a:solidFill>
                <a:prstClr val="white"/>
              </a:solidFill>
            </a:endParaRPr>
          </a:p>
        </p:txBody>
      </p:sp>
      <p:sp>
        <p:nvSpPr>
          <p:cNvPr id="5" name="页脚占位符 4"/>
          <p:cNvSpPr>
            <a:spLocks noGrp="1"/>
          </p:cNvSpPr>
          <p:nvPr>
            <p:ph type="ftr" sz="quarter" idx="3"/>
          </p:nvPr>
        </p:nvSpPr>
        <p:spPr bwMode="auto">
          <a:xfrm>
            <a:off x="3124204" y="4767283"/>
            <a:ext cx="2895600" cy="274637"/>
          </a:xfrm>
          <a:prstGeom prst="rect">
            <a:avLst/>
          </a:prstGeom>
        </p:spPr>
        <p:txBody>
          <a:bodyPr vert="horz" lIns="102396" tIns="51198" rIns="102396" bIns="51198" rtlCol="0" anchor="ctr"/>
          <a:lstStyle>
            <a:lvl1pPr algn="ctr">
              <a:defRPr sz="1300">
                <a:solidFill>
                  <a:schemeClr val="bg1"/>
                </a:solidFill>
              </a:defRPr>
            </a:lvl1pPr>
          </a:lstStyle>
          <a:p>
            <a:pPr defTabSz="1023967">
              <a:defRPr/>
            </a:pPr>
            <a:endParaRPr lang="zh-CN">
              <a:solidFill>
                <a:prstClr val="white"/>
              </a:solidFill>
            </a:endParaRPr>
          </a:p>
        </p:txBody>
      </p:sp>
      <p:sp>
        <p:nvSpPr>
          <p:cNvPr id="6" name="灯片编号占位符 5"/>
          <p:cNvSpPr>
            <a:spLocks noGrp="1"/>
          </p:cNvSpPr>
          <p:nvPr>
            <p:ph type="sldNum" sz="quarter" idx="4"/>
          </p:nvPr>
        </p:nvSpPr>
        <p:spPr bwMode="auto">
          <a:xfrm>
            <a:off x="6553238" y="4767283"/>
            <a:ext cx="2133600" cy="274637"/>
          </a:xfrm>
          <a:prstGeom prst="rect">
            <a:avLst/>
          </a:prstGeom>
        </p:spPr>
        <p:txBody>
          <a:bodyPr vert="horz" lIns="102396" tIns="51198" rIns="102396" bIns="51198" rtlCol="0" anchor="ctr"/>
          <a:lstStyle>
            <a:lvl1pPr algn="r">
              <a:defRPr sz="1300">
                <a:solidFill>
                  <a:schemeClr val="bg1"/>
                </a:solidFill>
              </a:defRPr>
            </a:lvl1pPr>
          </a:lstStyle>
          <a:p>
            <a:pPr defTabSz="1023967">
              <a:defRPr/>
            </a:pPr>
            <a:fld id="{B2563A90-55EF-4D2C-B954-EDF55F24A661}" type="slidenum">
              <a:rPr lang="zh-CN">
                <a:solidFill>
                  <a:prstClr val="white"/>
                </a:solidFill>
              </a:rPr>
              <a:t>‹#›</a:t>
            </a:fld>
            <a:endParaRPr lang="zh-CN">
              <a:solidFill>
                <a:prstClr val="white"/>
              </a:solidFill>
            </a:endParaRPr>
          </a:p>
        </p:txBody>
      </p:sp>
      <p:sp>
        <p:nvSpPr>
          <p:cNvPr id="8" name="Rectangle 86"/>
          <p:cNvSpPr>
            <a:spLocks noChangeArrowheads="1"/>
          </p:cNvSpPr>
          <p:nvPr userDrawn="1"/>
        </p:nvSpPr>
        <p:spPr bwMode="auto">
          <a:xfrm>
            <a:off x="429444" y="4823952"/>
            <a:ext cx="535494" cy="319548"/>
          </a:xfrm>
          <a:prstGeom prst="rect">
            <a:avLst/>
          </a:prstGeom>
          <a:noFill/>
          <a:ln w="9525">
            <a:noFill/>
            <a:miter lim="800000"/>
            <a:headEnd/>
            <a:tailEnd/>
          </a:ln>
          <a:effectLst/>
        </p:spPr>
        <p:txBody>
          <a:bodyPr lIns="0" tIns="0" rIns="0" bIns="0"/>
          <a:lstStyle/>
          <a:p>
            <a:pPr defTabSz="829718">
              <a:lnSpc>
                <a:spcPct val="85000"/>
              </a:lnSpc>
              <a:defRPr/>
            </a:pPr>
            <a:endParaRPr lang="de-DE" sz="1100">
              <a:solidFill>
                <a:prstClr val="white"/>
              </a:solidFill>
              <a:latin typeface="FrutigerNext LT Light"/>
              <a:ea typeface="MS PGothic"/>
            </a:endParaRPr>
          </a:p>
          <a:p>
            <a:pPr defTabSz="829718">
              <a:lnSpc>
                <a:spcPct val="85000"/>
              </a:lnSpc>
              <a:defRPr/>
            </a:pPr>
            <a:fld id="{E68EC476-442B-4BB7-9603-F1440C241F3D}" type="slidenum">
              <a:rPr lang="de-DE" sz="1100">
                <a:solidFill>
                  <a:prstClr val="white"/>
                </a:solidFill>
                <a:latin typeface="FrutigerNext LT Light"/>
                <a:ea typeface="MS PGothic"/>
              </a:rPr>
              <a:t>‹#›</a:t>
            </a:fld>
            <a:endParaRPr lang="en-GB" sz="1100">
              <a:solidFill>
                <a:prstClr val="white"/>
              </a:solidFill>
              <a:latin typeface="FrutigerNext LT Light"/>
              <a:ea typeface="MS PGothic"/>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ctr" defTabSz="1023967">
        <a:spcBef>
          <a:spcPts val="0"/>
        </a:spcBef>
        <a:buNone/>
        <a:defRPr sz="5000">
          <a:solidFill>
            <a:schemeClr val="bg1"/>
          </a:solidFill>
          <a:latin typeface="+mj-lt"/>
          <a:ea typeface="+mj-ea"/>
          <a:cs typeface="+mj-cs"/>
        </a:defRPr>
      </a:lvl1pPr>
    </p:titleStyle>
    <p:bodyStyle>
      <a:lvl1pPr marL="383987" indent="-383987" algn="l" defTabSz="1023967">
        <a:spcBef>
          <a:spcPts val="0"/>
        </a:spcBef>
        <a:buFont typeface="Arial"/>
        <a:buChar char="•"/>
        <a:defRPr sz="3600">
          <a:solidFill>
            <a:schemeClr val="bg1"/>
          </a:solidFill>
          <a:latin typeface="+mn-lt"/>
          <a:ea typeface="+mn-ea"/>
          <a:cs typeface="+mn-cs"/>
        </a:defRPr>
      </a:lvl1pPr>
      <a:lvl2pPr marL="831973" indent="-319990" algn="l" defTabSz="1023967">
        <a:spcBef>
          <a:spcPts val="0"/>
        </a:spcBef>
        <a:buFont typeface="Arial"/>
        <a:buChar char="–"/>
        <a:defRPr sz="3100">
          <a:solidFill>
            <a:schemeClr val="bg1"/>
          </a:solidFill>
          <a:latin typeface="+mn-lt"/>
          <a:ea typeface="+mn-ea"/>
          <a:cs typeface="+mn-cs"/>
        </a:defRPr>
      </a:lvl2pPr>
      <a:lvl3pPr marL="1279959" indent="-255992" algn="l" defTabSz="1023967">
        <a:spcBef>
          <a:spcPts val="0"/>
        </a:spcBef>
        <a:buFont typeface="Arial"/>
        <a:buChar char="•"/>
        <a:defRPr sz="2700">
          <a:solidFill>
            <a:schemeClr val="bg1"/>
          </a:solidFill>
          <a:latin typeface="+mn-lt"/>
          <a:ea typeface="+mn-ea"/>
          <a:cs typeface="+mn-cs"/>
        </a:defRPr>
      </a:lvl3pPr>
      <a:lvl4pPr marL="1791942" indent="-255992" algn="l" defTabSz="1023967">
        <a:spcBef>
          <a:spcPts val="0"/>
        </a:spcBef>
        <a:buFont typeface="Arial"/>
        <a:buChar char="–"/>
        <a:defRPr sz="2300">
          <a:solidFill>
            <a:schemeClr val="bg1"/>
          </a:solidFill>
          <a:latin typeface="+mn-lt"/>
          <a:ea typeface="+mn-ea"/>
          <a:cs typeface="+mn-cs"/>
        </a:defRPr>
      </a:lvl4pPr>
      <a:lvl5pPr marL="2303926" indent="-255992" algn="l" defTabSz="1023967">
        <a:spcBef>
          <a:spcPts val="0"/>
        </a:spcBef>
        <a:buFont typeface="Arial"/>
        <a:buChar char="»"/>
        <a:defRPr sz="2300">
          <a:solidFill>
            <a:schemeClr val="bg1"/>
          </a:solidFill>
          <a:latin typeface="+mn-lt"/>
          <a:ea typeface="+mn-ea"/>
          <a:cs typeface="+mn-cs"/>
        </a:defRPr>
      </a:lvl5pPr>
      <a:lvl6pPr marL="2815910" indent="-255992" algn="l" defTabSz="1023967">
        <a:spcBef>
          <a:spcPts val="0"/>
        </a:spcBef>
        <a:buFont typeface="Arial"/>
        <a:buChar char="•"/>
        <a:defRPr sz="2300">
          <a:solidFill>
            <a:schemeClr val="tx1"/>
          </a:solidFill>
          <a:latin typeface="+mn-lt"/>
          <a:ea typeface="+mn-ea"/>
          <a:cs typeface="+mn-cs"/>
        </a:defRPr>
      </a:lvl6pPr>
      <a:lvl7pPr marL="3327892" indent="-255992" algn="l" defTabSz="1023967">
        <a:spcBef>
          <a:spcPts val="0"/>
        </a:spcBef>
        <a:buFont typeface="Arial"/>
        <a:buChar char="•"/>
        <a:defRPr sz="2300">
          <a:solidFill>
            <a:schemeClr val="tx1"/>
          </a:solidFill>
          <a:latin typeface="+mn-lt"/>
          <a:ea typeface="+mn-ea"/>
          <a:cs typeface="+mn-cs"/>
        </a:defRPr>
      </a:lvl7pPr>
      <a:lvl8pPr marL="3839876" indent="-255992" algn="l" defTabSz="1023967">
        <a:spcBef>
          <a:spcPts val="0"/>
        </a:spcBef>
        <a:buFont typeface="Arial"/>
        <a:buChar char="•"/>
        <a:defRPr sz="2300">
          <a:solidFill>
            <a:schemeClr val="tx1"/>
          </a:solidFill>
          <a:latin typeface="+mn-lt"/>
          <a:ea typeface="+mn-ea"/>
          <a:cs typeface="+mn-cs"/>
        </a:defRPr>
      </a:lvl8pPr>
      <a:lvl9pPr marL="4351859" indent="-255992" algn="l" defTabSz="1023967">
        <a:spcBef>
          <a:spcPts val="0"/>
        </a:spcBef>
        <a:buFont typeface="Arial"/>
        <a:buChar char="•"/>
        <a:defRPr sz="2300">
          <a:solidFill>
            <a:schemeClr val="tx1"/>
          </a:solidFill>
          <a:latin typeface="+mn-lt"/>
          <a:ea typeface="+mn-ea"/>
          <a:cs typeface="+mn-cs"/>
        </a:defRPr>
      </a:lvl9pPr>
    </p:bodyStyle>
    <p:otherStyle>
      <a:defPPr>
        <a:defRPr lang="zh-CN"/>
      </a:defPPr>
      <a:lvl1pPr marL="0" algn="l" defTabSz="1023967">
        <a:defRPr sz="2000">
          <a:solidFill>
            <a:schemeClr val="tx1"/>
          </a:solidFill>
          <a:latin typeface="+mn-lt"/>
          <a:ea typeface="+mn-ea"/>
          <a:cs typeface="+mn-cs"/>
        </a:defRPr>
      </a:lvl1pPr>
      <a:lvl2pPr marL="511984" algn="l" defTabSz="1023967">
        <a:defRPr sz="2000">
          <a:solidFill>
            <a:schemeClr val="tx1"/>
          </a:solidFill>
          <a:latin typeface="+mn-lt"/>
          <a:ea typeface="+mn-ea"/>
          <a:cs typeface="+mn-cs"/>
        </a:defRPr>
      </a:lvl2pPr>
      <a:lvl3pPr marL="1023967" algn="l" defTabSz="1023967">
        <a:defRPr sz="2000">
          <a:solidFill>
            <a:schemeClr val="tx1"/>
          </a:solidFill>
          <a:latin typeface="+mn-lt"/>
          <a:ea typeface="+mn-ea"/>
          <a:cs typeface="+mn-cs"/>
        </a:defRPr>
      </a:lvl3pPr>
      <a:lvl4pPr marL="1535951" algn="l" defTabSz="1023967">
        <a:defRPr sz="2000">
          <a:solidFill>
            <a:schemeClr val="tx1"/>
          </a:solidFill>
          <a:latin typeface="+mn-lt"/>
          <a:ea typeface="+mn-ea"/>
          <a:cs typeface="+mn-cs"/>
        </a:defRPr>
      </a:lvl4pPr>
      <a:lvl5pPr marL="2047934" algn="l" defTabSz="1023967">
        <a:defRPr sz="2000">
          <a:solidFill>
            <a:schemeClr val="tx1"/>
          </a:solidFill>
          <a:latin typeface="+mn-lt"/>
          <a:ea typeface="+mn-ea"/>
          <a:cs typeface="+mn-cs"/>
        </a:defRPr>
      </a:lvl5pPr>
      <a:lvl6pPr marL="2559918" algn="l" defTabSz="1023967">
        <a:defRPr sz="2000">
          <a:solidFill>
            <a:schemeClr val="tx1"/>
          </a:solidFill>
          <a:latin typeface="+mn-lt"/>
          <a:ea typeface="+mn-ea"/>
          <a:cs typeface="+mn-cs"/>
        </a:defRPr>
      </a:lvl6pPr>
      <a:lvl7pPr marL="3071901" algn="l" defTabSz="1023967">
        <a:defRPr sz="2000">
          <a:solidFill>
            <a:schemeClr val="tx1"/>
          </a:solidFill>
          <a:latin typeface="+mn-lt"/>
          <a:ea typeface="+mn-ea"/>
          <a:cs typeface="+mn-cs"/>
        </a:defRPr>
      </a:lvl7pPr>
      <a:lvl8pPr marL="3583884" algn="l" defTabSz="1023967">
        <a:defRPr sz="2000">
          <a:solidFill>
            <a:schemeClr val="tx1"/>
          </a:solidFill>
          <a:latin typeface="+mn-lt"/>
          <a:ea typeface="+mn-ea"/>
          <a:cs typeface="+mn-cs"/>
        </a:defRPr>
      </a:lvl8pPr>
      <a:lvl9pPr marL="4095868" algn="l" defTabSz="1023967">
        <a:defRPr sz="20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标题占位符 1"/>
          <p:cNvSpPr>
            <a:spLocks noGrp="1"/>
          </p:cNvSpPr>
          <p:nvPr>
            <p:ph type="title"/>
          </p:nvPr>
        </p:nvSpPr>
        <p:spPr bwMode="auto">
          <a:xfrm>
            <a:off x="457200" y="205978"/>
            <a:ext cx="8229600" cy="857250"/>
          </a:xfrm>
          <a:prstGeom prst="rect">
            <a:avLst/>
          </a:prstGeom>
        </p:spPr>
        <p:txBody>
          <a:bodyPr vert="horz" lIns="91440" tIns="45720" rIns="91440" bIns="45720" rtlCol="0" anchor="ctr">
            <a:normAutofit/>
          </a:bodyPr>
          <a:lstStyle/>
          <a:p>
            <a:pPr>
              <a:defRPr/>
            </a:pPr>
            <a:r>
              <a:rPr lang="zh-CN"/>
              <a:t>单击此处编辑母版标题样式</a:t>
            </a:r>
          </a:p>
        </p:txBody>
      </p:sp>
      <p:sp>
        <p:nvSpPr>
          <p:cNvPr id="3" name="文本占位符 2"/>
          <p:cNvSpPr>
            <a:spLocks noGrp="1"/>
          </p:cNvSpPr>
          <p:nvPr>
            <p:ph type="body" idx="1"/>
          </p:nvPr>
        </p:nvSpPr>
        <p:spPr bwMode="auto">
          <a:xfrm>
            <a:off x="457200" y="1200151"/>
            <a:ext cx="8229600" cy="3394472"/>
          </a:xfrm>
          <a:prstGeom prst="rect">
            <a:avLst/>
          </a:prstGeom>
        </p:spPr>
        <p:txBody>
          <a:bodyPr vert="horz" lIns="91440" tIns="45720" rIns="91440" bIns="45720" rtlCol="0">
            <a:normAutofit/>
          </a:bodyPr>
          <a:lstStyle/>
          <a:p>
            <a:pPr lvl="0">
              <a:defRPr/>
            </a:pPr>
            <a:r>
              <a:rPr lang="zh-CN"/>
              <a:t>单击此处编辑母版文本样式</a:t>
            </a:r>
          </a:p>
          <a:p>
            <a:pPr lvl="1">
              <a:defRPr/>
            </a:pPr>
            <a:r>
              <a:rPr lang="zh-CN"/>
              <a:t>第二级</a:t>
            </a:r>
          </a:p>
          <a:p>
            <a:pPr lvl="2">
              <a:defRPr/>
            </a:pPr>
            <a:r>
              <a:rPr lang="zh-CN"/>
              <a:t>第三级</a:t>
            </a:r>
          </a:p>
          <a:p>
            <a:pPr lvl="3">
              <a:defRPr/>
            </a:pPr>
            <a:r>
              <a:rPr lang="zh-CN"/>
              <a:t>第四级</a:t>
            </a:r>
          </a:p>
          <a:p>
            <a:pPr lvl="4">
              <a:defRPr/>
            </a:pPr>
            <a:r>
              <a:rPr lang="zh-CN"/>
              <a:t>第五级</a:t>
            </a:r>
          </a:p>
        </p:txBody>
      </p:sp>
      <p:sp>
        <p:nvSpPr>
          <p:cNvPr id="4" name="日期占位符 3"/>
          <p:cNvSpPr>
            <a:spLocks noGrp="1"/>
          </p:cNvSpPr>
          <p:nvPr>
            <p:ph type="dt" sz="half" idx="2"/>
          </p:nvPr>
        </p:nvSpPr>
        <p:spPr bwMode="auto">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F6EE227-5BC2-4D83-8C9C-959C5A33C9C0}" type="datetimeFigureOut">
              <a:rPr lang="en-US" altLang="zh-CN"/>
              <a:t>11/6/2025</a:t>
            </a:fld>
            <a:endParaRPr lang="zh-CN"/>
          </a:p>
        </p:txBody>
      </p:sp>
      <p:sp>
        <p:nvSpPr>
          <p:cNvPr id="5" name="页脚占位符 4"/>
          <p:cNvSpPr>
            <a:spLocks noGrp="1"/>
          </p:cNvSpPr>
          <p:nvPr>
            <p:ph type="ftr" sz="quarter" idx="3"/>
          </p:nvPr>
        </p:nvSpPr>
        <p:spPr bwMode="auto">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6" name="灯片编号占位符 5"/>
          <p:cNvSpPr>
            <a:spLocks noGrp="1"/>
          </p:cNvSpPr>
          <p:nvPr>
            <p:ph type="sldNum" sz="quarter" idx="4"/>
          </p:nvPr>
        </p:nvSpPr>
        <p:spPr bwMode="auto">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3433DD8-C388-4B0C-A2AE-1CF06BE20B19}" type="slidenum">
              <a:rPr lang="en-US" altLang="zh-CN"/>
              <a:t>‹#›</a:t>
            </a:fld>
            <a:endParaRPr lang="zh-CN"/>
          </a:p>
        </p:txBody>
      </p:sp>
    </p:spTree>
    <p:extLst>
      <p:ext uri="{BB962C8B-B14F-4D97-AF65-F5344CB8AC3E}">
        <p14:creationId xmlns:p14="http://schemas.microsoft.com/office/powerpoint/2010/main" val="296151674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panose="020B0604020202020204"/>
        <a:buChar char="•"/>
        <a:defRPr sz="3200">
          <a:solidFill>
            <a:schemeClr val="tx1"/>
          </a:solidFill>
          <a:latin typeface="+mn-lt"/>
          <a:ea typeface="+mn-ea"/>
          <a:cs typeface="+mn-cs"/>
        </a:defRPr>
      </a:lvl1pPr>
      <a:lvl2pPr marL="742950" indent="-285750" algn="l" defTabSz="914400">
        <a:spcBef>
          <a:spcPts val="0"/>
        </a:spcBef>
        <a:buFont typeface="Arial" panose="020B0604020202020204"/>
        <a:buChar char="–"/>
        <a:defRPr sz="2800">
          <a:solidFill>
            <a:schemeClr val="tx1"/>
          </a:solidFill>
          <a:latin typeface="+mn-lt"/>
          <a:ea typeface="+mn-ea"/>
          <a:cs typeface="+mn-cs"/>
        </a:defRPr>
      </a:lvl2pPr>
      <a:lvl3pPr marL="1143000" indent="-228600" algn="l" defTabSz="914400">
        <a:spcBef>
          <a:spcPts val="0"/>
        </a:spcBef>
        <a:buFont typeface="Arial" panose="020B0604020202020204"/>
        <a:buChar char="•"/>
        <a:defRPr sz="2400">
          <a:solidFill>
            <a:schemeClr val="tx1"/>
          </a:solidFill>
          <a:latin typeface="+mn-lt"/>
          <a:ea typeface="+mn-ea"/>
          <a:cs typeface="+mn-cs"/>
        </a:defRPr>
      </a:lvl3pPr>
      <a:lvl4pPr marL="1600200" indent="-228600" algn="l" defTabSz="914400">
        <a:spcBef>
          <a:spcPts val="0"/>
        </a:spcBef>
        <a:buFont typeface="Arial" panose="020B0604020202020204"/>
        <a:buChar char="–"/>
        <a:defRPr sz="2000">
          <a:solidFill>
            <a:schemeClr val="tx1"/>
          </a:solidFill>
          <a:latin typeface="+mn-lt"/>
          <a:ea typeface="+mn-ea"/>
          <a:cs typeface="+mn-cs"/>
        </a:defRPr>
      </a:lvl4pPr>
      <a:lvl5pPr marL="2057400" indent="-228600" algn="l" defTabSz="914400">
        <a:spcBef>
          <a:spcPts val="0"/>
        </a:spcBef>
        <a:buFont typeface="Arial" panose="020B0604020202020204"/>
        <a:buChar char="»"/>
        <a:defRPr sz="2000">
          <a:solidFill>
            <a:schemeClr val="tx1"/>
          </a:solidFill>
          <a:latin typeface="+mn-lt"/>
          <a:ea typeface="+mn-ea"/>
          <a:cs typeface="+mn-cs"/>
        </a:defRPr>
      </a:lvl5pPr>
      <a:lvl6pPr marL="2514600" indent="-228600" algn="l" defTabSz="914400">
        <a:spcBef>
          <a:spcPts val="0"/>
        </a:spcBef>
        <a:buFont typeface="Arial" panose="020B0604020202020204"/>
        <a:buChar char="•"/>
        <a:defRPr sz="2000">
          <a:solidFill>
            <a:schemeClr val="tx1"/>
          </a:solidFill>
          <a:latin typeface="+mn-lt"/>
          <a:ea typeface="+mn-ea"/>
          <a:cs typeface="+mn-cs"/>
        </a:defRPr>
      </a:lvl6pPr>
      <a:lvl7pPr marL="2971800" indent="-228600" algn="l" defTabSz="914400">
        <a:spcBef>
          <a:spcPts val="0"/>
        </a:spcBef>
        <a:buFont typeface="Arial" panose="020B0604020202020204"/>
        <a:buChar char="•"/>
        <a:defRPr sz="2000">
          <a:solidFill>
            <a:schemeClr val="tx1"/>
          </a:solidFill>
          <a:latin typeface="+mn-lt"/>
          <a:ea typeface="+mn-ea"/>
          <a:cs typeface="+mn-cs"/>
        </a:defRPr>
      </a:lvl7pPr>
      <a:lvl8pPr marL="3429000" indent="-228600" algn="l" defTabSz="914400">
        <a:spcBef>
          <a:spcPts val="0"/>
        </a:spcBef>
        <a:buFont typeface="Arial" panose="020B0604020202020204"/>
        <a:buChar char="•"/>
        <a:defRPr sz="2000">
          <a:solidFill>
            <a:schemeClr val="tx1"/>
          </a:solidFill>
          <a:latin typeface="+mn-lt"/>
          <a:ea typeface="+mn-ea"/>
          <a:cs typeface="+mn-cs"/>
        </a:defRPr>
      </a:lvl8pPr>
      <a:lvl9pPr marL="3886200" indent="-228600" algn="l" defTabSz="914400">
        <a:spcBef>
          <a:spcPts val="0"/>
        </a:spcBef>
        <a:buFont typeface="Arial" panose="020B0604020202020204"/>
        <a:buChar char="•"/>
        <a:defRPr sz="2000">
          <a:solidFill>
            <a:schemeClr val="tx1"/>
          </a:solidFill>
          <a:latin typeface="+mn-lt"/>
          <a:ea typeface="+mn-ea"/>
          <a:cs typeface="+mn-cs"/>
        </a:defRPr>
      </a:lvl9pPr>
    </p:bodyStyle>
    <p:otherStyle>
      <a:defPPr>
        <a:defRPr lang="zh-CN"/>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enxiaohua@unionpay.com" TargetMode="External"/><Relationship Id="rId7" Type="http://schemas.openxmlformats.org/officeDocument/2006/relationships/hyperlink" Target="mailto:Gengnan@huawei.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Gaoqiangzhou@huawei.com" TargetMode="External"/><Relationship Id="rId5" Type="http://schemas.openxmlformats.org/officeDocument/2006/relationships/hyperlink" Target="mailto:leo.liubing@huawei.com" TargetMode="External"/><Relationship Id="rId4" Type="http://schemas.openxmlformats.org/officeDocument/2006/relationships/hyperlink" Target="mailto:fangyulun@unionpay.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datatracker.ietf.org/doc/draft-men-rtgwg-agent-networking-in-digibank/"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datatracker.ietf.org/doc/draft-zlgsgl-rtgwg-agents-networking-framework/"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Ref idx="1001">
        <a:schemeClr val="bg1"/>
      </p:bgRef>
    </p:bg>
    <p:spTree>
      <p:nvGrpSpPr>
        <p:cNvPr id="1" name=""/>
        <p:cNvGrpSpPr/>
        <p:nvPr/>
      </p:nvGrpSpPr>
      <p:grpSpPr bwMode="auto">
        <a:xfrm>
          <a:off x="0" y="0"/>
          <a:ext cx="0" cy="0"/>
          <a:chOff x="0" y="0"/>
          <a:chExt cx="0" cy="0"/>
        </a:xfrm>
      </p:grpSpPr>
      <p:sp>
        <p:nvSpPr>
          <p:cNvPr id="2" name="标题 1"/>
          <p:cNvSpPr>
            <a:spLocks noGrp="1"/>
          </p:cNvSpPr>
          <p:nvPr>
            <p:ph type="ctrTitle"/>
          </p:nvPr>
        </p:nvSpPr>
        <p:spPr bwMode="auto">
          <a:xfrm>
            <a:off x="323528" y="1248751"/>
            <a:ext cx="8604448" cy="697796"/>
          </a:xfrm>
        </p:spPr>
        <p:txBody>
          <a:bodyPr>
            <a:normAutofit fontScale="90000"/>
          </a:bodyPr>
          <a:lstStyle/>
          <a:p>
            <a:pPr>
              <a:defRPr/>
            </a:pPr>
            <a:r>
              <a:rPr lang="en-US" dirty="0"/>
              <a:t>Agentic Digital Banking: </a:t>
            </a:r>
            <a:br>
              <a:rPr lang="en-US" dirty="0"/>
            </a:br>
            <a:r>
              <a:rPr lang="en-US" sz="3100" i="1" dirty="0"/>
              <a:t>Scenarios &amp; Solution Architecture</a:t>
            </a:r>
            <a:endParaRPr lang="zh-CN" i="1" dirty="0"/>
          </a:p>
        </p:txBody>
      </p:sp>
      <p:sp>
        <p:nvSpPr>
          <p:cNvPr id="3" name="副标题 2"/>
          <p:cNvSpPr>
            <a:spLocks noGrp="1"/>
          </p:cNvSpPr>
          <p:nvPr>
            <p:ph type="subTitle" idx="1"/>
          </p:nvPr>
        </p:nvSpPr>
        <p:spPr bwMode="auto">
          <a:xfrm>
            <a:off x="1835696" y="2355726"/>
            <a:ext cx="5404803" cy="1174995"/>
          </a:xfrm>
        </p:spPr>
        <p:txBody>
          <a:bodyPr>
            <a:normAutofit fontScale="92500" lnSpcReduction="10000"/>
          </a:bodyPr>
          <a:lstStyle/>
          <a:p>
            <a:pPr>
              <a:defRPr/>
            </a:pPr>
            <a:r>
              <a:rPr lang="en-US" altLang="zh-CN" sz="1400" dirty="0" err="1">
                <a:solidFill>
                  <a:schemeClr val="tx1"/>
                </a:solidFill>
              </a:rPr>
              <a:t>Xiaohua</a:t>
            </a:r>
            <a:r>
              <a:rPr lang="en-US" altLang="zh-CN" sz="1400" dirty="0">
                <a:solidFill>
                  <a:schemeClr val="tx1"/>
                </a:solidFill>
              </a:rPr>
              <a:t> Men (</a:t>
            </a:r>
            <a:r>
              <a:rPr lang="en-US" altLang="zh-CN" sz="1400" dirty="0">
                <a:solidFill>
                  <a:schemeClr val="tx1"/>
                </a:solidFill>
                <a:hlinkClick r:id="rId3"/>
              </a:rPr>
              <a:t>menxiaohua@unionpay.com</a:t>
            </a:r>
            <a:r>
              <a:rPr lang="en-US" altLang="zh-CN" sz="1400" dirty="0">
                <a:solidFill>
                  <a:schemeClr val="tx1"/>
                </a:solidFill>
              </a:rPr>
              <a:t>)</a:t>
            </a:r>
          </a:p>
          <a:p>
            <a:pPr>
              <a:defRPr/>
            </a:pPr>
            <a:r>
              <a:rPr lang="en-US" altLang="zh-CN" sz="1400" dirty="0" err="1">
                <a:solidFill>
                  <a:schemeClr val="tx1"/>
                </a:solidFill>
              </a:rPr>
              <a:t>Yulun</a:t>
            </a:r>
            <a:r>
              <a:rPr lang="en-US" altLang="zh-CN" sz="1400" dirty="0">
                <a:solidFill>
                  <a:schemeClr val="tx1"/>
                </a:solidFill>
              </a:rPr>
              <a:t> Fang </a:t>
            </a:r>
            <a:r>
              <a:rPr lang="zh-CN" altLang="en-US" sz="1400" dirty="0">
                <a:solidFill>
                  <a:schemeClr val="tx1"/>
                </a:solidFill>
              </a:rPr>
              <a:t>（</a:t>
            </a:r>
            <a:r>
              <a:rPr lang="en-US" altLang="zh-CN" sz="1400" dirty="0">
                <a:solidFill>
                  <a:schemeClr val="tx1"/>
                </a:solidFill>
                <a:hlinkClick r:id="rId4"/>
              </a:rPr>
              <a:t>fangyulun@unionpay.com</a:t>
            </a:r>
            <a:r>
              <a:rPr lang="zh-CN" altLang="en-US" sz="1400" dirty="0">
                <a:solidFill>
                  <a:schemeClr val="tx1"/>
                </a:solidFill>
              </a:rPr>
              <a:t>）</a:t>
            </a:r>
            <a:endParaRPr lang="en-US" altLang="zh-CN" sz="1400" dirty="0">
              <a:solidFill>
                <a:schemeClr val="tx1"/>
              </a:solidFill>
            </a:endParaRPr>
          </a:p>
          <a:p>
            <a:pPr>
              <a:defRPr/>
            </a:pPr>
            <a:endParaRPr lang="en-US" altLang="zh-CN" sz="1400" dirty="0">
              <a:solidFill>
                <a:schemeClr val="tx1"/>
              </a:solidFill>
            </a:endParaRPr>
          </a:p>
          <a:p>
            <a:pPr>
              <a:defRPr/>
            </a:pPr>
            <a:r>
              <a:rPr lang="en-US" altLang="zh-CN" sz="1400" dirty="0">
                <a:solidFill>
                  <a:schemeClr val="tx1"/>
                </a:solidFill>
              </a:rPr>
              <a:t>Bing Liu (</a:t>
            </a:r>
            <a:r>
              <a:rPr lang="en-US" altLang="zh-CN" sz="1400" dirty="0">
                <a:solidFill>
                  <a:schemeClr val="tx1"/>
                </a:solidFill>
                <a:hlinkClick r:id="rId5"/>
              </a:rPr>
              <a:t>leo.liubing@huawei.com</a:t>
            </a:r>
            <a:r>
              <a:rPr lang="en-US" altLang="zh-CN" sz="1400" dirty="0">
                <a:solidFill>
                  <a:schemeClr val="tx1"/>
                </a:solidFill>
              </a:rPr>
              <a:t>)</a:t>
            </a:r>
          </a:p>
          <a:p>
            <a:pPr>
              <a:defRPr/>
            </a:pPr>
            <a:r>
              <a:rPr lang="en-US" altLang="zh-CN" sz="1400" dirty="0" err="1">
                <a:solidFill>
                  <a:schemeClr val="tx1"/>
                </a:solidFill>
              </a:rPr>
              <a:t>Qiangzhou</a:t>
            </a:r>
            <a:r>
              <a:rPr lang="en-US" altLang="zh-CN" sz="1400" dirty="0">
                <a:solidFill>
                  <a:schemeClr val="tx1"/>
                </a:solidFill>
              </a:rPr>
              <a:t> Gao</a:t>
            </a:r>
            <a:r>
              <a:rPr lang="zh-CN" altLang="en-US" sz="1400" dirty="0">
                <a:solidFill>
                  <a:schemeClr val="tx1"/>
                </a:solidFill>
              </a:rPr>
              <a:t>（</a:t>
            </a:r>
            <a:r>
              <a:rPr lang="en-US" altLang="zh-CN" sz="1400" dirty="0">
                <a:solidFill>
                  <a:schemeClr val="tx1"/>
                </a:solidFill>
                <a:hlinkClick r:id="rId6"/>
              </a:rPr>
              <a:t>Gaoqiangzhou@huawei.com</a:t>
            </a:r>
            <a:r>
              <a:rPr lang="zh-CN" altLang="en-US" sz="1400" dirty="0">
                <a:solidFill>
                  <a:schemeClr val="tx1"/>
                </a:solidFill>
              </a:rPr>
              <a:t>）</a:t>
            </a:r>
            <a:endParaRPr lang="en-US" altLang="zh-CN" sz="1400" dirty="0">
              <a:solidFill>
                <a:schemeClr val="tx1"/>
              </a:solidFill>
            </a:endParaRPr>
          </a:p>
          <a:p>
            <a:pPr>
              <a:defRPr/>
            </a:pPr>
            <a:r>
              <a:rPr lang="en-US" altLang="zh-CN" sz="1400" dirty="0">
                <a:solidFill>
                  <a:schemeClr val="tx1"/>
                </a:solidFill>
              </a:rPr>
              <a:t>Nan Geng (</a:t>
            </a:r>
            <a:r>
              <a:rPr lang="en-US" altLang="zh-CN" sz="1400" dirty="0">
                <a:solidFill>
                  <a:schemeClr val="tx1"/>
                </a:solidFill>
                <a:hlinkClick r:id="rId7"/>
              </a:rPr>
              <a:t>Gengnan@huawei.com</a:t>
            </a:r>
            <a:r>
              <a:rPr lang="en-US" altLang="zh-CN" sz="1400" dirty="0">
                <a:solidFill>
                  <a:schemeClr val="tx1"/>
                </a:solidFill>
              </a:rPr>
              <a:t>)</a:t>
            </a:r>
          </a:p>
          <a:p>
            <a:pPr>
              <a:defRPr/>
            </a:pPr>
            <a:endParaRPr lang="en-US" altLang="zh-CN" sz="1400" dirty="0">
              <a:solidFill>
                <a:schemeClr val="tx1"/>
              </a:solidFill>
            </a:endParaRPr>
          </a:p>
          <a:p>
            <a:pPr>
              <a:defRPr/>
            </a:pPr>
            <a:endParaRPr lang="en-US" altLang="zh-CN" sz="1400" dirty="0">
              <a:solidFill>
                <a:schemeClr val="tx1"/>
              </a:solidFill>
            </a:endParaRPr>
          </a:p>
        </p:txBody>
      </p:sp>
      <p:sp>
        <p:nvSpPr>
          <p:cNvPr id="4" name="页脚占位符 4">
            <a:extLst>
              <a:ext uri="{FF2B5EF4-FFF2-40B4-BE49-F238E27FC236}">
                <a16:creationId xmlns:a16="http://schemas.microsoft.com/office/drawing/2014/main" id="{31F13F2A-808C-437D-932B-C725F838A431}"/>
              </a:ext>
            </a:extLst>
          </p:cNvPr>
          <p:cNvSpPr>
            <a:spLocks noGrp="1"/>
          </p:cNvSpPr>
          <p:nvPr>
            <p:ph type="ftr" sz="quarter" idx="11"/>
          </p:nvPr>
        </p:nvSpPr>
        <p:spPr>
          <a:xfrm>
            <a:off x="2192896" y="4659982"/>
            <a:ext cx="4865712" cy="365125"/>
          </a:xfrm>
        </p:spPr>
        <p:txBody>
          <a:bodyPr/>
          <a:lstStyle/>
          <a:p>
            <a:r>
              <a:rPr lang="en-US" sz="1400" dirty="0"/>
              <a:t>IETF 124 – </a:t>
            </a:r>
            <a:r>
              <a:rPr lang="en-US" altLang="zh-CN" sz="1400" dirty="0" err="1"/>
              <a:t>IoA@Enterprise</a:t>
            </a:r>
            <a:r>
              <a:rPr lang="en-US" altLang="zh-CN" sz="1400" dirty="0"/>
              <a:t> side meeting @</a:t>
            </a:r>
            <a:r>
              <a:rPr lang="en-US" sz="1400" dirty="0"/>
              <a:t>Montreal, Nov 6 2025</a:t>
            </a:r>
            <a:endParaRPr lang="nl-NL" sz="1400" dirty="0"/>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395536" y="161530"/>
            <a:ext cx="8229600" cy="565572"/>
          </a:xfrm>
        </p:spPr>
        <p:txBody>
          <a:bodyPr>
            <a:noAutofit/>
          </a:bodyPr>
          <a:lstStyle/>
          <a:p>
            <a:pPr algn="ctr">
              <a:defRPr/>
            </a:pPr>
            <a:r>
              <a:rPr lang="en-US" altLang="zh-CN" sz="3200" dirty="0"/>
              <a:t>Content</a:t>
            </a:r>
            <a:endParaRPr lang="en-US" sz="3200" dirty="0"/>
          </a:p>
        </p:txBody>
      </p:sp>
      <p:sp>
        <p:nvSpPr>
          <p:cNvPr id="5" name="内容占位符 4"/>
          <p:cNvSpPr>
            <a:spLocks noGrp="1"/>
          </p:cNvSpPr>
          <p:nvPr>
            <p:ph idx="1"/>
          </p:nvPr>
        </p:nvSpPr>
        <p:spPr bwMode="auto">
          <a:xfrm>
            <a:off x="419016" y="843558"/>
            <a:ext cx="8280920" cy="3566444"/>
          </a:xfrm>
        </p:spPr>
        <p:txBody>
          <a:bodyPr>
            <a:noAutofit/>
          </a:bodyPr>
          <a:lstStyle/>
          <a:p>
            <a:pPr marL="0" indent="0">
              <a:lnSpc>
                <a:spcPct val="130000"/>
              </a:lnSpc>
              <a:buNone/>
              <a:defRPr/>
            </a:pPr>
            <a:r>
              <a:rPr lang="en-US" altLang="zh-CN" sz="1800" b="1" dirty="0"/>
              <a:t>Digital banking Scenarios</a:t>
            </a:r>
          </a:p>
          <a:p>
            <a:pPr lvl="1">
              <a:defRPr/>
            </a:pPr>
            <a:r>
              <a:rPr lang="en-US" altLang="zh-CN" sz="1800" dirty="0"/>
              <a:t>UnionPay Open Platform as a “bank hub”, various banking service based on the open platform</a:t>
            </a:r>
          </a:p>
          <a:p>
            <a:pPr lvl="1">
              <a:defRPr/>
            </a:pPr>
            <a:r>
              <a:rPr lang="en-US" altLang="zh-CN" sz="1800" dirty="0">
                <a:ea typeface="宋体" panose="02010600030101010101" pitchFamily="2" charset="-122"/>
                <a:sym typeface="+mn-ea"/>
              </a:rPr>
              <a:t>Apps could access services from multiple banks through a single point of entry, and banks (especially small and medium-sized banks) could reach more application scenarios.</a:t>
            </a:r>
          </a:p>
          <a:p>
            <a:pPr lvl="1">
              <a:defRPr/>
            </a:pPr>
            <a:r>
              <a:rPr lang="en-US" altLang="zh-CN" sz="1800" dirty="0">
                <a:ea typeface="宋体" panose="02010600030101010101" pitchFamily="2" charset="-122"/>
              </a:rPr>
              <a:t>‌Build networks between scale scenarios and massive financial service, reducing business integration costs for both sides.</a:t>
            </a:r>
          </a:p>
          <a:p>
            <a:pPr lvl="1">
              <a:defRPr/>
            </a:pPr>
            <a:r>
              <a:rPr lang="en-US" altLang="zh-CN" sz="1800" dirty="0"/>
              <a:t>Banking services is evolving to agentic</a:t>
            </a:r>
          </a:p>
          <a:p>
            <a:pPr marL="0" indent="0">
              <a:lnSpc>
                <a:spcPct val="130000"/>
              </a:lnSpc>
              <a:buNone/>
              <a:defRPr/>
            </a:pPr>
            <a:endParaRPr lang="en-US" sz="1050" b="1" dirty="0"/>
          </a:p>
          <a:p>
            <a:pPr marL="0" indent="0">
              <a:lnSpc>
                <a:spcPct val="130000"/>
              </a:lnSpc>
              <a:buNone/>
              <a:defRPr/>
            </a:pPr>
            <a:r>
              <a:rPr lang="en-US" altLang="zh-CN" sz="1800" b="1" dirty="0"/>
              <a:t>Agent Networking Use Case</a:t>
            </a:r>
            <a:endParaRPr sz="2400" b="1" dirty="0"/>
          </a:p>
          <a:p>
            <a:pPr lvl="1">
              <a:defRPr/>
            </a:pPr>
            <a:r>
              <a:rPr lang="en-US" altLang="zh-CN" sz="1800" dirty="0"/>
              <a:t>IPO auditing use case</a:t>
            </a:r>
          </a:p>
          <a:p>
            <a:pPr lvl="1">
              <a:defRPr/>
            </a:pPr>
            <a:r>
              <a:rPr lang="en-US" altLang="zh-CN" sz="1800" dirty="0"/>
              <a:t>based on an on-going joint innovation project of UnionPay</a:t>
            </a:r>
          </a:p>
          <a:p>
            <a:pPr lvl="1">
              <a:defRPr/>
            </a:pPr>
            <a:r>
              <a:rPr lang="en-US" sz="1800" dirty="0"/>
              <a:t>Agents in UnionPay and banks networked together through Agent Gateways</a:t>
            </a:r>
            <a:endParaRPr lang="zh-CN" sz="2400" dirty="0"/>
          </a:p>
        </p:txBody>
      </p:sp>
      <p:sp>
        <p:nvSpPr>
          <p:cNvPr id="3" name="Rectangle 1"/>
          <p:cNvSpPr>
            <a:spLocks noChangeArrowheads="1"/>
          </p:cNvSpPr>
          <p:nvPr/>
        </p:nvSpPr>
        <p:spPr bwMode="auto">
          <a:xfrm>
            <a:off x="0" y="183742"/>
            <a:ext cx="130337" cy="260574"/>
          </a:xfrm>
          <a:prstGeom prst="rect">
            <a:avLst/>
          </a:prstGeom>
          <a:solidFill>
            <a:srgbClr val="FFFFFF"/>
          </a:solidFill>
          <a:ln>
            <a:noFill/>
          </a:ln>
          <a:effectLst/>
        </p:spPr>
        <p:txBody>
          <a:bodyPr vert="horz" wrap="none" lIns="64506" tIns="32253" rIns="64506" bIns="32253" numCol="1" anchor="ctr" anchorCtr="0" compatLnSpc="1">
            <a:spAutoFit/>
          </a:bodyPr>
          <a:lstStyle/>
          <a:p>
            <a:pPr defTabSz="645160">
              <a:spcBef>
                <a:spcPts val="0"/>
              </a:spcBef>
              <a:spcAft>
                <a:spcPts val="0"/>
              </a:spcAft>
              <a:defRPr/>
            </a:pPr>
            <a:endParaRPr lang="zh-CN" sz="1250">
              <a:solidFill>
                <a:prstClr val="black"/>
              </a:solidFill>
              <a:latin typeface="等线" panose="02010600030101010101" charset="-122"/>
              <a:ea typeface="Arial Unicode MS"/>
              <a:cs typeface="Arial Unicode MS"/>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1A43A4C-F4F7-4B4D-B12C-804B446BE2ED}"/>
              </a:ext>
            </a:extLst>
          </p:cNvPr>
          <p:cNvGrpSpPr/>
          <p:nvPr/>
        </p:nvGrpSpPr>
        <p:grpSpPr>
          <a:xfrm>
            <a:off x="251520" y="1995686"/>
            <a:ext cx="3960440" cy="1944216"/>
            <a:chOff x="512676" y="771550"/>
            <a:chExt cx="8397122" cy="3600400"/>
          </a:xfrm>
        </p:grpSpPr>
        <p:sp>
          <p:nvSpPr>
            <p:cNvPr id="5" name="矩形: 圆角 4">
              <a:extLst>
                <a:ext uri="{FF2B5EF4-FFF2-40B4-BE49-F238E27FC236}">
                  <a16:creationId xmlns:a16="http://schemas.microsoft.com/office/drawing/2014/main" id="{D85079FA-8F38-4B5F-BB95-CA714423B2D9}"/>
                </a:ext>
              </a:extLst>
            </p:cNvPr>
            <p:cNvSpPr/>
            <p:nvPr/>
          </p:nvSpPr>
          <p:spPr>
            <a:xfrm>
              <a:off x="512676" y="2067694"/>
              <a:ext cx="1106995" cy="5040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Users</a:t>
              </a:r>
              <a:endParaRPr lang="zh-CN" altLang="en-US" sz="1000" dirty="0">
                <a:solidFill>
                  <a:schemeClr val="tx1"/>
                </a:solidFill>
              </a:endParaRPr>
            </a:p>
          </p:txBody>
        </p:sp>
        <p:sp>
          <p:nvSpPr>
            <p:cNvPr id="6" name="矩形: 圆角 5">
              <a:extLst>
                <a:ext uri="{FF2B5EF4-FFF2-40B4-BE49-F238E27FC236}">
                  <a16:creationId xmlns:a16="http://schemas.microsoft.com/office/drawing/2014/main" id="{9232F696-C79D-4174-8284-67A122BCA8F5}"/>
                </a:ext>
              </a:extLst>
            </p:cNvPr>
            <p:cNvSpPr/>
            <p:nvPr/>
          </p:nvSpPr>
          <p:spPr>
            <a:xfrm>
              <a:off x="4176875" y="1838381"/>
              <a:ext cx="1619262" cy="9572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t>UnionPay</a:t>
              </a:r>
            </a:p>
            <a:p>
              <a:pPr algn="ctr"/>
              <a:r>
                <a:rPr lang="en-US" altLang="zh-CN" sz="1000" dirty="0"/>
                <a:t>Open Platform</a:t>
              </a:r>
              <a:endParaRPr lang="zh-CN" altLang="en-US" sz="1000" dirty="0"/>
            </a:p>
          </p:txBody>
        </p:sp>
        <p:sp>
          <p:nvSpPr>
            <p:cNvPr id="7" name="左中括号 6">
              <a:extLst>
                <a:ext uri="{FF2B5EF4-FFF2-40B4-BE49-F238E27FC236}">
                  <a16:creationId xmlns:a16="http://schemas.microsoft.com/office/drawing/2014/main" id="{A437F915-60E6-40DA-8DEB-95E386DAED92}"/>
                </a:ext>
              </a:extLst>
            </p:cNvPr>
            <p:cNvSpPr/>
            <p:nvPr/>
          </p:nvSpPr>
          <p:spPr>
            <a:xfrm>
              <a:off x="6333121" y="894416"/>
              <a:ext cx="360040" cy="3312368"/>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a:p>
          </p:txBody>
        </p:sp>
        <p:sp>
          <p:nvSpPr>
            <p:cNvPr id="8" name="矩形: 圆角 7">
              <a:extLst>
                <a:ext uri="{FF2B5EF4-FFF2-40B4-BE49-F238E27FC236}">
                  <a16:creationId xmlns:a16="http://schemas.microsoft.com/office/drawing/2014/main" id="{CB369CA1-CD7C-4E43-BE73-CEDBC5553E00}"/>
                </a:ext>
              </a:extLst>
            </p:cNvPr>
            <p:cNvSpPr/>
            <p:nvPr/>
          </p:nvSpPr>
          <p:spPr>
            <a:xfrm>
              <a:off x="7020272" y="771550"/>
              <a:ext cx="1889526"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t>Commercial Bank 1</a:t>
              </a:r>
              <a:endParaRPr lang="zh-CN" altLang="en-US" sz="1000" dirty="0"/>
            </a:p>
          </p:txBody>
        </p:sp>
        <p:sp>
          <p:nvSpPr>
            <p:cNvPr id="9" name="矩形: 圆角 8">
              <a:extLst>
                <a:ext uri="{FF2B5EF4-FFF2-40B4-BE49-F238E27FC236}">
                  <a16:creationId xmlns:a16="http://schemas.microsoft.com/office/drawing/2014/main" id="{8818EF94-8E4F-412B-AADC-CE52D73C0503}"/>
                </a:ext>
              </a:extLst>
            </p:cNvPr>
            <p:cNvSpPr/>
            <p:nvPr/>
          </p:nvSpPr>
          <p:spPr>
            <a:xfrm>
              <a:off x="7020272" y="1794517"/>
              <a:ext cx="1813267"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t>Commercial Bank 2</a:t>
              </a:r>
              <a:endParaRPr lang="zh-CN" altLang="en-US" sz="1000" dirty="0"/>
            </a:p>
          </p:txBody>
        </p:sp>
        <p:sp>
          <p:nvSpPr>
            <p:cNvPr id="10" name="矩形: 圆角 9">
              <a:extLst>
                <a:ext uri="{FF2B5EF4-FFF2-40B4-BE49-F238E27FC236}">
                  <a16:creationId xmlns:a16="http://schemas.microsoft.com/office/drawing/2014/main" id="{97257DD3-281F-4134-A616-E59852E68A7D}"/>
                </a:ext>
              </a:extLst>
            </p:cNvPr>
            <p:cNvSpPr/>
            <p:nvPr/>
          </p:nvSpPr>
          <p:spPr>
            <a:xfrm>
              <a:off x="7020272" y="3867894"/>
              <a:ext cx="1813267"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t>Commercial Bank N</a:t>
              </a:r>
              <a:endParaRPr lang="zh-CN" altLang="en-US" sz="1000" dirty="0"/>
            </a:p>
          </p:txBody>
        </p:sp>
        <p:sp>
          <p:nvSpPr>
            <p:cNvPr id="11" name="文本框 10">
              <a:extLst>
                <a:ext uri="{FF2B5EF4-FFF2-40B4-BE49-F238E27FC236}">
                  <a16:creationId xmlns:a16="http://schemas.microsoft.com/office/drawing/2014/main" id="{76FA2233-C330-4FAF-9030-3A1C35F22ED9}"/>
                </a:ext>
              </a:extLst>
            </p:cNvPr>
            <p:cNvSpPr txBox="1"/>
            <p:nvPr/>
          </p:nvSpPr>
          <p:spPr>
            <a:xfrm rot="5400000">
              <a:off x="7865864" y="2590780"/>
              <a:ext cx="45719" cy="583715"/>
            </a:xfrm>
            <a:prstGeom prst="rect">
              <a:avLst/>
            </a:prstGeom>
            <a:noFill/>
          </p:spPr>
          <p:txBody>
            <a:bodyPr wrap="square" rtlCol="0">
              <a:spAutoFit/>
            </a:bodyPr>
            <a:lstStyle/>
            <a:p>
              <a:r>
                <a:rPr lang="en-US" altLang="zh-CN" sz="1400" dirty="0"/>
                <a:t>…</a:t>
              </a:r>
              <a:endParaRPr lang="zh-CN" altLang="en-US" sz="1400" dirty="0"/>
            </a:p>
          </p:txBody>
        </p:sp>
        <p:cxnSp>
          <p:nvCxnSpPr>
            <p:cNvPr id="13" name="直接连接符 12">
              <a:extLst>
                <a:ext uri="{FF2B5EF4-FFF2-40B4-BE49-F238E27FC236}">
                  <a16:creationId xmlns:a16="http://schemas.microsoft.com/office/drawing/2014/main" id="{E22C5B8D-5B03-419D-A869-4D6B04E40E5D}"/>
                </a:ext>
              </a:extLst>
            </p:cNvPr>
            <p:cNvCxnSpPr>
              <a:cxnSpLocks/>
              <a:stCxn id="6" idx="3"/>
            </p:cNvCxnSpPr>
            <p:nvPr/>
          </p:nvCxnSpPr>
          <p:spPr>
            <a:xfrm>
              <a:off x="5796137" y="2317009"/>
              <a:ext cx="536985"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矩形: 圆角 13">
              <a:extLst>
                <a:ext uri="{FF2B5EF4-FFF2-40B4-BE49-F238E27FC236}">
                  <a16:creationId xmlns:a16="http://schemas.microsoft.com/office/drawing/2014/main" id="{5742FF2A-3509-45CA-A995-41D64BB9BDAA}"/>
                </a:ext>
              </a:extLst>
            </p:cNvPr>
            <p:cNvSpPr/>
            <p:nvPr/>
          </p:nvSpPr>
          <p:spPr>
            <a:xfrm>
              <a:off x="2124494" y="2064980"/>
              <a:ext cx="1106995" cy="5040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Apps</a:t>
              </a:r>
              <a:endParaRPr lang="zh-CN" altLang="en-US" sz="1000" dirty="0">
                <a:solidFill>
                  <a:schemeClr val="tx1"/>
                </a:solidFill>
              </a:endParaRPr>
            </a:p>
          </p:txBody>
        </p:sp>
        <p:cxnSp>
          <p:nvCxnSpPr>
            <p:cNvPr id="16" name="直接箭头连接符 15">
              <a:extLst>
                <a:ext uri="{FF2B5EF4-FFF2-40B4-BE49-F238E27FC236}">
                  <a16:creationId xmlns:a16="http://schemas.microsoft.com/office/drawing/2014/main" id="{F3DD3210-AFE6-419F-9B7D-81E006A35C72}"/>
                </a:ext>
              </a:extLst>
            </p:cNvPr>
            <p:cNvCxnSpPr>
              <a:cxnSpLocks/>
              <a:stCxn id="5" idx="3"/>
              <a:endCxn id="14" idx="1"/>
            </p:cNvCxnSpPr>
            <p:nvPr/>
          </p:nvCxnSpPr>
          <p:spPr>
            <a:xfrm flipV="1">
              <a:off x="1619671" y="2317007"/>
              <a:ext cx="504823" cy="271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58F3505E-4530-4439-886C-C9CAF593E401}"/>
                </a:ext>
              </a:extLst>
            </p:cNvPr>
            <p:cNvCxnSpPr>
              <a:cxnSpLocks/>
              <a:stCxn id="14" idx="3"/>
              <a:endCxn id="6" idx="1"/>
            </p:cNvCxnSpPr>
            <p:nvPr/>
          </p:nvCxnSpPr>
          <p:spPr>
            <a:xfrm>
              <a:off x="3231489" y="2317007"/>
              <a:ext cx="945385" cy="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0" name="Title 1">
            <a:extLst>
              <a:ext uri="{FF2B5EF4-FFF2-40B4-BE49-F238E27FC236}">
                <a16:creationId xmlns:a16="http://schemas.microsoft.com/office/drawing/2014/main" id="{6BE7C1A5-2C42-4A86-A741-9CA0AEA08D96}"/>
              </a:ext>
            </a:extLst>
          </p:cNvPr>
          <p:cNvSpPr>
            <a:spLocks noGrp="1"/>
          </p:cNvSpPr>
          <p:nvPr>
            <p:ph type="title"/>
          </p:nvPr>
        </p:nvSpPr>
        <p:spPr bwMode="auto">
          <a:xfrm>
            <a:off x="179512" y="133841"/>
            <a:ext cx="8229600" cy="479970"/>
          </a:xfrm>
        </p:spPr>
        <p:txBody>
          <a:bodyPr>
            <a:noAutofit/>
          </a:bodyPr>
          <a:lstStyle/>
          <a:p>
            <a:pPr algn="l">
              <a:defRPr/>
            </a:pPr>
            <a:r>
              <a:rPr lang="en-US" altLang="zh-CN" sz="2400" dirty="0"/>
              <a:t>High-level illustration of digital banking system</a:t>
            </a:r>
            <a:endParaRPr lang="en-US" sz="2400" dirty="0"/>
          </a:p>
        </p:txBody>
      </p:sp>
      <p:sp>
        <p:nvSpPr>
          <p:cNvPr id="21" name="矩形 20">
            <a:extLst>
              <a:ext uri="{FF2B5EF4-FFF2-40B4-BE49-F238E27FC236}">
                <a16:creationId xmlns:a16="http://schemas.microsoft.com/office/drawing/2014/main" id="{9ED37E06-021F-42C2-9A34-C5CD7554DFD6}"/>
              </a:ext>
            </a:extLst>
          </p:cNvPr>
          <p:cNvSpPr/>
          <p:nvPr/>
        </p:nvSpPr>
        <p:spPr>
          <a:xfrm>
            <a:off x="323528" y="747824"/>
            <a:ext cx="6203032" cy="1077218"/>
          </a:xfrm>
          <a:prstGeom prst="rect">
            <a:avLst/>
          </a:prstGeom>
        </p:spPr>
        <p:txBody>
          <a:bodyPr wrap="square">
            <a:spAutoFit/>
          </a:bodyPr>
          <a:lstStyle/>
          <a:p>
            <a:pPr marL="180975" indent="-180975">
              <a:buFont typeface="Arial" panose="020B0604020202020204" pitchFamily="34" charset="0"/>
              <a:buChar char="•"/>
            </a:pPr>
            <a:r>
              <a:rPr lang="en-US" altLang="zh-CN" sz="1400" b="1" dirty="0">
                <a:solidFill>
                  <a:srgbClr val="222222"/>
                </a:solidFill>
                <a:latin typeface="Noto Sans"/>
              </a:rPr>
              <a:t>UnionPay</a:t>
            </a:r>
          </a:p>
          <a:p>
            <a:pPr marL="268288" lvl="1" indent="-180975">
              <a:buFont typeface="Wingdings" panose="05000000000000000000" pitchFamily="2" charset="2"/>
              <a:buChar char="ü"/>
            </a:pPr>
            <a:r>
              <a:rPr lang="en-US" altLang="zh-CN" sz="1200" dirty="0">
                <a:solidFill>
                  <a:srgbClr val="222222"/>
                </a:solidFill>
                <a:latin typeface="Noto Sans"/>
              </a:rPr>
              <a:t>"Public Infrastructure" and "Rule-Setter" in the payment/financial domain in China. </a:t>
            </a:r>
          </a:p>
          <a:p>
            <a:pPr marL="180975" indent="-180975">
              <a:buFont typeface="Arial" panose="020B0604020202020204" pitchFamily="34" charset="0"/>
              <a:buChar char="•"/>
            </a:pPr>
            <a:r>
              <a:rPr lang="en-US" altLang="zh-CN" sz="1400" b="1" dirty="0"/>
              <a:t>Open Banking Platform</a:t>
            </a:r>
          </a:p>
          <a:p>
            <a:pPr marL="268288" lvl="1" indent="-180975">
              <a:buFont typeface="Wingdings" panose="05000000000000000000" pitchFamily="2" charset="2"/>
              <a:buChar char="ü"/>
            </a:pPr>
            <a:r>
              <a:rPr lang="en-US" altLang="zh-CN" sz="1200" dirty="0">
                <a:solidFill>
                  <a:srgbClr val="222222"/>
                </a:solidFill>
                <a:latin typeface="Noto Sans"/>
              </a:rPr>
              <a:t>All member banks adhere to the unified technical standards established by the alliance, seamlessly integrating their core systems with the alliance's central platform.</a:t>
            </a:r>
            <a:endParaRPr lang="zh-CN" altLang="en-US" sz="1200" dirty="0">
              <a:solidFill>
                <a:srgbClr val="222222"/>
              </a:solidFill>
              <a:latin typeface="Noto Sans"/>
            </a:endParaRPr>
          </a:p>
        </p:txBody>
      </p:sp>
      <p:sp>
        <p:nvSpPr>
          <p:cNvPr id="22" name="矩形 21">
            <a:extLst>
              <a:ext uri="{FF2B5EF4-FFF2-40B4-BE49-F238E27FC236}">
                <a16:creationId xmlns:a16="http://schemas.microsoft.com/office/drawing/2014/main" id="{4B02581B-050D-4EE8-BBA8-79178F972061}"/>
              </a:ext>
            </a:extLst>
          </p:cNvPr>
          <p:cNvSpPr/>
          <p:nvPr/>
        </p:nvSpPr>
        <p:spPr>
          <a:xfrm>
            <a:off x="323528" y="4176592"/>
            <a:ext cx="8496944" cy="677108"/>
          </a:xfrm>
          <a:prstGeom prst="rect">
            <a:avLst/>
          </a:prstGeom>
        </p:spPr>
        <p:txBody>
          <a:bodyPr wrap="square">
            <a:spAutoFit/>
          </a:bodyPr>
          <a:lstStyle/>
          <a:p>
            <a:pPr marL="180975" indent="-180975">
              <a:buFont typeface="Arial" panose="020B0604020202020204" pitchFamily="34" charset="0"/>
              <a:buChar char="•"/>
            </a:pPr>
            <a:r>
              <a:rPr lang="en-US" altLang="zh-CN" sz="1400" b="1" dirty="0">
                <a:solidFill>
                  <a:srgbClr val="222222"/>
                </a:solidFill>
                <a:latin typeface="Noto Sans"/>
              </a:rPr>
              <a:t>From API calling to Agentic Interconnection</a:t>
            </a:r>
          </a:p>
          <a:p>
            <a:pPr marL="360363" lvl="1" indent="-179388">
              <a:buFont typeface="Wingdings" panose="05000000000000000000" pitchFamily="2" charset="2"/>
              <a:buChar char="ü"/>
            </a:pPr>
            <a:r>
              <a:rPr lang="en-US" altLang="zh-CN" sz="1200" dirty="0">
                <a:solidFill>
                  <a:srgbClr val="222222"/>
                </a:solidFill>
                <a:latin typeface="Noto Sans"/>
              </a:rPr>
              <a:t>Traditional API calls demonstrate significant limitations when dealing with complex and ever-changing business environments.</a:t>
            </a:r>
          </a:p>
          <a:p>
            <a:pPr marL="360363" lvl="1" indent="-179388">
              <a:buFont typeface="Wingdings" panose="05000000000000000000" pitchFamily="2" charset="2"/>
              <a:buChar char="ü"/>
            </a:pPr>
            <a:r>
              <a:rPr lang="en-US" altLang="zh-CN" sz="1200" dirty="0">
                <a:solidFill>
                  <a:srgbClr val="222222"/>
                </a:solidFill>
                <a:latin typeface="Noto Sans"/>
              </a:rPr>
              <a:t>Agentic interconnection/orchestration fundamentally overturns the traditional models</a:t>
            </a:r>
            <a:endParaRPr lang="zh-CN" altLang="en-US" sz="1200" dirty="0"/>
          </a:p>
        </p:txBody>
      </p:sp>
      <p:sp>
        <p:nvSpPr>
          <p:cNvPr id="25" name="箭头: 右 24">
            <a:extLst>
              <a:ext uri="{FF2B5EF4-FFF2-40B4-BE49-F238E27FC236}">
                <a16:creationId xmlns:a16="http://schemas.microsoft.com/office/drawing/2014/main" id="{A01A90BE-0B55-4DD6-A849-C1BA99EA3DD2}"/>
              </a:ext>
            </a:extLst>
          </p:cNvPr>
          <p:cNvSpPr/>
          <p:nvPr/>
        </p:nvSpPr>
        <p:spPr>
          <a:xfrm>
            <a:off x="4330272" y="2450537"/>
            <a:ext cx="320038" cy="876119"/>
          </a:xfrm>
          <a:prstGeom prst="rightArrow">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587F76E2-D6BE-4B95-B549-310AE4B43FFE}"/>
              </a:ext>
            </a:extLst>
          </p:cNvPr>
          <p:cNvGrpSpPr/>
          <p:nvPr/>
        </p:nvGrpSpPr>
        <p:grpSpPr>
          <a:xfrm>
            <a:off x="4932040" y="2000072"/>
            <a:ext cx="3960440" cy="1944216"/>
            <a:chOff x="512676" y="771550"/>
            <a:chExt cx="8397122" cy="3600400"/>
          </a:xfrm>
        </p:grpSpPr>
        <p:sp>
          <p:nvSpPr>
            <p:cNvPr id="23" name="矩形: 圆角 22">
              <a:extLst>
                <a:ext uri="{FF2B5EF4-FFF2-40B4-BE49-F238E27FC236}">
                  <a16:creationId xmlns:a16="http://schemas.microsoft.com/office/drawing/2014/main" id="{29F7634E-F9C8-4F3C-8A21-8A1B34403A65}"/>
                </a:ext>
              </a:extLst>
            </p:cNvPr>
            <p:cNvSpPr/>
            <p:nvPr/>
          </p:nvSpPr>
          <p:spPr>
            <a:xfrm>
              <a:off x="512676" y="2067694"/>
              <a:ext cx="1106995" cy="5040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Users</a:t>
              </a:r>
              <a:endParaRPr lang="zh-CN" altLang="en-US" sz="1000" dirty="0">
                <a:solidFill>
                  <a:schemeClr val="tx1"/>
                </a:solidFill>
              </a:endParaRPr>
            </a:p>
          </p:txBody>
        </p:sp>
        <p:sp>
          <p:nvSpPr>
            <p:cNvPr id="24" name="矩形: 圆角 23">
              <a:extLst>
                <a:ext uri="{FF2B5EF4-FFF2-40B4-BE49-F238E27FC236}">
                  <a16:creationId xmlns:a16="http://schemas.microsoft.com/office/drawing/2014/main" id="{324B7947-9D73-40CA-864D-22528001B898}"/>
                </a:ext>
              </a:extLst>
            </p:cNvPr>
            <p:cNvSpPr/>
            <p:nvPr/>
          </p:nvSpPr>
          <p:spPr>
            <a:xfrm>
              <a:off x="4176875" y="1838381"/>
              <a:ext cx="1681150" cy="202139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dirty="0"/>
            </a:p>
            <a:p>
              <a:pPr algn="ctr"/>
              <a:endParaRPr lang="en-US" altLang="zh-CN" sz="1000" dirty="0"/>
            </a:p>
            <a:p>
              <a:pPr algn="ctr"/>
              <a:r>
                <a:rPr lang="en-US" altLang="zh-CN" sz="1000" dirty="0"/>
                <a:t>UnionPay</a:t>
              </a:r>
            </a:p>
            <a:p>
              <a:pPr algn="ctr"/>
              <a:r>
                <a:rPr lang="en-US" altLang="zh-CN" sz="1000" dirty="0"/>
                <a:t>Open Platform</a:t>
              </a:r>
              <a:endParaRPr lang="zh-CN" altLang="en-US" sz="1000" dirty="0"/>
            </a:p>
          </p:txBody>
        </p:sp>
        <p:sp>
          <p:nvSpPr>
            <p:cNvPr id="27" name="左中括号 26">
              <a:extLst>
                <a:ext uri="{FF2B5EF4-FFF2-40B4-BE49-F238E27FC236}">
                  <a16:creationId xmlns:a16="http://schemas.microsoft.com/office/drawing/2014/main" id="{4346CE0C-C6E6-4160-807D-DCFA8550E922}"/>
                </a:ext>
              </a:extLst>
            </p:cNvPr>
            <p:cNvSpPr/>
            <p:nvPr/>
          </p:nvSpPr>
          <p:spPr>
            <a:xfrm>
              <a:off x="6333121" y="894416"/>
              <a:ext cx="360040" cy="3312368"/>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a:p>
          </p:txBody>
        </p:sp>
        <p:sp>
          <p:nvSpPr>
            <p:cNvPr id="28" name="矩形: 圆角 27">
              <a:extLst>
                <a:ext uri="{FF2B5EF4-FFF2-40B4-BE49-F238E27FC236}">
                  <a16:creationId xmlns:a16="http://schemas.microsoft.com/office/drawing/2014/main" id="{7A522383-856B-40FB-BDA2-174160F91867}"/>
                </a:ext>
              </a:extLst>
            </p:cNvPr>
            <p:cNvSpPr/>
            <p:nvPr/>
          </p:nvSpPr>
          <p:spPr>
            <a:xfrm>
              <a:off x="7020272" y="771550"/>
              <a:ext cx="1889526"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t>Commercial Bank 1</a:t>
              </a:r>
              <a:endParaRPr lang="zh-CN" altLang="en-US" sz="1000" dirty="0"/>
            </a:p>
          </p:txBody>
        </p:sp>
        <p:sp>
          <p:nvSpPr>
            <p:cNvPr id="29" name="矩形: 圆角 28">
              <a:extLst>
                <a:ext uri="{FF2B5EF4-FFF2-40B4-BE49-F238E27FC236}">
                  <a16:creationId xmlns:a16="http://schemas.microsoft.com/office/drawing/2014/main" id="{BC7187C1-864A-4BA3-8C9A-0D1C0AD34620}"/>
                </a:ext>
              </a:extLst>
            </p:cNvPr>
            <p:cNvSpPr/>
            <p:nvPr/>
          </p:nvSpPr>
          <p:spPr>
            <a:xfrm>
              <a:off x="7020272" y="1794517"/>
              <a:ext cx="1889526"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t>Commercial Bank 2</a:t>
              </a:r>
              <a:endParaRPr lang="zh-CN" altLang="en-US" sz="1000" dirty="0"/>
            </a:p>
          </p:txBody>
        </p:sp>
        <p:sp>
          <p:nvSpPr>
            <p:cNvPr id="30" name="矩形: 圆角 29">
              <a:extLst>
                <a:ext uri="{FF2B5EF4-FFF2-40B4-BE49-F238E27FC236}">
                  <a16:creationId xmlns:a16="http://schemas.microsoft.com/office/drawing/2014/main" id="{7358A795-428C-4665-AC4F-ED74FB756147}"/>
                </a:ext>
              </a:extLst>
            </p:cNvPr>
            <p:cNvSpPr/>
            <p:nvPr/>
          </p:nvSpPr>
          <p:spPr>
            <a:xfrm>
              <a:off x="7020272" y="3867894"/>
              <a:ext cx="1889526"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t>Commercial Bank N</a:t>
              </a:r>
              <a:endParaRPr lang="zh-CN" altLang="en-US" sz="1000" dirty="0"/>
            </a:p>
          </p:txBody>
        </p:sp>
        <p:sp>
          <p:nvSpPr>
            <p:cNvPr id="31" name="文本框 30">
              <a:extLst>
                <a:ext uri="{FF2B5EF4-FFF2-40B4-BE49-F238E27FC236}">
                  <a16:creationId xmlns:a16="http://schemas.microsoft.com/office/drawing/2014/main" id="{5C984155-4AA0-4C5A-B31D-B6E612D71EDF}"/>
                </a:ext>
              </a:extLst>
            </p:cNvPr>
            <p:cNvSpPr txBox="1"/>
            <p:nvPr/>
          </p:nvSpPr>
          <p:spPr>
            <a:xfrm rot="5400000">
              <a:off x="7865864" y="2590780"/>
              <a:ext cx="45719" cy="583715"/>
            </a:xfrm>
            <a:prstGeom prst="rect">
              <a:avLst/>
            </a:prstGeom>
            <a:noFill/>
          </p:spPr>
          <p:txBody>
            <a:bodyPr wrap="square" rtlCol="0">
              <a:spAutoFit/>
            </a:bodyPr>
            <a:lstStyle/>
            <a:p>
              <a:r>
                <a:rPr lang="en-US" altLang="zh-CN" sz="1400" dirty="0"/>
                <a:t>…</a:t>
              </a:r>
              <a:endParaRPr lang="zh-CN" altLang="en-US" sz="1400" dirty="0"/>
            </a:p>
          </p:txBody>
        </p:sp>
        <p:cxnSp>
          <p:nvCxnSpPr>
            <p:cNvPr id="32" name="直接连接符 31">
              <a:extLst>
                <a:ext uri="{FF2B5EF4-FFF2-40B4-BE49-F238E27FC236}">
                  <a16:creationId xmlns:a16="http://schemas.microsoft.com/office/drawing/2014/main" id="{B92CD40C-EAEB-46B6-871E-C1ABD2ACE0BF}"/>
                </a:ext>
              </a:extLst>
            </p:cNvPr>
            <p:cNvCxnSpPr>
              <a:cxnSpLocks/>
            </p:cNvCxnSpPr>
            <p:nvPr/>
          </p:nvCxnSpPr>
          <p:spPr>
            <a:xfrm>
              <a:off x="6065453" y="2290450"/>
              <a:ext cx="267669" cy="26561"/>
            </a:xfrm>
            <a:prstGeom prst="line">
              <a:avLst/>
            </a:prstGeom>
          </p:spPr>
          <p:style>
            <a:lnRef idx="1">
              <a:schemeClr val="accent1"/>
            </a:lnRef>
            <a:fillRef idx="0">
              <a:schemeClr val="accent1"/>
            </a:fillRef>
            <a:effectRef idx="0">
              <a:schemeClr val="accent1"/>
            </a:effectRef>
            <a:fontRef idx="minor">
              <a:schemeClr val="tx1"/>
            </a:fontRef>
          </p:style>
        </p:cxnSp>
        <p:sp>
          <p:nvSpPr>
            <p:cNvPr id="33" name="矩形: 圆角 32">
              <a:extLst>
                <a:ext uri="{FF2B5EF4-FFF2-40B4-BE49-F238E27FC236}">
                  <a16:creationId xmlns:a16="http://schemas.microsoft.com/office/drawing/2014/main" id="{D53DD7A6-A92F-4842-BFB8-2837BD9F7222}"/>
                </a:ext>
              </a:extLst>
            </p:cNvPr>
            <p:cNvSpPr/>
            <p:nvPr/>
          </p:nvSpPr>
          <p:spPr>
            <a:xfrm>
              <a:off x="2124494" y="2064980"/>
              <a:ext cx="1289006" cy="504056"/>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rPr>
                <a:t>Agents</a:t>
              </a:r>
              <a:endParaRPr lang="zh-CN" altLang="en-US" sz="1000" dirty="0">
                <a:solidFill>
                  <a:schemeClr val="tx1"/>
                </a:solidFill>
              </a:endParaRPr>
            </a:p>
          </p:txBody>
        </p:sp>
        <p:cxnSp>
          <p:nvCxnSpPr>
            <p:cNvPr id="34" name="直接箭头连接符 33">
              <a:extLst>
                <a:ext uri="{FF2B5EF4-FFF2-40B4-BE49-F238E27FC236}">
                  <a16:creationId xmlns:a16="http://schemas.microsoft.com/office/drawing/2014/main" id="{37B571C9-E0F9-4F6E-B43D-BE44821D293E}"/>
                </a:ext>
              </a:extLst>
            </p:cNvPr>
            <p:cNvCxnSpPr>
              <a:cxnSpLocks/>
              <a:stCxn id="23" idx="3"/>
              <a:endCxn id="33" idx="1"/>
            </p:cNvCxnSpPr>
            <p:nvPr/>
          </p:nvCxnSpPr>
          <p:spPr>
            <a:xfrm flipV="1">
              <a:off x="1619671" y="2317007"/>
              <a:ext cx="504823" cy="271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AECBA947-9909-4EB7-B491-CD0E6427BFCF}"/>
                </a:ext>
              </a:extLst>
            </p:cNvPr>
            <p:cNvCxnSpPr>
              <a:cxnSpLocks/>
              <a:stCxn id="33" idx="3"/>
              <a:endCxn id="12" idx="1"/>
            </p:cNvCxnSpPr>
            <p:nvPr/>
          </p:nvCxnSpPr>
          <p:spPr>
            <a:xfrm flipV="1">
              <a:off x="3413500" y="2308885"/>
              <a:ext cx="740192" cy="812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2" name="矩形: 圆角 11">
            <a:extLst>
              <a:ext uri="{FF2B5EF4-FFF2-40B4-BE49-F238E27FC236}">
                <a16:creationId xmlns:a16="http://schemas.microsoft.com/office/drawing/2014/main" id="{6BDEDA9F-30A8-48FA-92DA-2BC063D8798F}"/>
              </a:ext>
            </a:extLst>
          </p:cNvPr>
          <p:cNvSpPr/>
          <p:nvPr/>
        </p:nvSpPr>
        <p:spPr>
          <a:xfrm>
            <a:off x="6649298" y="2650218"/>
            <a:ext cx="576064" cy="360029"/>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rPr>
              <a:t>Agents</a:t>
            </a:r>
            <a:endParaRPr lang="zh-CN" altLang="en-US" sz="900" b="1" dirty="0">
              <a:solidFill>
                <a:schemeClr val="tx1"/>
              </a:solidFill>
            </a:endParaRPr>
          </a:p>
        </p:txBody>
      </p:sp>
      <p:sp>
        <p:nvSpPr>
          <p:cNvPr id="44" name="矩形: 圆角 43">
            <a:extLst>
              <a:ext uri="{FF2B5EF4-FFF2-40B4-BE49-F238E27FC236}">
                <a16:creationId xmlns:a16="http://schemas.microsoft.com/office/drawing/2014/main" id="{E96E960E-9F59-4B59-8651-845E0DCC31C7}"/>
              </a:ext>
            </a:extLst>
          </p:cNvPr>
          <p:cNvSpPr/>
          <p:nvPr/>
        </p:nvSpPr>
        <p:spPr>
          <a:xfrm>
            <a:off x="7349527" y="2650218"/>
            <a:ext cx="229850" cy="883330"/>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rPr>
              <a:t>Agent</a:t>
            </a:r>
          </a:p>
          <a:p>
            <a:pPr algn="ctr"/>
            <a:r>
              <a:rPr lang="en-US" altLang="zh-CN" sz="900" b="1" dirty="0">
                <a:solidFill>
                  <a:schemeClr val="tx1"/>
                </a:solidFill>
              </a:rPr>
              <a:t>s</a:t>
            </a:r>
            <a:endParaRPr lang="zh-CN" altLang="en-US" sz="900" b="1" dirty="0">
              <a:solidFill>
                <a:schemeClr val="tx1"/>
              </a:solidFill>
            </a:endParaRPr>
          </a:p>
        </p:txBody>
      </p:sp>
      <p:sp>
        <p:nvSpPr>
          <p:cNvPr id="47" name="矩形: 圆角 46">
            <a:extLst>
              <a:ext uri="{FF2B5EF4-FFF2-40B4-BE49-F238E27FC236}">
                <a16:creationId xmlns:a16="http://schemas.microsoft.com/office/drawing/2014/main" id="{51ED2837-99FF-43D8-AF42-8CA2AC624AF7}"/>
              </a:ext>
            </a:extLst>
          </p:cNvPr>
          <p:cNvSpPr/>
          <p:nvPr/>
        </p:nvSpPr>
        <p:spPr>
          <a:xfrm>
            <a:off x="7994546" y="2062034"/>
            <a:ext cx="548084" cy="196683"/>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rPr>
              <a:t>Agents</a:t>
            </a:r>
            <a:endParaRPr lang="zh-CN" altLang="en-US" sz="900" b="1" dirty="0">
              <a:solidFill>
                <a:schemeClr val="tx1"/>
              </a:solidFill>
            </a:endParaRPr>
          </a:p>
        </p:txBody>
      </p:sp>
      <p:sp>
        <p:nvSpPr>
          <p:cNvPr id="48" name="矩形: 圆角 47">
            <a:extLst>
              <a:ext uri="{FF2B5EF4-FFF2-40B4-BE49-F238E27FC236}">
                <a16:creationId xmlns:a16="http://schemas.microsoft.com/office/drawing/2014/main" id="{A9594B1C-7769-4E06-A61F-A187A6621E06}"/>
              </a:ext>
            </a:extLst>
          </p:cNvPr>
          <p:cNvSpPr/>
          <p:nvPr/>
        </p:nvSpPr>
        <p:spPr>
          <a:xfrm>
            <a:off x="7994546" y="2612933"/>
            <a:ext cx="548084" cy="196683"/>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rPr>
              <a:t>Agents</a:t>
            </a:r>
            <a:endParaRPr lang="zh-CN" altLang="en-US" sz="900" b="1" dirty="0">
              <a:solidFill>
                <a:schemeClr val="tx1"/>
              </a:solidFill>
            </a:endParaRPr>
          </a:p>
        </p:txBody>
      </p:sp>
      <p:sp>
        <p:nvSpPr>
          <p:cNvPr id="49" name="矩形: 圆角 48">
            <a:extLst>
              <a:ext uri="{FF2B5EF4-FFF2-40B4-BE49-F238E27FC236}">
                <a16:creationId xmlns:a16="http://schemas.microsoft.com/office/drawing/2014/main" id="{DB4A0E1B-7FC7-495E-A619-AF36A91BDA36}"/>
              </a:ext>
            </a:extLst>
          </p:cNvPr>
          <p:cNvSpPr/>
          <p:nvPr/>
        </p:nvSpPr>
        <p:spPr>
          <a:xfrm>
            <a:off x="8001299" y="3720485"/>
            <a:ext cx="548084" cy="196683"/>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rPr>
              <a:t>Agents</a:t>
            </a:r>
            <a:endParaRPr lang="zh-CN" altLang="en-US" sz="900" b="1" dirty="0">
              <a:solidFill>
                <a:schemeClr val="tx1"/>
              </a:solidFill>
            </a:endParaRPr>
          </a:p>
        </p:txBody>
      </p:sp>
      <p:sp>
        <p:nvSpPr>
          <p:cNvPr id="52" name="文本框 51">
            <a:extLst>
              <a:ext uri="{FF2B5EF4-FFF2-40B4-BE49-F238E27FC236}">
                <a16:creationId xmlns:a16="http://schemas.microsoft.com/office/drawing/2014/main" id="{03E01E97-9F12-4F46-9EEA-E6E625F6ABE7}"/>
              </a:ext>
            </a:extLst>
          </p:cNvPr>
          <p:cNvSpPr txBox="1"/>
          <p:nvPr/>
        </p:nvSpPr>
        <p:spPr>
          <a:xfrm>
            <a:off x="1524277" y="2532617"/>
            <a:ext cx="618884" cy="276999"/>
          </a:xfrm>
          <a:prstGeom prst="rect">
            <a:avLst/>
          </a:prstGeom>
          <a:noFill/>
        </p:spPr>
        <p:txBody>
          <a:bodyPr wrap="square" rtlCol="0">
            <a:spAutoFit/>
          </a:bodyPr>
          <a:lstStyle/>
          <a:p>
            <a:r>
              <a:rPr lang="en-US" altLang="zh-CN" sz="1200" dirty="0"/>
              <a:t>APIs</a:t>
            </a:r>
            <a:endParaRPr lang="zh-CN" altLang="en-US" sz="1200" dirty="0"/>
          </a:p>
        </p:txBody>
      </p:sp>
      <p:sp>
        <p:nvSpPr>
          <p:cNvPr id="53" name="文本框 52">
            <a:extLst>
              <a:ext uri="{FF2B5EF4-FFF2-40B4-BE49-F238E27FC236}">
                <a16:creationId xmlns:a16="http://schemas.microsoft.com/office/drawing/2014/main" id="{131AA741-8750-4624-9B01-2DE14EF92633}"/>
              </a:ext>
            </a:extLst>
          </p:cNvPr>
          <p:cNvSpPr txBox="1"/>
          <p:nvPr/>
        </p:nvSpPr>
        <p:spPr>
          <a:xfrm>
            <a:off x="2750178" y="2534121"/>
            <a:ext cx="618884" cy="276999"/>
          </a:xfrm>
          <a:prstGeom prst="rect">
            <a:avLst/>
          </a:prstGeom>
          <a:noFill/>
        </p:spPr>
        <p:txBody>
          <a:bodyPr wrap="square" rtlCol="0">
            <a:spAutoFit/>
          </a:bodyPr>
          <a:lstStyle/>
          <a:p>
            <a:r>
              <a:rPr lang="en-US" altLang="zh-CN" sz="1200" dirty="0"/>
              <a:t>APIs</a:t>
            </a:r>
            <a:endParaRPr lang="zh-CN" altLang="en-US" sz="1200" dirty="0"/>
          </a:p>
        </p:txBody>
      </p:sp>
      <p:sp>
        <p:nvSpPr>
          <p:cNvPr id="54" name="文本框 53">
            <a:extLst>
              <a:ext uri="{FF2B5EF4-FFF2-40B4-BE49-F238E27FC236}">
                <a16:creationId xmlns:a16="http://schemas.microsoft.com/office/drawing/2014/main" id="{F6BA4D02-25BD-467A-97B7-BEC04EA1E8D2}"/>
              </a:ext>
            </a:extLst>
          </p:cNvPr>
          <p:cNvSpPr txBox="1"/>
          <p:nvPr/>
        </p:nvSpPr>
        <p:spPr>
          <a:xfrm>
            <a:off x="5912864" y="2444976"/>
            <a:ext cx="1010437" cy="276999"/>
          </a:xfrm>
          <a:prstGeom prst="rect">
            <a:avLst/>
          </a:prstGeom>
          <a:noFill/>
        </p:spPr>
        <p:txBody>
          <a:bodyPr wrap="square" rtlCol="0">
            <a:spAutoFit/>
          </a:bodyPr>
          <a:lstStyle/>
          <a:p>
            <a:r>
              <a:rPr lang="en-US" altLang="zh-CN" sz="1200" dirty="0"/>
              <a:t>MCP/A2A</a:t>
            </a:r>
            <a:endParaRPr lang="zh-CN" altLang="en-US" sz="1200" dirty="0"/>
          </a:p>
        </p:txBody>
      </p:sp>
      <p:sp>
        <p:nvSpPr>
          <p:cNvPr id="55" name="文本框 54">
            <a:extLst>
              <a:ext uri="{FF2B5EF4-FFF2-40B4-BE49-F238E27FC236}">
                <a16:creationId xmlns:a16="http://schemas.microsoft.com/office/drawing/2014/main" id="{C9904B68-95F2-4D11-93B4-032E6DF21175}"/>
              </a:ext>
            </a:extLst>
          </p:cNvPr>
          <p:cNvSpPr txBox="1"/>
          <p:nvPr/>
        </p:nvSpPr>
        <p:spPr>
          <a:xfrm>
            <a:off x="7627059" y="2834619"/>
            <a:ext cx="1010437" cy="276999"/>
          </a:xfrm>
          <a:prstGeom prst="rect">
            <a:avLst/>
          </a:prstGeom>
          <a:noFill/>
        </p:spPr>
        <p:txBody>
          <a:bodyPr wrap="square" rtlCol="0">
            <a:spAutoFit/>
          </a:bodyPr>
          <a:lstStyle/>
          <a:p>
            <a:r>
              <a:rPr lang="en-US" altLang="zh-CN" sz="1200" dirty="0"/>
              <a:t>MCP/A2A</a:t>
            </a:r>
            <a:endParaRPr lang="zh-CN" altLang="en-US" sz="1200" dirty="0"/>
          </a:p>
        </p:txBody>
      </p:sp>
    </p:spTree>
    <p:extLst>
      <p:ext uri="{BB962C8B-B14F-4D97-AF65-F5344CB8AC3E}">
        <p14:creationId xmlns:p14="http://schemas.microsoft.com/office/powerpoint/2010/main" val="2919125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bwMode="auto">
          <a:xfrm>
            <a:off x="107504" y="80289"/>
            <a:ext cx="8229600" cy="349677"/>
          </a:xfrm>
        </p:spPr>
        <p:txBody>
          <a:bodyPr>
            <a:noAutofit/>
          </a:bodyPr>
          <a:lstStyle/>
          <a:p>
            <a:pPr algn="l">
              <a:defRPr/>
            </a:pPr>
            <a:r>
              <a:rPr lang="en-US" altLang="zh-CN" sz="2400" dirty="0"/>
              <a:t>Examples of agentic banking service </a:t>
            </a:r>
            <a:endParaRPr lang="en-US" sz="2400" dirty="0"/>
          </a:p>
        </p:txBody>
      </p:sp>
      <p:sp>
        <p:nvSpPr>
          <p:cNvPr id="7" name="文本框 6"/>
          <p:cNvSpPr txBox="1"/>
          <p:nvPr/>
        </p:nvSpPr>
        <p:spPr>
          <a:xfrm>
            <a:off x="2848610" y="1039495"/>
            <a:ext cx="5906135" cy="1753235"/>
          </a:xfrm>
          <a:prstGeom prst="rect">
            <a:avLst/>
          </a:prstGeom>
          <a:noFill/>
        </p:spPr>
        <p:txBody>
          <a:bodyPr wrap="square" rtlCol="0">
            <a:spAutoFit/>
          </a:bodyPr>
          <a:lstStyle/>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effectLst/>
                <a:uLnTx/>
                <a:uFillTx/>
                <a:latin typeface="Calibri"/>
                <a:cs typeface="Arial"/>
              </a:rPr>
              <a:t>Retailer</a:t>
            </a:r>
            <a:r>
              <a:rPr kumimoji="0" sz="1200" b="0" i="0" u="none" strike="noStrike" kern="0" cap="none" spc="0" normalizeH="0" baseline="0" noProof="0" dirty="0">
                <a:ln>
                  <a:noFill/>
                </a:ln>
                <a:effectLst/>
                <a:uLnTx/>
                <a:uFillTx/>
                <a:latin typeface="Calibri"/>
                <a:cs typeface="Arial"/>
              </a:rPr>
              <a:t>s can apply for loans</a:t>
            </a:r>
            <a:r>
              <a:rPr kumimoji="0" lang="en-US" sz="1200" b="0" i="0" u="none" strike="noStrike" kern="0" cap="none" spc="0" normalizeH="0" baseline="0" noProof="0" dirty="0">
                <a:ln>
                  <a:noFill/>
                </a:ln>
                <a:effectLst/>
                <a:uLnTx/>
                <a:uFillTx/>
                <a:latin typeface="Calibri"/>
                <a:cs typeface="Arial"/>
                <a:sym typeface="+mn-ea"/>
              </a:rPr>
              <a:t> from </a:t>
            </a:r>
            <a:r>
              <a:rPr kumimoji="0" sz="1200" b="0" i="0" u="none" strike="noStrike" kern="0" cap="none" spc="0" normalizeH="0" baseline="0" noProof="0" dirty="0">
                <a:ln>
                  <a:noFill/>
                </a:ln>
                <a:effectLst/>
                <a:uLnTx/>
                <a:uFillTx/>
                <a:latin typeface="Calibri"/>
                <a:cs typeface="Arial"/>
                <a:sym typeface="+mn-ea"/>
              </a:rPr>
              <a:t>partner banks</a:t>
            </a:r>
            <a:r>
              <a:rPr kumimoji="0" sz="1200" b="0" i="0" u="none" strike="noStrike" kern="0" cap="none" spc="0" normalizeH="0" baseline="0" noProof="0" dirty="0">
                <a:ln>
                  <a:noFill/>
                </a:ln>
                <a:effectLst/>
                <a:uLnTx/>
                <a:uFillTx/>
                <a:latin typeface="Calibri"/>
                <a:cs typeface="Arial"/>
              </a:rPr>
              <a:t> </a:t>
            </a:r>
            <a:r>
              <a:rPr kumimoji="0" lang="en-US" sz="1200" b="0" i="0" u="none" strike="noStrike" kern="0" cap="none" spc="0" normalizeH="0" baseline="0" noProof="0" dirty="0">
                <a:ln>
                  <a:noFill/>
                </a:ln>
                <a:effectLst/>
                <a:uLnTx/>
                <a:uFillTx/>
                <a:latin typeface="Calibri"/>
                <a:cs typeface="Arial"/>
              </a:rPr>
              <a:t>within</a:t>
            </a:r>
            <a:r>
              <a:rPr kumimoji="0" sz="1200" b="0" i="0" u="none" strike="noStrike" kern="0" cap="none" spc="0" normalizeH="0" baseline="0" noProof="0" dirty="0">
                <a:ln>
                  <a:noFill/>
                </a:ln>
                <a:effectLst/>
                <a:uLnTx/>
                <a:uFillTx/>
                <a:latin typeface="Calibri"/>
                <a:cs typeface="Arial"/>
              </a:rPr>
              <a:t> the </a:t>
            </a:r>
            <a:r>
              <a:rPr kumimoji="0" lang="en-US" sz="1200" b="0" i="0" u="none" strike="noStrike" kern="0" cap="none" spc="0" normalizeH="0" baseline="0" noProof="0" dirty="0">
                <a:ln>
                  <a:noFill/>
                </a:ln>
                <a:effectLst/>
                <a:uLnTx/>
                <a:uFillTx/>
                <a:latin typeface="Calibri"/>
                <a:cs typeface="Arial"/>
              </a:rPr>
              <a:t>order </a:t>
            </a:r>
            <a:r>
              <a:rPr kumimoji="0" sz="1200" b="0" i="0" u="none" strike="noStrike" kern="0" cap="none" spc="0" normalizeH="0" baseline="0" noProof="0" dirty="0">
                <a:ln>
                  <a:noFill/>
                </a:ln>
                <a:effectLst/>
                <a:uLnTx/>
                <a:uFillTx/>
                <a:latin typeface="Calibri"/>
                <a:cs typeface="Arial"/>
              </a:rPr>
              <a:t>system. They can </a:t>
            </a:r>
            <a:r>
              <a:rPr kumimoji="0" lang="en-US" sz="1200" b="0" i="0" u="none" strike="noStrike" kern="0" cap="none" spc="0" normalizeH="0" baseline="0" noProof="0" dirty="0">
                <a:ln>
                  <a:noFill/>
                </a:ln>
                <a:effectLst/>
                <a:uLnTx/>
                <a:uFillTx/>
                <a:latin typeface="Calibri"/>
                <a:cs typeface="Arial"/>
              </a:rPr>
              <a:t>easily </a:t>
            </a:r>
            <a:r>
              <a:rPr kumimoji="0" sz="1200" b="0" i="0" u="none" strike="noStrike" kern="0" cap="none" spc="0" normalizeH="0" baseline="0" noProof="0" dirty="0">
                <a:ln>
                  <a:noFill/>
                </a:ln>
                <a:effectLst/>
                <a:uLnTx/>
                <a:uFillTx/>
                <a:latin typeface="Calibri"/>
                <a:cs typeface="Arial"/>
              </a:rPr>
              <a:t>use the credit funds within the approved limit for order payments. UnionPay </a:t>
            </a:r>
            <a:r>
              <a:rPr kumimoji="0" lang="en-US" sz="1200" b="0" i="0" u="none" strike="noStrike" kern="0" cap="none" spc="0" normalizeH="0" baseline="0" noProof="0" dirty="0">
                <a:ln>
                  <a:noFill/>
                </a:ln>
                <a:effectLst/>
                <a:uLnTx/>
                <a:uFillTx/>
                <a:latin typeface="Calibri"/>
                <a:cs typeface="Arial"/>
              </a:rPr>
              <a:t> </a:t>
            </a:r>
            <a:r>
              <a:rPr kumimoji="0" sz="1200" b="0" i="0" u="none" strike="noStrike" kern="0" cap="none" spc="0" normalizeH="0" baseline="0" noProof="0" dirty="0">
                <a:ln>
                  <a:noFill/>
                </a:ln>
                <a:effectLst/>
                <a:uLnTx/>
                <a:uFillTx/>
                <a:latin typeface="Calibri"/>
                <a:cs typeface="Arial"/>
              </a:rPr>
              <a:t>initiates </a:t>
            </a:r>
            <a:r>
              <a:rPr kumimoji="0" lang="en-US" sz="1200" b="0" i="0" u="none" strike="noStrike" kern="0" cap="none" spc="0" normalizeH="0" baseline="0" noProof="0" dirty="0">
                <a:ln>
                  <a:noFill/>
                </a:ln>
                <a:effectLst/>
                <a:uLnTx/>
                <a:uFillTx/>
                <a:latin typeface="Calibri"/>
                <a:cs typeface="Arial"/>
              </a:rPr>
              <a:t>real-time payment processing</a:t>
            </a:r>
            <a:r>
              <a:rPr kumimoji="0" sz="1200" b="0" i="0" u="none" strike="noStrike" kern="0" cap="none" spc="0" normalizeH="0" baseline="0" noProof="0" dirty="0">
                <a:ln>
                  <a:noFill/>
                </a:ln>
                <a:effectLst/>
                <a:uLnTx/>
                <a:uFillTx/>
                <a:latin typeface="Calibri"/>
                <a:cs typeface="Arial"/>
              </a:rPr>
              <a:t> to the</a:t>
            </a:r>
            <a:r>
              <a:rPr kumimoji="0" lang="en-US" sz="1200" b="0" i="0" u="none" strike="noStrike" kern="0" cap="none" spc="0" normalizeH="0" baseline="0" noProof="0" dirty="0">
                <a:ln>
                  <a:noFill/>
                </a:ln>
                <a:effectLst/>
                <a:uLnTx/>
                <a:uFillTx/>
                <a:latin typeface="Calibri"/>
                <a:cs typeface="Arial"/>
              </a:rPr>
              <a:t> recipient‌ </a:t>
            </a:r>
            <a:r>
              <a:rPr kumimoji="0" sz="1200" b="0" i="0" u="none" strike="noStrike" kern="0" cap="none" spc="0" normalizeH="0" baseline="0" noProof="0" dirty="0">
                <a:ln>
                  <a:noFill/>
                </a:ln>
                <a:effectLst/>
                <a:uLnTx/>
                <a:uFillTx/>
                <a:latin typeface="Calibri"/>
                <a:cs typeface="Arial"/>
              </a:rPr>
              <a:t>company's account, completing the entire process of order-based lending.</a:t>
            </a: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200" b="0" i="0" u="none" strike="noStrike" kern="0" cap="none" spc="0" normalizeH="0" baseline="0" noProof="0" dirty="0">
                <a:ln>
                  <a:noFill/>
                </a:ln>
                <a:effectLst/>
                <a:uLnTx/>
                <a:uFillTx/>
                <a:latin typeface="Calibri"/>
                <a:cs typeface="Arial"/>
                <a:sym typeface="+mn-ea"/>
              </a:rPr>
              <a:t>Agentic banking service </a:t>
            </a:r>
            <a:r>
              <a:rPr kumimoji="0" lang="en-US" altLang="zh-CN" sz="1200" b="0" i="0" u="none" strike="noStrike" kern="0" cap="none" spc="0" normalizeH="0" baseline="0" noProof="0" dirty="0">
                <a:ln>
                  <a:noFill/>
                </a:ln>
                <a:effectLst/>
                <a:uLnTx/>
                <a:uFillTx/>
                <a:latin typeface="Calibri"/>
                <a:ea typeface="宋体" panose="02010600030101010101" pitchFamily="2" charset="-122"/>
                <a:cs typeface="Arial"/>
              </a:rPr>
              <a:t>bridge the gap between disparate standards and interfaces among applications and banks.</a:t>
            </a:r>
          </a:p>
        </p:txBody>
      </p:sp>
      <p:cxnSp>
        <p:nvCxnSpPr>
          <p:cNvPr id="9" name="直接连接符 8"/>
          <p:cNvCxnSpPr/>
          <p:nvPr/>
        </p:nvCxnSpPr>
        <p:spPr>
          <a:xfrm>
            <a:off x="683568" y="2931790"/>
            <a:ext cx="7416824" cy="0"/>
          </a:xfrm>
          <a:prstGeom prst="line">
            <a:avLst/>
          </a:prstGeom>
        </p:spPr>
        <p:style>
          <a:lnRef idx="1">
            <a:schemeClr val="accent2"/>
          </a:lnRef>
          <a:fillRef idx="0">
            <a:schemeClr val="accent2"/>
          </a:fillRef>
          <a:effectRef idx="0">
            <a:schemeClr val="accent2"/>
          </a:effectRef>
          <a:fontRef idx="minor">
            <a:schemeClr val="tx1"/>
          </a:fontRef>
        </p:style>
      </p:cxnSp>
      <p:pic>
        <p:nvPicPr>
          <p:cNvPr id="10" name="图片 9"/>
          <p:cNvPicPr>
            <a:picLocks noChangeAspect="1"/>
          </p:cNvPicPr>
          <p:nvPr/>
        </p:nvPicPr>
        <p:blipFill>
          <a:blip r:embed="rId3"/>
          <a:stretch>
            <a:fillRect/>
          </a:stretch>
        </p:blipFill>
        <p:spPr>
          <a:xfrm>
            <a:off x="299713" y="3286112"/>
            <a:ext cx="911556" cy="1753172"/>
          </a:xfrm>
          <a:prstGeom prst="rect">
            <a:avLst/>
          </a:prstGeom>
        </p:spPr>
      </p:pic>
      <p:sp>
        <p:nvSpPr>
          <p:cNvPr id="11" name="矩形 10"/>
          <p:cNvSpPr/>
          <p:nvPr/>
        </p:nvSpPr>
        <p:spPr>
          <a:xfrm>
            <a:off x="306203" y="2935538"/>
            <a:ext cx="1773242" cy="307777"/>
          </a:xfrm>
          <a:prstGeom prst="rect">
            <a:avLst/>
          </a:prstGeom>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Calibri"/>
                <a:cs typeface="Arial"/>
              </a:rPr>
              <a:t>“</a:t>
            </a:r>
            <a:r>
              <a:rPr kumimoji="0" lang="en-US" altLang="zh-CN" sz="1400" b="0" i="0" u="none" strike="noStrike" kern="0" cap="none" spc="0" normalizeH="0" baseline="0" noProof="0" dirty="0">
                <a:ln>
                  <a:noFill/>
                </a:ln>
                <a:solidFill>
                  <a:prstClr val="black"/>
                </a:solidFill>
                <a:effectLst/>
                <a:uLnTx/>
                <a:uFillTx/>
                <a:latin typeface="Calibri"/>
                <a:cs typeface="Arial"/>
              </a:rPr>
              <a:t>Personal Butler</a:t>
            </a:r>
            <a:r>
              <a:rPr kumimoji="0" lang="zh-CN" altLang="en-US" sz="1400" b="0" i="0" u="none" strike="noStrike" kern="0" cap="none" spc="0" normalizeH="0" baseline="0" noProof="0" dirty="0">
                <a:ln>
                  <a:noFill/>
                </a:ln>
                <a:solidFill>
                  <a:prstClr val="black"/>
                </a:solidFill>
                <a:effectLst/>
                <a:uLnTx/>
                <a:uFillTx/>
                <a:latin typeface="Calibri"/>
                <a:cs typeface="Arial"/>
              </a:rPr>
              <a:t>”</a:t>
            </a:r>
            <a:r>
              <a:rPr kumimoji="0" lang="en-US" altLang="zh-CN" sz="1400" b="0" i="0" u="none" strike="noStrike" kern="0" cap="none" spc="0" normalizeH="0" baseline="0" noProof="0" dirty="0">
                <a:ln>
                  <a:noFill/>
                </a:ln>
                <a:solidFill>
                  <a:prstClr val="black"/>
                </a:solidFill>
                <a:effectLst/>
                <a:uLnTx/>
                <a:uFillTx/>
                <a:latin typeface="Calibri"/>
                <a:cs typeface="Arial"/>
              </a:rPr>
              <a:t> App</a:t>
            </a:r>
            <a:endParaRPr kumimoji="0" lang="zh-CN" altLang="en-US" sz="1400" b="0" i="0" u="none" strike="noStrike" kern="0" cap="none" spc="0" normalizeH="0" baseline="0" noProof="0" dirty="0">
              <a:ln>
                <a:noFill/>
              </a:ln>
              <a:solidFill>
                <a:prstClr val="black"/>
              </a:solidFill>
              <a:effectLst/>
              <a:uLnTx/>
              <a:uFillTx/>
              <a:latin typeface="Calibri"/>
              <a:cs typeface="Arial"/>
            </a:endParaRPr>
          </a:p>
        </p:txBody>
      </p:sp>
      <p:sp>
        <p:nvSpPr>
          <p:cNvPr id="12" name="矩形 11"/>
          <p:cNvSpPr/>
          <p:nvPr/>
        </p:nvSpPr>
        <p:spPr>
          <a:xfrm>
            <a:off x="2915816" y="3592887"/>
            <a:ext cx="5983816" cy="894732"/>
          </a:xfrm>
          <a:prstGeom prst="rect">
            <a:avLst/>
          </a:prstGeom>
          <a:noFill/>
        </p:spPr>
        <p:txBody>
          <a:bodyPr wrap="square" rtlCol="0">
            <a:spAutoFit/>
          </a:bodyPr>
          <a:lstStyle/>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200" b="0" i="0" u="none" strike="noStrike" kern="0" cap="none" spc="0" normalizeH="0" baseline="0" noProof="0" dirty="0">
                <a:ln>
                  <a:noFill/>
                </a:ln>
                <a:solidFill>
                  <a:prstClr val="black"/>
                </a:solidFill>
                <a:effectLst/>
                <a:uLnTx/>
                <a:uFillTx/>
                <a:latin typeface="Calibri"/>
                <a:cs typeface="Arial"/>
              </a:rPr>
              <a:t>On the app, intelligent recognition processes bills from text commands</a:t>
            </a: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200" b="0" i="0" u="none" strike="noStrike" kern="0" cap="none" spc="0" normalizeH="0" baseline="0" noProof="0" dirty="0">
                <a:ln>
                  <a:noFill/>
                </a:ln>
                <a:solidFill>
                  <a:prstClr val="black"/>
                </a:solidFill>
                <a:effectLst/>
                <a:uLnTx/>
                <a:uFillTx/>
                <a:latin typeface="Calibri"/>
                <a:cs typeface="Arial"/>
              </a:rPr>
              <a:t>supporting instant inquiry and payment for water, electricity, coal (heating), and gas fees. </a:t>
            </a:r>
          </a:p>
          <a:p>
            <a:pPr marL="285750" marR="0" lvl="0" indent="-285750" algn="l"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200" b="0" i="0" u="none" strike="noStrike" kern="0" cap="none" spc="0" normalizeH="0" baseline="0" noProof="0" dirty="0">
                <a:ln>
                  <a:noFill/>
                </a:ln>
                <a:solidFill>
                  <a:prstClr val="black"/>
                </a:solidFill>
                <a:effectLst/>
                <a:uLnTx/>
                <a:uFillTx/>
                <a:latin typeface="Calibri"/>
                <a:cs typeface="Arial"/>
              </a:rPr>
              <a:t>This achieves the goal of "Tap once, and handle all your utility payments effortlessly."</a:t>
            </a:r>
            <a:endParaRPr kumimoji="0" lang="zh-CN" altLang="en-US" sz="1200" b="0" i="0" u="none" strike="noStrike" kern="0" cap="none" spc="0" normalizeH="0" baseline="0" noProof="0" dirty="0">
              <a:ln>
                <a:noFill/>
              </a:ln>
              <a:solidFill>
                <a:prstClr val="black"/>
              </a:solidFill>
              <a:effectLst/>
              <a:uLnTx/>
              <a:uFillTx/>
              <a:latin typeface="Calibri"/>
              <a:cs typeface="Arial"/>
            </a:endParaRPr>
          </a:p>
        </p:txBody>
      </p:sp>
      <p:sp>
        <p:nvSpPr>
          <p:cNvPr id="13" name="对话气泡: 圆角矩形 12"/>
          <p:cNvSpPr/>
          <p:nvPr/>
        </p:nvSpPr>
        <p:spPr>
          <a:xfrm>
            <a:off x="1464820" y="3348524"/>
            <a:ext cx="1378987" cy="1383459"/>
          </a:xfrm>
          <a:prstGeom prst="wedgeRoundRectCallout">
            <a:avLst>
              <a:gd name="adj1" fmla="val -78394"/>
              <a:gd name="adj2" fmla="val -2701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white"/>
                </a:solidFill>
                <a:effectLst/>
                <a:uLnTx/>
                <a:uFillTx/>
                <a:latin typeface="Calibri"/>
                <a:cs typeface="Arial"/>
              </a:rPr>
              <a:t>Please check my utility bills (water, electricity, and gas) for this month.</a:t>
            </a:r>
            <a:endParaRPr kumimoji="0" lang="zh-CN" altLang="en-US" sz="1400" b="0" i="0" u="none" strike="noStrike" kern="0" cap="none" spc="0" normalizeH="0" baseline="0" noProof="0">
              <a:ln>
                <a:noFill/>
              </a:ln>
              <a:solidFill>
                <a:prstClr val="white"/>
              </a:solidFill>
              <a:effectLst/>
              <a:uLnTx/>
              <a:uFillTx/>
              <a:latin typeface="Calibri"/>
              <a:cs typeface="Arial"/>
            </a:endParaRPr>
          </a:p>
        </p:txBody>
      </p:sp>
      <p:sp>
        <p:nvSpPr>
          <p:cNvPr id="2" name="文本框 1"/>
          <p:cNvSpPr txBox="1"/>
          <p:nvPr/>
        </p:nvSpPr>
        <p:spPr>
          <a:xfrm>
            <a:off x="3275965" y="668655"/>
            <a:ext cx="2214880" cy="368300"/>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a:ln>
                  <a:noFill/>
                </a:ln>
                <a:solidFill>
                  <a:prstClr val="black"/>
                </a:solidFill>
                <a:effectLst/>
                <a:uLnTx/>
                <a:uFillTx/>
                <a:latin typeface="Calibri"/>
                <a:cs typeface="Arial"/>
              </a:rPr>
              <a:t>Business service (2B)</a:t>
            </a: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Arial"/>
            </a:endParaRPr>
          </a:p>
        </p:txBody>
      </p:sp>
      <p:sp>
        <p:nvSpPr>
          <p:cNvPr id="3" name="文本框 2"/>
          <p:cNvSpPr txBox="1"/>
          <p:nvPr/>
        </p:nvSpPr>
        <p:spPr>
          <a:xfrm>
            <a:off x="3275330" y="3084195"/>
            <a:ext cx="2189480" cy="368300"/>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a:ln>
                  <a:noFill/>
                </a:ln>
                <a:solidFill>
                  <a:prstClr val="black"/>
                </a:solidFill>
                <a:effectLst/>
                <a:uLnTx/>
                <a:uFillTx/>
                <a:latin typeface="Calibri"/>
                <a:cs typeface="Arial"/>
              </a:rPr>
              <a:t>Personal service (2C )</a:t>
            </a:r>
          </a:p>
        </p:txBody>
      </p:sp>
      <p:pic>
        <p:nvPicPr>
          <p:cNvPr id="16" name="图片 15"/>
          <p:cNvPicPr>
            <a:picLocks noChangeAspect="1"/>
          </p:cNvPicPr>
          <p:nvPr/>
        </p:nvPicPr>
        <p:blipFill>
          <a:blip r:embed="rId4"/>
          <a:srcRect l="5658" t="8983" r="5679" b="9861"/>
          <a:stretch>
            <a:fillRect/>
          </a:stretch>
        </p:blipFill>
        <p:spPr>
          <a:xfrm>
            <a:off x="323215" y="771525"/>
            <a:ext cx="970280" cy="1871345"/>
          </a:xfrm>
          <a:prstGeom prst="rect">
            <a:avLst/>
          </a:prstGeom>
        </p:spPr>
      </p:pic>
      <p:grpSp>
        <p:nvGrpSpPr>
          <p:cNvPr id="219" name="组合 218"/>
          <p:cNvGrpSpPr/>
          <p:nvPr/>
        </p:nvGrpSpPr>
        <p:grpSpPr>
          <a:xfrm>
            <a:off x="2195195" y="1019175"/>
            <a:ext cx="349250" cy="382270"/>
            <a:chOff x="6261100" y="3131766"/>
            <a:chExt cx="684213" cy="776288"/>
          </a:xfrm>
        </p:grpSpPr>
        <p:sp>
          <p:nvSpPr>
            <p:cNvPr id="200" name="Freeform 187"/>
            <p:cNvSpPr>
              <a:spLocks noEditPoints="1"/>
            </p:cNvSpPr>
            <p:nvPr/>
          </p:nvSpPr>
          <p:spPr bwMode="auto">
            <a:xfrm>
              <a:off x="6261100" y="3131766"/>
              <a:ext cx="684213" cy="776288"/>
            </a:xfrm>
            <a:custGeom>
              <a:avLst/>
              <a:gdLst>
                <a:gd name="T0" fmla="*/ 128 w 182"/>
                <a:gd name="T1" fmla="*/ 54 h 204"/>
                <a:gd name="T2" fmla="*/ 93 w 182"/>
                <a:gd name="T3" fmla="*/ 62 h 204"/>
                <a:gd name="T4" fmla="*/ 106 w 182"/>
                <a:gd name="T5" fmla="*/ 67 h 204"/>
                <a:gd name="T6" fmla="*/ 109 w 182"/>
                <a:gd name="T7" fmla="*/ 137 h 204"/>
                <a:gd name="T8" fmla="*/ 122 w 182"/>
                <a:gd name="T9" fmla="*/ 133 h 204"/>
                <a:gd name="T10" fmla="*/ 128 w 182"/>
                <a:gd name="T11" fmla="*/ 70 h 204"/>
                <a:gd name="T12" fmla="*/ 179 w 182"/>
                <a:gd name="T13" fmla="*/ 62 h 204"/>
                <a:gd name="T14" fmla="*/ 145 w 182"/>
                <a:gd name="T15" fmla="*/ 54 h 204"/>
                <a:gd name="T16" fmla="*/ 145 w 182"/>
                <a:gd name="T17" fmla="*/ 70 h 204"/>
                <a:gd name="T18" fmla="*/ 150 w 182"/>
                <a:gd name="T19" fmla="*/ 133 h 204"/>
                <a:gd name="T20" fmla="*/ 163 w 182"/>
                <a:gd name="T21" fmla="*/ 137 h 204"/>
                <a:gd name="T22" fmla="*/ 166 w 182"/>
                <a:gd name="T23" fmla="*/ 67 h 204"/>
                <a:gd name="T24" fmla="*/ 179 w 182"/>
                <a:gd name="T25" fmla="*/ 62 h 204"/>
                <a:gd name="T26" fmla="*/ 169 w 182"/>
                <a:gd name="T27" fmla="*/ 197 h 204"/>
                <a:gd name="T28" fmla="*/ 169 w 182"/>
                <a:gd name="T29" fmla="*/ 191 h 204"/>
                <a:gd name="T30" fmla="*/ 13 w 182"/>
                <a:gd name="T31" fmla="*/ 194 h 204"/>
                <a:gd name="T32" fmla="*/ 17 w 182"/>
                <a:gd name="T33" fmla="*/ 204 h 204"/>
                <a:gd name="T34" fmla="*/ 172 w 182"/>
                <a:gd name="T35" fmla="*/ 202 h 204"/>
                <a:gd name="T36" fmla="*/ 17 w 182"/>
                <a:gd name="T37" fmla="*/ 199 h 204"/>
                <a:gd name="T38" fmla="*/ 17 w 182"/>
                <a:gd name="T39" fmla="*/ 204 h 204"/>
                <a:gd name="T40" fmla="*/ 169 w 182"/>
                <a:gd name="T41" fmla="*/ 150 h 204"/>
                <a:gd name="T42" fmla="*/ 169 w 182"/>
                <a:gd name="T43" fmla="*/ 144 h 204"/>
                <a:gd name="T44" fmla="*/ 13 w 182"/>
                <a:gd name="T45" fmla="*/ 147 h 204"/>
                <a:gd name="T46" fmla="*/ 83 w 182"/>
                <a:gd name="T47" fmla="*/ 70 h 204"/>
                <a:gd name="T48" fmla="*/ 83 w 182"/>
                <a:gd name="T49" fmla="*/ 54 h 204"/>
                <a:gd name="T50" fmla="*/ 48 w 182"/>
                <a:gd name="T51" fmla="*/ 62 h 204"/>
                <a:gd name="T52" fmla="*/ 61 w 182"/>
                <a:gd name="T53" fmla="*/ 67 h 204"/>
                <a:gd name="T54" fmla="*/ 64 w 182"/>
                <a:gd name="T55" fmla="*/ 137 h 204"/>
                <a:gd name="T56" fmla="*/ 77 w 182"/>
                <a:gd name="T57" fmla="*/ 133 h 204"/>
                <a:gd name="T58" fmla="*/ 83 w 182"/>
                <a:gd name="T59" fmla="*/ 70 h 204"/>
                <a:gd name="T60" fmla="*/ 17 w 182"/>
                <a:gd name="T61" fmla="*/ 67 h 204"/>
                <a:gd name="T62" fmla="*/ 21 w 182"/>
                <a:gd name="T63" fmla="*/ 137 h 204"/>
                <a:gd name="T64" fmla="*/ 34 w 182"/>
                <a:gd name="T65" fmla="*/ 133 h 204"/>
                <a:gd name="T66" fmla="*/ 39 w 182"/>
                <a:gd name="T67" fmla="*/ 70 h 204"/>
                <a:gd name="T68" fmla="*/ 39 w 182"/>
                <a:gd name="T69" fmla="*/ 54 h 204"/>
                <a:gd name="T70" fmla="*/ 5 w 182"/>
                <a:gd name="T71" fmla="*/ 62 h 204"/>
                <a:gd name="T72" fmla="*/ 136 w 182"/>
                <a:gd name="T73" fmla="*/ 22 h 204"/>
                <a:gd name="T74" fmla="*/ 45 w 182"/>
                <a:gd name="T75" fmla="*/ 22 h 204"/>
                <a:gd name="T76" fmla="*/ 91 w 182"/>
                <a:gd name="T77" fmla="*/ 44 h 204"/>
                <a:gd name="T78" fmla="*/ 136 w 182"/>
                <a:gd name="T79" fmla="*/ 2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2" h="204">
                  <a:moveTo>
                    <a:pt x="135" y="62"/>
                  </a:moveTo>
                  <a:cubicBezTo>
                    <a:pt x="135" y="57"/>
                    <a:pt x="132" y="54"/>
                    <a:pt x="128" y="54"/>
                  </a:cubicBezTo>
                  <a:cubicBezTo>
                    <a:pt x="100" y="54"/>
                    <a:pt x="100" y="54"/>
                    <a:pt x="100" y="54"/>
                  </a:cubicBezTo>
                  <a:cubicBezTo>
                    <a:pt x="96" y="54"/>
                    <a:pt x="93" y="57"/>
                    <a:pt x="93" y="62"/>
                  </a:cubicBezTo>
                  <a:cubicBezTo>
                    <a:pt x="93" y="66"/>
                    <a:pt x="96" y="70"/>
                    <a:pt x="100" y="70"/>
                  </a:cubicBezTo>
                  <a:cubicBezTo>
                    <a:pt x="102" y="70"/>
                    <a:pt x="104" y="69"/>
                    <a:pt x="106" y="67"/>
                  </a:cubicBezTo>
                  <a:cubicBezTo>
                    <a:pt x="106" y="133"/>
                    <a:pt x="106" y="133"/>
                    <a:pt x="106" y="133"/>
                  </a:cubicBezTo>
                  <a:cubicBezTo>
                    <a:pt x="106" y="135"/>
                    <a:pt x="107" y="137"/>
                    <a:pt x="109" y="137"/>
                  </a:cubicBezTo>
                  <a:cubicBezTo>
                    <a:pt x="118" y="137"/>
                    <a:pt x="118" y="137"/>
                    <a:pt x="118" y="137"/>
                  </a:cubicBezTo>
                  <a:cubicBezTo>
                    <a:pt x="120" y="137"/>
                    <a:pt x="122" y="135"/>
                    <a:pt x="122" y="133"/>
                  </a:cubicBezTo>
                  <a:cubicBezTo>
                    <a:pt x="122" y="67"/>
                    <a:pt x="122" y="67"/>
                    <a:pt x="122" y="67"/>
                  </a:cubicBezTo>
                  <a:cubicBezTo>
                    <a:pt x="123" y="69"/>
                    <a:pt x="126" y="70"/>
                    <a:pt x="128" y="70"/>
                  </a:cubicBezTo>
                  <a:cubicBezTo>
                    <a:pt x="132" y="70"/>
                    <a:pt x="135" y="66"/>
                    <a:pt x="135" y="62"/>
                  </a:cubicBezTo>
                  <a:close/>
                  <a:moveTo>
                    <a:pt x="179" y="62"/>
                  </a:moveTo>
                  <a:cubicBezTo>
                    <a:pt x="179" y="57"/>
                    <a:pt x="176" y="54"/>
                    <a:pt x="172" y="54"/>
                  </a:cubicBezTo>
                  <a:cubicBezTo>
                    <a:pt x="145" y="54"/>
                    <a:pt x="145" y="54"/>
                    <a:pt x="145" y="54"/>
                  </a:cubicBezTo>
                  <a:cubicBezTo>
                    <a:pt x="141" y="54"/>
                    <a:pt x="137" y="57"/>
                    <a:pt x="137" y="62"/>
                  </a:cubicBezTo>
                  <a:cubicBezTo>
                    <a:pt x="137" y="66"/>
                    <a:pt x="141" y="70"/>
                    <a:pt x="145" y="70"/>
                  </a:cubicBezTo>
                  <a:cubicBezTo>
                    <a:pt x="147" y="70"/>
                    <a:pt x="149" y="69"/>
                    <a:pt x="150" y="67"/>
                  </a:cubicBezTo>
                  <a:cubicBezTo>
                    <a:pt x="150" y="133"/>
                    <a:pt x="150" y="133"/>
                    <a:pt x="150" y="133"/>
                  </a:cubicBezTo>
                  <a:cubicBezTo>
                    <a:pt x="150" y="135"/>
                    <a:pt x="152" y="137"/>
                    <a:pt x="153" y="137"/>
                  </a:cubicBezTo>
                  <a:cubicBezTo>
                    <a:pt x="163" y="137"/>
                    <a:pt x="163" y="137"/>
                    <a:pt x="163" y="137"/>
                  </a:cubicBezTo>
                  <a:cubicBezTo>
                    <a:pt x="165" y="137"/>
                    <a:pt x="166" y="135"/>
                    <a:pt x="166" y="133"/>
                  </a:cubicBezTo>
                  <a:cubicBezTo>
                    <a:pt x="166" y="67"/>
                    <a:pt x="166" y="67"/>
                    <a:pt x="166" y="67"/>
                  </a:cubicBezTo>
                  <a:cubicBezTo>
                    <a:pt x="167" y="69"/>
                    <a:pt x="170" y="70"/>
                    <a:pt x="172" y="70"/>
                  </a:cubicBezTo>
                  <a:cubicBezTo>
                    <a:pt x="176" y="70"/>
                    <a:pt x="179" y="66"/>
                    <a:pt x="179" y="62"/>
                  </a:cubicBezTo>
                  <a:close/>
                  <a:moveTo>
                    <a:pt x="17" y="197"/>
                  </a:moveTo>
                  <a:cubicBezTo>
                    <a:pt x="169" y="197"/>
                    <a:pt x="169" y="197"/>
                    <a:pt x="169" y="197"/>
                  </a:cubicBezTo>
                  <a:cubicBezTo>
                    <a:pt x="171" y="197"/>
                    <a:pt x="172" y="196"/>
                    <a:pt x="172" y="194"/>
                  </a:cubicBezTo>
                  <a:cubicBezTo>
                    <a:pt x="172" y="193"/>
                    <a:pt x="171" y="191"/>
                    <a:pt x="169" y="191"/>
                  </a:cubicBezTo>
                  <a:cubicBezTo>
                    <a:pt x="17" y="191"/>
                    <a:pt x="17" y="191"/>
                    <a:pt x="17" y="191"/>
                  </a:cubicBezTo>
                  <a:cubicBezTo>
                    <a:pt x="15" y="191"/>
                    <a:pt x="13" y="193"/>
                    <a:pt x="13" y="194"/>
                  </a:cubicBezTo>
                  <a:cubicBezTo>
                    <a:pt x="13" y="196"/>
                    <a:pt x="15" y="197"/>
                    <a:pt x="17" y="197"/>
                  </a:cubicBezTo>
                  <a:close/>
                  <a:moveTo>
                    <a:pt x="17" y="204"/>
                  </a:moveTo>
                  <a:cubicBezTo>
                    <a:pt x="169" y="204"/>
                    <a:pt x="169" y="204"/>
                    <a:pt x="169" y="204"/>
                  </a:cubicBezTo>
                  <a:cubicBezTo>
                    <a:pt x="171" y="204"/>
                    <a:pt x="172" y="203"/>
                    <a:pt x="172" y="202"/>
                  </a:cubicBezTo>
                  <a:cubicBezTo>
                    <a:pt x="172" y="200"/>
                    <a:pt x="171" y="199"/>
                    <a:pt x="169" y="199"/>
                  </a:cubicBezTo>
                  <a:cubicBezTo>
                    <a:pt x="17" y="199"/>
                    <a:pt x="17" y="199"/>
                    <a:pt x="17" y="199"/>
                  </a:cubicBezTo>
                  <a:cubicBezTo>
                    <a:pt x="15" y="199"/>
                    <a:pt x="13" y="200"/>
                    <a:pt x="13" y="202"/>
                  </a:cubicBezTo>
                  <a:cubicBezTo>
                    <a:pt x="13" y="203"/>
                    <a:pt x="15" y="204"/>
                    <a:pt x="17" y="204"/>
                  </a:cubicBezTo>
                  <a:close/>
                  <a:moveTo>
                    <a:pt x="17" y="150"/>
                  </a:moveTo>
                  <a:cubicBezTo>
                    <a:pt x="169" y="150"/>
                    <a:pt x="169" y="150"/>
                    <a:pt x="169" y="150"/>
                  </a:cubicBezTo>
                  <a:cubicBezTo>
                    <a:pt x="171" y="150"/>
                    <a:pt x="172" y="149"/>
                    <a:pt x="172" y="147"/>
                  </a:cubicBezTo>
                  <a:cubicBezTo>
                    <a:pt x="172" y="146"/>
                    <a:pt x="171" y="144"/>
                    <a:pt x="169" y="144"/>
                  </a:cubicBezTo>
                  <a:cubicBezTo>
                    <a:pt x="17" y="144"/>
                    <a:pt x="17" y="144"/>
                    <a:pt x="17" y="144"/>
                  </a:cubicBezTo>
                  <a:cubicBezTo>
                    <a:pt x="15" y="144"/>
                    <a:pt x="13" y="146"/>
                    <a:pt x="13" y="147"/>
                  </a:cubicBezTo>
                  <a:cubicBezTo>
                    <a:pt x="13" y="149"/>
                    <a:pt x="15" y="150"/>
                    <a:pt x="17" y="150"/>
                  </a:cubicBezTo>
                  <a:close/>
                  <a:moveTo>
                    <a:pt x="83" y="70"/>
                  </a:moveTo>
                  <a:cubicBezTo>
                    <a:pt x="87" y="70"/>
                    <a:pt x="90" y="66"/>
                    <a:pt x="90" y="62"/>
                  </a:cubicBezTo>
                  <a:cubicBezTo>
                    <a:pt x="90" y="57"/>
                    <a:pt x="87" y="54"/>
                    <a:pt x="83" y="54"/>
                  </a:cubicBezTo>
                  <a:cubicBezTo>
                    <a:pt x="55" y="54"/>
                    <a:pt x="55" y="54"/>
                    <a:pt x="55" y="54"/>
                  </a:cubicBezTo>
                  <a:cubicBezTo>
                    <a:pt x="51" y="54"/>
                    <a:pt x="48" y="57"/>
                    <a:pt x="48" y="62"/>
                  </a:cubicBezTo>
                  <a:cubicBezTo>
                    <a:pt x="48" y="66"/>
                    <a:pt x="51" y="70"/>
                    <a:pt x="55" y="70"/>
                  </a:cubicBezTo>
                  <a:cubicBezTo>
                    <a:pt x="57" y="70"/>
                    <a:pt x="59" y="69"/>
                    <a:pt x="61" y="67"/>
                  </a:cubicBezTo>
                  <a:cubicBezTo>
                    <a:pt x="61" y="133"/>
                    <a:pt x="61" y="133"/>
                    <a:pt x="61" y="133"/>
                  </a:cubicBezTo>
                  <a:cubicBezTo>
                    <a:pt x="61" y="135"/>
                    <a:pt x="62" y="137"/>
                    <a:pt x="64" y="137"/>
                  </a:cubicBezTo>
                  <a:cubicBezTo>
                    <a:pt x="74" y="137"/>
                    <a:pt x="74" y="137"/>
                    <a:pt x="74" y="137"/>
                  </a:cubicBezTo>
                  <a:cubicBezTo>
                    <a:pt x="76" y="137"/>
                    <a:pt x="77" y="135"/>
                    <a:pt x="77" y="133"/>
                  </a:cubicBezTo>
                  <a:cubicBezTo>
                    <a:pt x="77" y="67"/>
                    <a:pt x="77" y="67"/>
                    <a:pt x="77" y="67"/>
                  </a:cubicBezTo>
                  <a:cubicBezTo>
                    <a:pt x="79" y="69"/>
                    <a:pt x="80" y="70"/>
                    <a:pt x="83" y="70"/>
                  </a:cubicBezTo>
                  <a:close/>
                  <a:moveTo>
                    <a:pt x="12" y="70"/>
                  </a:moveTo>
                  <a:cubicBezTo>
                    <a:pt x="14" y="70"/>
                    <a:pt x="16" y="69"/>
                    <a:pt x="17" y="67"/>
                  </a:cubicBezTo>
                  <a:cubicBezTo>
                    <a:pt x="17" y="133"/>
                    <a:pt x="17" y="133"/>
                    <a:pt x="17" y="133"/>
                  </a:cubicBezTo>
                  <a:cubicBezTo>
                    <a:pt x="17" y="135"/>
                    <a:pt x="19" y="137"/>
                    <a:pt x="21" y="137"/>
                  </a:cubicBezTo>
                  <a:cubicBezTo>
                    <a:pt x="31" y="137"/>
                    <a:pt x="31" y="137"/>
                    <a:pt x="31" y="137"/>
                  </a:cubicBezTo>
                  <a:cubicBezTo>
                    <a:pt x="32" y="137"/>
                    <a:pt x="34" y="135"/>
                    <a:pt x="34" y="133"/>
                  </a:cubicBezTo>
                  <a:cubicBezTo>
                    <a:pt x="34" y="67"/>
                    <a:pt x="34" y="67"/>
                    <a:pt x="34" y="67"/>
                  </a:cubicBezTo>
                  <a:cubicBezTo>
                    <a:pt x="35" y="69"/>
                    <a:pt x="37" y="70"/>
                    <a:pt x="39" y="70"/>
                  </a:cubicBezTo>
                  <a:cubicBezTo>
                    <a:pt x="43" y="70"/>
                    <a:pt x="47" y="66"/>
                    <a:pt x="47" y="62"/>
                  </a:cubicBezTo>
                  <a:cubicBezTo>
                    <a:pt x="47" y="57"/>
                    <a:pt x="43" y="54"/>
                    <a:pt x="39" y="54"/>
                  </a:cubicBezTo>
                  <a:cubicBezTo>
                    <a:pt x="12" y="54"/>
                    <a:pt x="12" y="54"/>
                    <a:pt x="12" y="54"/>
                  </a:cubicBezTo>
                  <a:cubicBezTo>
                    <a:pt x="8" y="54"/>
                    <a:pt x="5" y="57"/>
                    <a:pt x="5" y="62"/>
                  </a:cubicBezTo>
                  <a:cubicBezTo>
                    <a:pt x="5" y="66"/>
                    <a:pt x="8" y="70"/>
                    <a:pt x="12" y="70"/>
                  </a:cubicBezTo>
                  <a:close/>
                  <a:moveTo>
                    <a:pt x="136" y="22"/>
                  </a:moveTo>
                  <a:cubicBezTo>
                    <a:pt x="91" y="0"/>
                    <a:pt x="91" y="0"/>
                    <a:pt x="91" y="0"/>
                  </a:cubicBezTo>
                  <a:cubicBezTo>
                    <a:pt x="45" y="22"/>
                    <a:pt x="45" y="22"/>
                    <a:pt x="45" y="22"/>
                  </a:cubicBezTo>
                  <a:cubicBezTo>
                    <a:pt x="0" y="44"/>
                    <a:pt x="0" y="44"/>
                    <a:pt x="0" y="44"/>
                  </a:cubicBezTo>
                  <a:cubicBezTo>
                    <a:pt x="91" y="44"/>
                    <a:pt x="91" y="44"/>
                    <a:pt x="91" y="44"/>
                  </a:cubicBezTo>
                  <a:cubicBezTo>
                    <a:pt x="182" y="44"/>
                    <a:pt x="182" y="44"/>
                    <a:pt x="182" y="44"/>
                  </a:cubicBezTo>
                  <a:lnTo>
                    <a:pt x="136" y="22"/>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01" name="Freeform 188"/>
            <p:cNvSpPr>
              <a:spLocks noEditPoints="1"/>
            </p:cNvSpPr>
            <p:nvPr/>
          </p:nvSpPr>
          <p:spPr bwMode="auto">
            <a:xfrm>
              <a:off x="6332538" y="3730254"/>
              <a:ext cx="120650" cy="109538"/>
            </a:xfrm>
            <a:custGeom>
              <a:avLst/>
              <a:gdLst>
                <a:gd name="T0" fmla="*/ 0 w 32"/>
                <a:gd name="T1" fmla="*/ 0 h 29"/>
                <a:gd name="T2" fmla="*/ 20 w 32"/>
                <a:gd name="T3" fmla="*/ 0 h 29"/>
                <a:gd name="T4" fmla="*/ 28 w 32"/>
                <a:gd name="T5" fmla="*/ 2 h 29"/>
                <a:gd name="T6" fmla="*/ 30 w 32"/>
                <a:gd name="T7" fmla="*/ 8 h 29"/>
                <a:gd name="T8" fmla="*/ 28 w 32"/>
                <a:gd name="T9" fmla="*/ 12 h 29"/>
                <a:gd name="T10" fmla="*/ 25 w 32"/>
                <a:gd name="T11" fmla="*/ 14 h 29"/>
                <a:gd name="T12" fmla="*/ 30 w 32"/>
                <a:gd name="T13" fmla="*/ 16 h 29"/>
                <a:gd name="T14" fmla="*/ 32 w 32"/>
                <a:gd name="T15" fmla="*/ 21 h 29"/>
                <a:gd name="T16" fmla="*/ 31 w 32"/>
                <a:gd name="T17" fmla="*/ 25 h 29"/>
                <a:gd name="T18" fmla="*/ 27 w 32"/>
                <a:gd name="T19" fmla="*/ 28 h 29"/>
                <a:gd name="T20" fmla="*/ 23 w 32"/>
                <a:gd name="T21" fmla="*/ 29 h 29"/>
                <a:gd name="T22" fmla="*/ 18 w 32"/>
                <a:gd name="T23" fmla="*/ 29 h 29"/>
                <a:gd name="T24" fmla="*/ 0 w 32"/>
                <a:gd name="T25" fmla="*/ 29 h 29"/>
                <a:gd name="T26" fmla="*/ 0 w 32"/>
                <a:gd name="T27" fmla="*/ 0 h 29"/>
                <a:gd name="T28" fmla="*/ 11 w 32"/>
                <a:gd name="T29" fmla="*/ 12 h 29"/>
                <a:gd name="T30" fmla="*/ 15 w 32"/>
                <a:gd name="T31" fmla="*/ 12 h 29"/>
                <a:gd name="T32" fmla="*/ 19 w 32"/>
                <a:gd name="T33" fmla="*/ 11 h 29"/>
                <a:gd name="T34" fmla="*/ 20 w 32"/>
                <a:gd name="T35" fmla="*/ 9 h 29"/>
                <a:gd name="T36" fmla="*/ 19 w 32"/>
                <a:gd name="T37" fmla="*/ 7 h 29"/>
                <a:gd name="T38" fmla="*/ 15 w 32"/>
                <a:gd name="T39" fmla="*/ 6 h 29"/>
                <a:gd name="T40" fmla="*/ 11 w 32"/>
                <a:gd name="T41" fmla="*/ 6 h 29"/>
                <a:gd name="T42" fmla="*/ 11 w 32"/>
                <a:gd name="T43" fmla="*/ 12 h 29"/>
                <a:gd name="T44" fmla="*/ 11 w 32"/>
                <a:gd name="T45" fmla="*/ 23 h 29"/>
                <a:gd name="T46" fmla="*/ 16 w 32"/>
                <a:gd name="T47" fmla="*/ 23 h 29"/>
                <a:gd name="T48" fmla="*/ 20 w 32"/>
                <a:gd name="T49" fmla="*/ 22 h 29"/>
                <a:gd name="T50" fmla="*/ 21 w 32"/>
                <a:gd name="T51" fmla="*/ 20 h 29"/>
                <a:gd name="T52" fmla="*/ 20 w 32"/>
                <a:gd name="T53" fmla="*/ 18 h 29"/>
                <a:gd name="T54" fmla="*/ 16 w 32"/>
                <a:gd name="T55" fmla="*/ 17 h 29"/>
                <a:gd name="T56" fmla="*/ 11 w 32"/>
                <a:gd name="T57" fmla="*/ 17 h 29"/>
                <a:gd name="T58" fmla="*/ 11 w 32"/>
                <a:gd name="T59"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29">
                  <a:moveTo>
                    <a:pt x="0" y="0"/>
                  </a:moveTo>
                  <a:cubicBezTo>
                    <a:pt x="20" y="0"/>
                    <a:pt x="20" y="0"/>
                    <a:pt x="20" y="0"/>
                  </a:cubicBezTo>
                  <a:cubicBezTo>
                    <a:pt x="23" y="0"/>
                    <a:pt x="26" y="1"/>
                    <a:pt x="28" y="2"/>
                  </a:cubicBezTo>
                  <a:cubicBezTo>
                    <a:pt x="29" y="4"/>
                    <a:pt x="30" y="5"/>
                    <a:pt x="30" y="8"/>
                  </a:cubicBezTo>
                  <a:cubicBezTo>
                    <a:pt x="30" y="9"/>
                    <a:pt x="30" y="11"/>
                    <a:pt x="28" y="12"/>
                  </a:cubicBezTo>
                  <a:cubicBezTo>
                    <a:pt x="27" y="13"/>
                    <a:pt x="26" y="13"/>
                    <a:pt x="25" y="14"/>
                  </a:cubicBezTo>
                  <a:cubicBezTo>
                    <a:pt x="27" y="14"/>
                    <a:pt x="29" y="15"/>
                    <a:pt x="30" y="16"/>
                  </a:cubicBezTo>
                  <a:cubicBezTo>
                    <a:pt x="31" y="18"/>
                    <a:pt x="32" y="19"/>
                    <a:pt x="32" y="21"/>
                  </a:cubicBezTo>
                  <a:cubicBezTo>
                    <a:pt x="32" y="23"/>
                    <a:pt x="31" y="24"/>
                    <a:pt x="31" y="25"/>
                  </a:cubicBezTo>
                  <a:cubicBezTo>
                    <a:pt x="30" y="26"/>
                    <a:pt x="29" y="27"/>
                    <a:pt x="27" y="28"/>
                  </a:cubicBezTo>
                  <a:cubicBezTo>
                    <a:pt x="26" y="28"/>
                    <a:pt x="25" y="29"/>
                    <a:pt x="23" y="29"/>
                  </a:cubicBezTo>
                  <a:cubicBezTo>
                    <a:pt x="21" y="29"/>
                    <a:pt x="19" y="29"/>
                    <a:pt x="18" y="29"/>
                  </a:cubicBezTo>
                  <a:cubicBezTo>
                    <a:pt x="0" y="29"/>
                    <a:pt x="0" y="29"/>
                    <a:pt x="0" y="29"/>
                  </a:cubicBezTo>
                  <a:lnTo>
                    <a:pt x="0" y="0"/>
                  </a:lnTo>
                  <a:close/>
                  <a:moveTo>
                    <a:pt x="11" y="12"/>
                  </a:moveTo>
                  <a:cubicBezTo>
                    <a:pt x="15" y="12"/>
                    <a:pt x="15" y="12"/>
                    <a:pt x="15" y="12"/>
                  </a:cubicBezTo>
                  <a:cubicBezTo>
                    <a:pt x="17" y="12"/>
                    <a:pt x="18" y="11"/>
                    <a:pt x="19" y="11"/>
                  </a:cubicBezTo>
                  <a:cubicBezTo>
                    <a:pt x="19" y="10"/>
                    <a:pt x="20" y="10"/>
                    <a:pt x="20" y="9"/>
                  </a:cubicBezTo>
                  <a:cubicBezTo>
                    <a:pt x="20" y="8"/>
                    <a:pt x="19" y="7"/>
                    <a:pt x="19" y="7"/>
                  </a:cubicBezTo>
                  <a:cubicBezTo>
                    <a:pt x="18" y="6"/>
                    <a:pt x="17" y="6"/>
                    <a:pt x="15" y="6"/>
                  </a:cubicBezTo>
                  <a:cubicBezTo>
                    <a:pt x="11" y="6"/>
                    <a:pt x="11" y="6"/>
                    <a:pt x="11" y="6"/>
                  </a:cubicBezTo>
                  <a:lnTo>
                    <a:pt x="11" y="12"/>
                  </a:lnTo>
                  <a:close/>
                  <a:moveTo>
                    <a:pt x="11" y="23"/>
                  </a:moveTo>
                  <a:cubicBezTo>
                    <a:pt x="16" y="23"/>
                    <a:pt x="16" y="23"/>
                    <a:pt x="16" y="23"/>
                  </a:cubicBezTo>
                  <a:cubicBezTo>
                    <a:pt x="18" y="23"/>
                    <a:pt x="19" y="23"/>
                    <a:pt x="20" y="22"/>
                  </a:cubicBezTo>
                  <a:cubicBezTo>
                    <a:pt x="21" y="22"/>
                    <a:pt x="21" y="21"/>
                    <a:pt x="21" y="20"/>
                  </a:cubicBezTo>
                  <a:cubicBezTo>
                    <a:pt x="21" y="19"/>
                    <a:pt x="21" y="19"/>
                    <a:pt x="20" y="18"/>
                  </a:cubicBezTo>
                  <a:cubicBezTo>
                    <a:pt x="19" y="17"/>
                    <a:pt x="18" y="17"/>
                    <a:pt x="16" y="17"/>
                  </a:cubicBezTo>
                  <a:cubicBezTo>
                    <a:pt x="11" y="17"/>
                    <a:pt x="11" y="17"/>
                    <a:pt x="11" y="17"/>
                  </a:cubicBezTo>
                  <a:lnTo>
                    <a:pt x="11" y="23"/>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02" name="Freeform 189"/>
            <p:cNvSpPr>
              <a:spLocks noEditPoints="1"/>
            </p:cNvSpPr>
            <p:nvPr/>
          </p:nvSpPr>
          <p:spPr bwMode="auto">
            <a:xfrm>
              <a:off x="6456363" y="3730254"/>
              <a:ext cx="142875" cy="109538"/>
            </a:xfrm>
            <a:custGeom>
              <a:avLst/>
              <a:gdLst>
                <a:gd name="T0" fmla="*/ 59 w 90"/>
                <a:gd name="T1" fmla="*/ 60 h 69"/>
                <a:gd name="T2" fmla="*/ 31 w 90"/>
                <a:gd name="T3" fmla="*/ 60 h 69"/>
                <a:gd name="T4" fmla="*/ 26 w 90"/>
                <a:gd name="T5" fmla="*/ 69 h 69"/>
                <a:gd name="T6" fmla="*/ 0 w 90"/>
                <a:gd name="T7" fmla="*/ 69 h 69"/>
                <a:gd name="T8" fmla="*/ 31 w 90"/>
                <a:gd name="T9" fmla="*/ 0 h 69"/>
                <a:gd name="T10" fmla="*/ 59 w 90"/>
                <a:gd name="T11" fmla="*/ 0 h 69"/>
                <a:gd name="T12" fmla="*/ 90 w 90"/>
                <a:gd name="T13" fmla="*/ 69 h 69"/>
                <a:gd name="T14" fmla="*/ 64 w 90"/>
                <a:gd name="T15" fmla="*/ 69 h 69"/>
                <a:gd name="T16" fmla="*/ 59 w 90"/>
                <a:gd name="T17" fmla="*/ 60 h 69"/>
                <a:gd name="T18" fmla="*/ 54 w 90"/>
                <a:gd name="T19" fmla="*/ 43 h 69"/>
                <a:gd name="T20" fmla="*/ 45 w 90"/>
                <a:gd name="T21" fmla="*/ 19 h 69"/>
                <a:gd name="T22" fmla="*/ 35 w 90"/>
                <a:gd name="T23" fmla="*/ 43 h 69"/>
                <a:gd name="T24" fmla="*/ 54 w 90"/>
                <a:gd name="T25" fmla="*/ 4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69">
                  <a:moveTo>
                    <a:pt x="59" y="60"/>
                  </a:moveTo>
                  <a:lnTo>
                    <a:pt x="31" y="60"/>
                  </a:lnTo>
                  <a:lnTo>
                    <a:pt x="26" y="69"/>
                  </a:lnTo>
                  <a:lnTo>
                    <a:pt x="0" y="69"/>
                  </a:lnTo>
                  <a:lnTo>
                    <a:pt x="31" y="0"/>
                  </a:lnTo>
                  <a:lnTo>
                    <a:pt x="59" y="0"/>
                  </a:lnTo>
                  <a:lnTo>
                    <a:pt x="90" y="69"/>
                  </a:lnTo>
                  <a:lnTo>
                    <a:pt x="64" y="69"/>
                  </a:lnTo>
                  <a:lnTo>
                    <a:pt x="59" y="60"/>
                  </a:lnTo>
                  <a:close/>
                  <a:moveTo>
                    <a:pt x="54" y="43"/>
                  </a:moveTo>
                  <a:lnTo>
                    <a:pt x="45" y="19"/>
                  </a:lnTo>
                  <a:lnTo>
                    <a:pt x="35" y="43"/>
                  </a:lnTo>
                  <a:lnTo>
                    <a:pt x="54" y="43"/>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03" name="Freeform 190"/>
            <p:cNvSpPr/>
            <p:nvPr/>
          </p:nvSpPr>
          <p:spPr bwMode="auto">
            <a:xfrm>
              <a:off x="6610350" y="3730254"/>
              <a:ext cx="123825" cy="109538"/>
            </a:xfrm>
            <a:custGeom>
              <a:avLst/>
              <a:gdLst>
                <a:gd name="T0" fmla="*/ 0 w 78"/>
                <a:gd name="T1" fmla="*/ 0 h 69"/>
                <a:gd name="T2" fmla="*/ 24 w 78"/>
                <a:gd name="T3" fmla="*/ 0 h 69"/>
                <a:gd name="T4" fmla="*/ 55 w 78"/>
                <a:gd name="T5" fmla="*/ 38 h 69"/>
                <a:gd name="T6" fmla="*/ 55 w 78"/>
                <a:gd name="T7" fmla="*/ 0 h 69"/>
                <a:gd name="T8" fmla="*/ 78 w 78"/>
                <a:gd name="T9" fmla="*/ 0 h 69"/>
                <a:gd name="T10" fmla="*/ 78 w 78"/>
                <a:gd name="T11" fmla="*/ 69 h 69"/>
                <a:gd name="T12" fmla="*/ 55 w 78"/>
                <a:gd name="T13" fmla="*/ 69 h 69"/>
                <a:gd name="T14" fmla="*/ 24 w 78"/>
                <a:gd name="T15" fmla="*/ 31 h 69"/>
                <a:gd name="T16" fmla="*/ 24 w 78"/>
                <a:gd name="T17" fmla="*/ 69 h 69"/>
                <a:gd name="T18" fmla="*/ 0 w 78"/>
                <a:gd name="T19" fmla="*/ 69 h 69"/>
                <a:gd name="T20" fmla="*/ 0 w 78"/>
                <a:gd name="T21"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69">
                  <a:moveTo>
                    <a:pt x="0" y="0"/>
                  </a:moveTo>
                  <a:lnTo>
                    <a:pt x="24" y="0"/>
                  </a:lnTo>
                  <a:lnTo>
                    <a:pt x="55" y="38"/>
                  </a:lnTo>
                  <a:lnTo>
                    <a:pt x="55" y="0"/>
                  </a:lnTo>
                  <a:lnTo>
                    <a:pt x="78" y="0"/>
                  </a:lnTo>
                  <a:lnTo>
                    <a:pt x="78" y="69"/>
                  </a:lnTo>
                  <a:lnTo>
                    <a:pt x="55" y="69"/>
                  </a:lnTo>
                  <a:lnTo>
                    <a:pt x="24" y="31"/>
                  </a:lnTo>
                  <a:lnTo>
                    <a:pt x="24" y="69"/>
                  </a:lnTo>
                  <a:lnTo>
                    <a:pt x="0" y="69"/>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04" name="Freeform 191"/>
            <p:cNvSpPr/>
            <p:nvPr/>
          </p:nvSpPr>
          <p:spPr bwMode="auto">
            <a:xfrm>
              <a:off x="6761163" y="3730254"/>
              <a:ext cx="139700" cy="109538"/>
            </a:xfrm>
            <a:custGeom>
              <a:avLst/>
              <a:gdLst>
                <a:gd name="T0" fmla="*/ 0 w 88"/>
                <a:gd name="T1" fmla="*/ 0 h 69"/>
                <a:gd name="T2" fmla="*/ 26 w 88"/>
                <a:gd name="T3" fmla="*/ 0 h 69"/>
                <a:gd name="T4" fmla="*/ 26 w 88"/>
                <a:gd name="T5" fmla="*/ 26 h 69"/>
                <a:gd name="T6" fmla="*/ 52 w 88"/>
                <a:gd name="T7" fmla="*/ 0 h 69"/>
                <a:gd name="T8" fmla="*/ 85 w 88"/>
                <a:gd name="T9" fmla="*/ 0 h 69"/>
                <a:gd name="T10" fmla="*/ 57 w 88"/>
                <a:gd name="T11" fmla="*/ 26 h 69"/>
                <a:gd name="T12" fmla="*/ 88 w 88"/>
                <a:gd name="T13" fmla="*/ 69 h 69"/>
                <a:gd name="T14" fmla="*/ 57 w 88"/>
                <a:gd name="T15" fmla="*/ 69 h 69"/>
                <a:gd name="T16" fmla="*/ 38 w 88"/>
                <a:gd name="T17" fmla="*/ 40 h 69"/>
                <a:gd name="T18" fmla="*/ 26 w 88"/>
                <a:gd name="T19" fmla="*/ 52 h 69"/>
                <a:gd name="T20" fmla="*/ 26 w 88"/>
                <a:gd name="T21" fmla="*/ 69 h 69"/>
                <a:gd name="T22" fmla="*/ 0 w 88"/>
                <a:gd name="T23" fmla="*/ 69 h 69"/>
                <a:gd name="T24" fmla="*/ 0 w 88"/>
                <a:gd name="T25"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69">
                  <a:moveTo>
                    <a:pt x="0" y="0"/>
                  </a:moveTo>
                  <a:lnTo>
                    <a:pt x="26" y="0"/>
                  </a:lnTo>
                  <a:lnTo>
                    <a:pt x="26" y="26"/>
                  </a:lnTo>
                  <a:lnTo>
                    <a:pt x="52" y="0"/>
                  </a:lnTo>
                  <a:lnTo>
                    <a:pt x="85" y="0"/>
                  </a:lnTo>
                  <a:lnTo>
                    <a:pt x="57" y="26"/>
                  </a:lnTo>
                  <a:lnTo>
                    <a:pt x="88" y="69"/>
                  </a:lnTo>
                  <a:lnTo>
                    <a:pt x="57" y="69"/>
                  </a:lnTo>
                  <a:lnTo>
                    <a:pt x="38" y="40"/>
                  </a:lnTo>
                  <a:lnTo>
                    <a:pt x="26" y="52"/>
                  </a:lnTo>
                  <a:lnTo>
                    <a:pt x="26" y="69"/>
                  </a:lnTo>
                  <a:lnTo>
                    <a:pt x="0" y="69"/>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grpSp>
      <p:grpSp>
        <p:nvGrpSpPr>
          <p:cNvPr id="17" name="组合 16"/>
          <p:cNvGrpSpPr/>
          <p:nvPr/>
        </p:nvGrpSpPr>
        <p:grpSpPr>
          <a:xfrm>
            <a:off x="2195195" y="1510665"/>
            <a:ext cx="349250" cy="382270"/>
            <a:chOff x="6261100" y="3131766"/>
            <a:chExt cx="684213" cy="776288"/>
          </a:xfrm>
        </p:grpSpPr>
        <p:sp>
          <p:nvSpPr>
            <p:cNvPr id="18" name="Freeform 187"/>
            <p:cNvSpPr>
              <a:spLocks noEditPoints="1"/>
            </p:cNvSpPr>
            <p:nvPr/>
          </p:nvSpPr>
          <p:spPr bwMode="auto">
            <a:xfrm>
              <a:off x="6261100" y="3131766"/>
              <a:ext cx="684213" cy="776288"/>
            </a:xfrm>
            <a:custGeom>
              <a:avLst/>
              <a:gdLst>
                <a:gd name="T0" fmla="*/ 128 w 182"/>
                <a:gd name="T1" fmla="*/ 54 h 204"/>
                <a:gd name="T2" fmla="*/ 93 w 182"/>
                <a:gd name="T3" fmla="*/ 62 h 204"/>
                <a:gd name="T4" fmla="*/ 106 w 182"/>
                <a:gd name="T5" fmla="*/ 67 h 204"/>
                <a:gd name="T6" fmla="*/ 109 w 182"/>
                <a:gd name="T7" fmla="*/ 137 h 204"/>
                <a:gd name="T8" fmla="*/ 122 w 182"/>
                <a:gd name="T9" fmla="*/ 133 h 204"/>
                <a:gd name="T10" fmla="*/ 128 w 182"/>
                <a:gd name="T11" fmla="*/ 70 h 204"/>
                <a:gd name="T12" fmla="*/ 179 w 182"/>
                <a:gd name="T13" fmla="*/ 62 h 204"/>
                <a:gd name="T14" fmla="*/ 145 w 182"/>
                <a:gd name="T15" fmla="*/ 54 h 204"/>
                <a:gd name="T16" fmla="*/ 145 w 182"/>
                <a:gd name="T17" fmla="*/ 70 h 204"/>
                <a:gd name="T18" fmla="*/ 150 w 182"/>
                <a:gd name="T19" fmla="*/ 133 h 204"/>
                <a:gd name="T20" fmla="*/ 163 w 182"/>
                <a:gd name="T21" fmla="*/ 137 h 204"/>
                <a:gd name="T22" fmla="*/ 166 w 182"/>
                <a:gd name="T23" fmla="*/ 67 h 204"/>
                <a:gd name="T24" fmla="*/ 179 w 182"/>
                <a:gd name="T25" fmla="*/ 62 h 204"/>
                <a:gd name="T26" fmla="*/ 169 w 182"/>
                <a:gd name="T27" fmla="*/ 197 h 204"/>
                <a:gd name="T28" fmla="*/ 169 w 182"/>
                <a:gd name="T29" fmla="*/ 191 h 204"/>
                <a:gd name="T30" fmla="*/ 13 w 182"/>
                <a:gd name="T31" fmla="*/ 194 h 204"/>
                <a:gd name="T32" fmla="*/ 17 w 182"/>
                <a:gd name="T33" fmla="*/ 204 h 204"/>
                <a:gd name="T34" fmla="*/ 172 w 182"/>
                <a:gd name="T35" fmla="*/ 202 h 204"/>
                <a:gd name="T36" fmla="*/ 17 w 182"/>
                <a:gd name="T37" fmla="*/ 199 h 204"/>
                <a:gd name="T38" fmla="*/ 17 w 182"/>
                <a:gd name="T39" fmla="*/ 204 h 204"/>
                <a:gd name="T40" fmla="*/ 169 w 182"/>
                <a:gd name="T41" fmla="*/ 150 h 204"/>
                <a:gd name="T42" fmla="*/ 169 w 182"/>
                <a:gd name="T43" fmla="*/ 144 h 204"/>
                <a:gd name="T44" fmla="*/ 13 w 182"/>
                <a:gd name="T45" fmla="*/ 147 h 204"/>
                <a:gd name="T46" fmla="*/ 83 w 182"/>
                <a:gd name="T47" fmla="*/ 70 h 204"/>
                <a:gd name="T48" fmla="*/ 83 w 182"/>
                <a:gd name="T49" fmla="*/ 54 h 204"/>
                <a:gd name="T50" fmla="*/ 48 w 182"/>
                <a:gd name="T51" fmla="*/ 62 h 204"/>
                <a:gd name="T52" fmla="*/ 61 w 182"/>
                <a:gd name="T53" fmla="*/ 67 h 204"/>
                <a:gd name="T54" fmla="*/ 64 w 182"/>
                <a:gd name="T55" fmla="*/ 137 h 204"/>
                <a:gd name="T56" fmla="*/ 77 w 182"/>
                <a:gd name="T57" fmla="*/ 133 h 204"/>
                <a:gd name="T58" fmla="*/ 83 w 182"/>
                <a:gd name="T59" fmla="*/ 70 h 204"/>
                <a:gd name="T60" fmla="*/ 17 w 182"/>
                <a:gd name="T61" fmla="*/ 67 h 204"/>
                <a:gd name="T62" fmla="*/ 21 w 182"/>
                <a:gd name="T63" fmla="*/ 137 h 204"/>
                <a:gd name="T64" fmla="*/ 34 w 182"/>
                <a:gd name="T65" fmla="*/ 133 h 204"/>
                <a:gd name="T66" fmla="*/ 39 w 182"/>
                <a:gd name="T67" fmla="*/ 70 h 204"/>
                <a:gd name="T68" fmla="*/ 39 w 182"/>
                <a:gd name="T69" fmla="*/ 54 h 204"/>
                <a:gd name="T70" fmla="*/ 5 w 182"/>
                <a:gd name="T71" fmla="*/ 62 h 204"/>
                <a:gd name="T72" fmla="*/ 136 w 182"/>
                <a:gd name="T73" fmla="*/ 22 h 204"/>
                <a:gd name="T74" fmla="*/ 45 w 182"/>
                <a:gd name="T75" fmla="*/ 22 h 204"/>
                <a:gd name="T76" fmla="*/ 91 w 182"/>
                <a:gd name="T77" fmla="*/ 44 h 204"/>
                <a:gd name="T78" fmla="*/ 136 w 182"/>
                <a:gd name="T79" fmla="*/ 2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2" h="204">
                  <a:moveTo>
                    <a:pt x="135" y="62"/>
                  </a:moveTo>
                  <a:cubicBezTo>
                    <a:pt x="135" y="57"/>
                    <a:pt x="132" y="54"/>
                    <a:pt x="128" y="54"/>
                  </a:cubicBezTo>
                  <a:cubicBezTo>
                    <a:pt x="100" y="54"/>
                    <a:pt x="100" y="54"/>
                    <a:pt x="100" y="54"/>
                  </a:cubicBezTo>
                  <a:cubicBezTo>
                    <a:pt x="96" y="54"/>
                    <a:pt x="93" y="57"/>
                    <a:pt x="93" y="62"/>
                  </a:cubicBezTo>
                  <a:cubicBezTo>
                    <a:pt x="93" y="66"/>
                    <a:pt x="96" y="70"/>
                    <a:pt x="100" y="70"/>
                  </a:cubicBezTo>
                  <a:cubicBezTo>
                    <a:pt x="102" y="70"/>
                    <a:pt x="104" y="69"/>
                    <a:pt x="106" y="67"/>
                  </a:cubicBezTo>
                  <a:cubicBezTo>
                    <a:pt x="106" y="133"/>
                    <a:pt x="106" y="133"/>
                    <a:pt x="106" y="133"/>
                  </a:cubicBezTo>
                  <a:cubicBezTo>
                    <a:pt x="106" y="135"/>
                    <a:pt x="107" y="137"/>
                    <a:pt x="109" y="137"/>
                  </a:cubicBezTo>
                  <a:cubicBezTo>
                    <a:pt x="118" y="137"/>
                    <a:pt x="118" y="137"/>
                    <a:pt x="118" y="137"/>
                  </a:cubicBezTo>
                  <a:cubicBezTo>
                    <a:pt x="120" y="137"/>
                    <a:pt x="122" y="135"/>
                    <a:pt x="122" y="133"/>
                  </a:cubicBezTo>
                  <a:cubicBezTo>
                    <a:pt x="122" y="67"/>
                    <a:pt x="122" y="67"/>
                    <a:pt x="122" y="67"/>
                  </a:cubicBezTo>
                  <a:cubicBezTo>
                    <a:pt x="123" y="69"/>
                    <a:pt x="126" y="70"/>
                    <a:pt x="128" y="70"/>
                  </a:cubicBezTo>
                  <a:cubicBezTo>
                    <a:pt x="132" y="70"/>
                    <a:pt x="135" y="66"/>
                    <a:pt x="135" y="62"/>
                  </a:cubicBezTo>
                  <a:close/>
                  <a:moveTo>
                    <a:pt x="179" y="62"/>
                  </a:moveTo>
                  <a:cubicBezTo>
                    <a:pt x="179" y="57"/>
                    <a:pt x="176" y="54"/>
                    <a:pt x="172" y="54"/>
                  </a:cubicBezTo>
                  <a:cubicBezTo>
                    <a:pt x="145" y="54"/>
                    <a:pt x="145" y="54"/>
                    <a:pt x="145" y="54"/>
                  </a:cubicBezTo>
                  <a:cubicBezTo>
                    <a:pt x="141" y="54"/>
                    <a:pt x="137" y="57"/>
                    <a:pt x="137" y="62"/>
                  </a:cubicBezTo>
                  <a:cubicBezTo>
                    <a:pt x="137" y="66"/>
                    <a:pt x="141" y="70"/>
                    <a:pt x="145" y="70"/>
                  </a:cubicBezTo>
                  <a:cubicBezTo>
                    <a:pt x="147" y="70"/>
                    <a:pt x="149" y="69"/>
                    <a:pt x="150" y="67"/>
                  </a:cubicBezTo>
                  <a:cubicBezTo>
                    <a:pt x="150" y="133"/>
                    <a:pt x="150" y="133"/>
                    <a:pt x="150" y="133"/>
                  </a:cubicBezTo>
                  <a:cubicBezTo>
                    <a:pt x="150" y="135"/>
                    <a:pt x="152" y="137"/>
                    <a:pt x="153" y="137"/>
                  </a:cubicBezTo>
                  <a:cubicBezTo>
                    <a:pt x="163" y="137"/>
                    <a:pt x="163" y="137"/>
                    <a:pt x="163" y="137"/>
                  </a:cubicBezTo>
                  <a:cubicBezTo>
                    <a:pt x="165" y="137"/>
                    <a:pt x="166" y="135"/>
                    <a:pt x="166" y="133"/>
                  </a:cubicBezTo>
                  <a:cubicBezTo>
                    <a:pt x="166" y="67"/>
                    <a:pt x="166" y="67"/>
                    <a:pt x="166" y="67"/>
                  </a:cubicBezTo>
                  <a:cubicBezTo>
                    <a:pt x="167" y="69"/>
                    <a:pt x="170" y="70"/>
                    <a:pt x="172" y="70"/>
                  </a:cubicBezTo>
                  <a:cubicBezTo>
                    <a:pt x="176" y="70"/>
                    <a:pt x="179" y="66"/>
                    <a:pt x="179" y="62"/>
                  </a:cubicBezTo>
                  <a:close/>
                  <a:moveTo>
                    <a:pt x="17" y="197"/>
                  </a:moveTo>
                  <a:cubicBezTo>
                    <a:pt x="169" y="197"/>
                    <a:pt x="169" y="197"/>
                    <a:pt x="169" y="197"/>
                  </a:cubicBezTo>
                  <a:cubicBezTo>
                    <a:pt x="171" y="197"/>
                    <a:pt x="172" y="196"/>
                    <a:pt x="172" y="194"/>
                  </a:cubicBezTo>
                  <a:cubicBezTo>
                    <a:pt x="172" y="193"/>
                    <a:pt x="171" y="191"/>
                    <a:pt x="169" y="191"/>
                  </a:cubicBezTo>
                  <a:cubicBezTo>
                    <a:pt x="17" y="191"/>
                    <a:pt x="17" y="191"/>
                    <a:pt x="17" y="191"/>
                  </a:cubicBezTo>
                  <a:cubicBezTo>
                    <a:pt x="15" y="191"/>
                    <a:pt x="13" y="193"/>
                    <a:pt x="13" y="194"/>
                  </a:cubicBezTo>
                  <a:cubicBezTo>
                    <a:pt x="13" y="196"/>
                    <a:pt x="15" y="197"/>
                    <a:pt x="17" y="197"/>
                  </a:cubicBezTo>
                  <a:close/>
                  <a:moveTo>
                    <a:pt x="17" y="204"/>
                  </a:moveTo>
                  <a:cubicBezTo>
                    <a:pt x="169" y="204"/>
                    <a:pt x="169" y="204"/>
                    <a:pt x="169" y="204"/>
                  </a:cubicBezTo>
                  <a:cubicBezTo>
                    <a:pt x="171" y="204"/>
                    <a:pt x="172" y="203"/>
                    <a:pt x="172" y="202"/>
                  </a:cubicBezTo>
                  <a:cubicBezTo>
                    <a:pt x="172" y="200"/>
                    <a:pt x="171" y="199"/>
                    <a:pt x="169" y="199"/>
                  </a:cubicBezTo>
                  <a:cubicBezTo>
                    <a:pt x="17" y="199"/>
                    <a:pt x="17" y="199"/>
                    <a:pt x="17" y="199"/>
                  </a:cubicBezTo>
                  <a:cubicBezTo>
                    <a:pt x="15" y="199"/>
                    <a:pt x="13" y="200"/>
                    <a:pt x="13" y="202"/>
                  </a:cubicBezTo>
                  <a:cubicBezTo>
                    <a:pt x="13" y="203"/>
                    <a:pt x="15" y="204"/>
                    <a:pt x="17" y="204"/>
                  </a:cubicBezTo>
                  <a:close/>
                  <a:moveTo>
                    <a:pt x="17" y="150"/>
                  </a:moveTo>
                  <a:cubicBezTo>
                    <a:pt x="169" y="150"/>
                    <a:pt x="169" y="150"/>
                    <a:pt x="169" y="150"/>
                  </a:cubicBezTo>
                  <a:cubicBezTo>
                    <a:pt x="171" y="150"/>
                    <a:pt x="172" y="149"/>
                    <a:pt x="172" y="147"/>
                  </a:cubicBezTo>
                  <a:cubicBezTo>
                    <a:pt x="172" y="146"/>
                    <a:pt x="171" y="144"/>
                    <a:pt x="169" y="144"/>
                  </a:cubicBezTo>
                  <a:cubicBezTo>
                    <a:pt x="17" y="144"/>
                    <a:pt x="17" y="144"/>
                    <a:pt x="17" y="144"/>
                  </a:cubicBezTo>
                  <a:cubicBezTo>
                    <a:pt x="15" y="144"/>
                    <a:pt x="13" y="146"/>
                    <a:pt x="13" y="147"/>
                  </a:cubicBezTo>
                  <a:cubicBezTo>
                    <a:pt x="13" y="149"/>
                    <a:pt x="15" y="150"/>
                    <a:pt x="17" y="150"/>
                  </a:cubicBezTo>
                  <a:close/>
                  <a:moveTo>
                    <a:pt x="83" y="70"/>
                  </a:moveTo>
                  <a:cubicBezTo>
                    <a:pt x="87" y="70"/>
                    <a:pt x="90" y="66"/>
                    <a:pt x="90" y="62"/>
                  </a:cubicBezTo>
                  <a:cubicBezTo>
                    <a:pt x="90" y="57"/>
                    <a:pt x="87" y="54"/>
                    <a:pt x="83" y="54"/>
                  </a:cubicBezTo>
                  <a:cubicBezTo>
                    <a:pt x="55" y="54"/>
                    <a:pt x="55" y="54"/>
                    <a:pt x="55" y="54"/>
                  </a:cubicBezTo>
                  <a:cubicBezTo>
                    <a:pt x="51" y="54"/>
                    <a:pt x="48" y="57"/>
                    <a:pt x="48" y="62"/>
                  </a:cubicBezTo>
                  <a:cubicBezTo>
                    <a:pt x="48" y="66"/>
                    <a:pt x="51" y="70"/>
                    <a:pt x="55" y="70"/>
                  </a:cubicBezTo>
                  <a:cubicBezTo>
                    <a:pt x="57" y="70"/>
                    <a:pt x="59" y="69"/>
                    <a:pt x="61" y="67"/>
                  </a:cubicBezTo>
                  <a:cubicBezTo>
                    <a:pt x="61" y="133"/>
                    <a:pt x="61" y="133"/>
                    <a:pt x="61" y="133"/>
                  </a:cubicBezTo>
                  <a:cubicBezTo>
                    <a:pt x="61" y="135"/>
                    <a:pt x="62" y="137"/>
                    <a:pt x="64" y="137"/>
                  </a:cubicBezTo>
                  <a:cubicBezTo>
                    <a:pt x="74" y="137"/>
                    <a:pt x="74" y="137"/>
                    <a:pt x="74" y="137"/>
                  </a:cubicBezTo>
                  <a:cubicBezTo>
                    <a:pt x="76" y="137"/>
                    <a:pt x="77" y="135"/>
                    <a:pt x="77" y="133"/>
                  </a:cubicBezTo>
                  <a:cubicBezTo>
                    <a:pt x="77" y="67"/>
                    <a:pt x="77" y="67"/>
                    <a:pt x="77" y="67"/>
                  </a:cubicBezTo>
                  <a:cubicBezTo>
                    <a:pt x="79" y="69"/>
                    <a:pt x="80" y="70"/>
                    <a:pt x="83" y="70"/>
                  </a:cubicBezTo>
                  <a:close/>
                  <a:moveTo>
                    <a:pt x="12" y="70"/>
                  </a:moveTo>
                  <a:cubicBezTo>
                    <a:pt x="14" y="70"/>
                    <a:pt x="16" y="69"/>
                    <a:pt x="17" y="67"/>
                  </a:cubicBezTo>
                  <a:cubicBezTo>
                    <a:pt x="17" y="133"/>
                    <a:pt x="17" y="133"/>
                    <a:pt x="17" y="133"/>
                  </a:cubicBezTo>
                  <a:cubicBezTo>
                    <a:pt x="17" y="135"/>
                    <a:pt x="19" y="137"/>
                    <a:pt x="21" y="137"/>
                  </a:cubicBezTo>
                  <a:cubicBezTo>
                    <a:pt x="31" y="137"/>
                    <a:pt x="31" y="137"/>
                    <a:pt x="31" y="137"/>
                  </a:cubicBezTo>
                  <a:cubicBezTo>
                    <a:pt x="32" y="137"/>
                    <a:pt x="34" y="135"/>
                    <a:pt x="34" y="133"/>
                  </a:cubicBezTo>
                  <a:cubicBezTo>
                    <a:pt x="34" y="67"/>
                    <a:pt x="34" y="67"/>
                    <a:pt x="34" y="67"/>
                  </a:cubicBezTo>
                  <a:cubicBezTo>
                    <a:pt x="35" y="69"/>
                    <a:pt x="37" y="70"/>
                    <a:pt x="39" y="70"/>
                  </a:cubicBezTo>
                  <a:cubicBezTo>
                    <a:pt x="43" y="70"/>
                    <a:pt x="47" y="66"/>
                    <a:pt x="47" y="62"/>
                  </a:cubicBezTo>
                  <a:cubicBezTo>
                    <a:pt x="47" y="57"/>
                    <a:pt x="43" y="54"/>
                    <a:pt x="39" y="54"/>
                  </a:cubicBezTo>
                  <a:cubicBezTo>
                    <a:pt x="12" y="54"/>
                    <a:pt x="12" y="54"/>
                    <a:pt x="12" y="54"/>
                  </a:cubicBezTo>
                  <a:cubicBezTo>
                    <a:pt x="8" y="54"/>
                    <a:pt x="5" y="57"/>
                    <a:pt x="5" y="62"/>
                  </a:cubicBezTo>
                  <a:cubicBezTo>
                    <a:pt x="5" y="66"/>
                    <a:pt x="8" y="70"/>
                    <a:pt x="12" y="70"/>
                  </a:cubicBezTo>
                  <a:close/>
                  <a:moveTo>
                    <a:pt x="136" y="22"/>
                  </a:moveTo>
                  <a:cubicBezTo>
                    <a:pt x="91" y="0"/>
                    <a:pt x="91" y="0"/>
                    <a:pt x="91" y="0"/>
                  </a:cubicBezTo>
                  <a:cubicBezTo>
                    <a:pt x="45" y="22"/>
                    <a:pt x="45" y="22"/>
                    <a:pt x="45" y="22"/>
                  </a:cubicBezTo>
                  <a:cubicBezTo>
                    <a:pt x="0" y="44"/>
                    <a:pt x="0" y="44"/>
                    <a:pt x="0" y="44"/>
                  </a:cubicBezTo>
                  <a:cubicBezTo>
                    <a:pt x="91" y="44"/>
                    <a:pt x="91" y="44"/>
                    <a:pt x="91" y="44"/>
                  </a:cubicBezTo>
                  <a:cubicBezTo>
                    <a:pt x="182" y="44"/>
                    <a:pt x="182" y="44"/>
                    <a:pt x="182" y="44"/>
                  </a:cubicBezTo>
                  <a:lnTo>
                    <a:pt x="136" y="22"/>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19" name="Freeform 188"/>
            <p:cNvSpPr>
              <a:spLocks noEditPoints="1"/>
            </p:cNvSpPr>
            <p:nvPr/>
          </p:nvSpPr>
          <p:spPr bwMode="auto">
            <a:xfrm>
              <a:off x="6332538" y="3730254"/>
              <a:ext cx="120650" cy="109538"/>
            </a:xfrm>
            <a:custGeom>
              <a:avLst/>
              <a:gdLst>
                <a:gd name="T0" fmla="*/ 0 w 32"/>
                <a:gd name="T1" fmla="*/ 0 h 29"/>
                <a:gd name="T2" fmla="*/ 20 w 32"/>
                <a:gd name="T3" fmla="*/ 0 h 29"/>
                <a:gd name="T4" fmla="*/ 28 w 32"/>
                <a:gd name="T5" fmla="*/ 2 h 29"/>
                <a:gd name="T6" fmla="*/ 30 w 32"/>
                <a:gd name="T7" fmla="*/ 8 h 29"/>
                <a:gd name="T8" fmla="*/ 28 w 32"/>
                <a:gd name="T9" fmla="*/ 12 h 29"/>
                <a:gd name="T10" fmla="*/ 25 w 32"/>
                <a:gd name="T11" fmla="*/ 14 h 29"/>
                <a:gd name="T12" fmla="*/ 30 w 32"/>
                <a:gd name="T13" fmla="*/ 16 h 29"/>
                <a:gd name="T14" fmla="*/ 32 w 32"/>
                <a:gd name="T15" fmla="*/ 21 h 29"/>
                <a:gd name="T16" fmla="*/ 31 w 32"/>
                <a:gd name="T17" fmla="*/ 25 h 29"/>
                <a:gd name="T18" fmla="*/ 27 w 32"/>
                <a:gd name="T19" fmla="*/ 28 h 29"/>
                <a:gd name="T20" fmla="*/ 23 w 32"/>
                <a:gd name="T21" fmla="*/ 29 h 29"/>
                <a:gd name="T22" fmla="*/ 18 w 32"/>
                <a:gd name="T23" fmla="*/ 29 h 29"/>
                <a:gd name="T24" fmla="*/ 0 w 32"/>
                <a:gd name="T25" fmla="*/ 29 h 29"/>
                <a:gd name="T26" fmla="*/ 0 w 32"/>
                <a:gd name="T27" fmla="*/ 0 h 29"/>
                <a:gd name="T28" fmla="*/ 11 w 32"/>
                <a:gd name="T29" fmla="*/ 12 h 29"/>
                <a:gd name="T30" fmla="*/ 15 w 32"/>
                <a:gd name="T31" fmla="*/ 12 h 29"/>
                <a:gd name="T32" fmla="*/ 19 w 32"/>
                <a:gd name="T33" fmla="*/ 11 h 29"/>
                <a:gd name="T34" fmla="*/ 20 w 32"/>
                <a:gd name="T35" fmla="*/ 9 h 29"/>
                <a:gd name="T36" fmla="*/ 19 w 32"/>
                <a:gd name="T37" fmla="*/ 7 h 29"/>
                <a:gd name="T38" fmla="*/ 15 w 32"/>
                <a:gd name="T39" fmla="*/ 6 h 29"/>
                <a:gd name="T40" fmla="*/ 11 w 32"/>
                <a:gd name="T41" fmla="*/ 6 h 29"/>
                <a:gd name="T42" fmla="*/ 11 w 32"/>
                <a:gd name="T43" fmla="*/ 12 h 29"/>
                <a:gd name="T44" fmla="*/ 11 w 32"/>
                <a:gd name="T45" fmla="*/ 23 h 29"/>
                <a:gd name="T46" fmla="*/ 16 w 32"/>
                <a:gd name="T47" fmla="*/ 23 h 29"/>
                <a:gd name="T48" fmla="*/ 20 w 32"/>
                <a:gd name="T49" fmla="*/ 22 h 29"/>
                <a:gd name="T50" fmla="*/ 21 w 32"/>
                <a:gd name="T51" fmla="*/ 20 h 29"/>
                <a:gd name="T52" fmla="*/ 20 w 32"/>
                <a:gd name="T53" fmla="*/ 18 h 29"/>
                <a:gd name="T54" fmla="*/ 16 w 32"/>
                <a:gd name="T55" fmla="*/ 17 h 29"/>
                <a:gd name="T56" fmla="*/ 11 w 32"/>
                <a:gd name="T57" fmla="*/ 17 h 29"/>
                <a:gd name="T58" fmla="*/ 11 w 32"/>
                <a:gd name="T59"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29">
                  <a:moveTo>
                    <a:pt x="0" y="0"/>
                  </a:moveTo>
                  <a:cubicBezTo>
                    <a:pt x="20" y="0"/>
                    <a:pt x="20" y="0"/>
                    <a:pt x="20" y="0"/>
                  </a:cubicBezTo>
                  <a:cubicBezTo>
                    <a:pt x="23" y="0"/>
                    <a:pt x="26" y="1"/>
                    <a:pt x="28" y="2"/>
                  </a:cubicBezTo>
                  <a:cubicBezTo>
                    <a:pt x="29" y="4"/>
                    <a:pt x="30" y="5"/>
                    <a:pt x="30" y="8"/>
                  </a:cubicBezTo>
                  <a:cubicBezTo>
                    <a:pt x="30" y="9"/>
                    <a:pt x="30" y="11"/>
                    <a:pt x="28" y="12"/>
                  </a:cubicBezTo>
                  <a:cubicBezTo>
                    <a:pt x="27" y="13"/>
                    <a:pt x="26" y="13"/>
                    <a:pt x="25" y="14"/>
                  </a:cubicBezTo>
                  <a:cubicBezTo>
                    <a:pt x="27" y="14"/>
                    <a:pt x="29" y="15"/>
                    <a:pt x="30" y="16"/>
                  </a:cubicBezTo>
                  <a:cubicBezTo>
                    <a:pt x="31" y="18"/>
                    <a:pt x="32" y="19"/>
                    <a:pt x="32" y="21"/>
                  </a:cubicBezTo>
                  <a:cubicBezTo>
                    <a:pt x="32" y="23"/>
                    <a:pt x="31" y="24"/>
                    <a:pt x="31" y="25"/>
                  </a:cubicBezTo>
                  <a:cubicBezTo>
                    <a:pt x="30" y="26"/>
                    <a:pt x="29" y="27"/>
                    <a:pt x="27" y="28"/>
                  </a:cubicBezTo>
                  <a:cubicBezTo>
                    <a:pt x="26" y="28"/>
                    <a:pt x="25" y="29"/>
                    <a:pt x="23" y="29"/>
                  </a:cubicBezTo>
                  <a:cubicBezTo>
                    <a:pt x="21" y="29"/>
                    <a:pt x="19" y="29"/>
                    <a:pt x="18" y="29"/>
                  </a:cubicBezTo>
                  <a:cubicBezTo>
                    <a:pt x="0" y="29"/>
                    <a:pt x="0" y="29"/>
                    <a:pt x="0" y="29"/>
                  </a:cubicBezTo>
                  <a:lnTo>
                    <a:pt x="0" y="0"/>
                  </a:lnTo>
                  <a:close/>
                  <a:moveTo>
                    <a:pt x="11" y="12"/>
                  </a:moveTo>
                  <a:cubicBezTo>
                    <a:pt x="15" y="12"/>
                    <a:pt x="15" y="12"/>
                    <a:pt x="15" y="12"/>
                  </a:cubicBezTo>
                  <a:cubicBezTo>
                    <a:pt x="17" y="12"/>
                    <a:pt x="18" y="11"/>
                    <a:pt x="19" y="11"/>
                  </a:cubicBezTo>
                  <a:cubicBezTo>
                    <a:pt x="19" y="10"/>
                    <a:pt x="20" y="10"/>
                    <a:pt x="20" y="9"/>
                  </a:cubicBezTo>
                  <a:cubicBezTo>
                    <a:pt x="20" y="8"/>
                    <a:pt x="19" y="7"/>
                    <a:pt x="19" y="7"/>
                  </a:cubicBezTo>
                  <a:cubicBezTo>
                    <a:pt x="18" y="6"/>
                    <a:pt x="17" y="6"/>
                    <a:pt x="15" y="6"/>
                  </a:cubicBezTo>
                  <a:cubicBezTo>
                    <a:pt x="11" y="6"/>
                    <a:pt x="11" y="6"/>
                    <a:pt x="11" y="6"/>
                  </a:cubicBezTo>
                  <a:lnTo>
                    <a:pt x="11" y="12"/>
                  </a:lnTo>
                  <a:close/>
                  <a:moveTo>
                    <a:pt x="11" y="23"/>
                  </a:moveTo>
                  <a:cubicBezTo>
                    <a:pt x="16" y="23"/>
                    <a:pt x="16" y="23"/>
                    <a:pt x="16" y="23"/>
                  </a:cubicBezTo>
                  <a:cubicBezTo>
                    <a:pt x="18" y="23"/>
                    <a:pt x="19" y="23"/>
                    <a:pt x="20" y="22"/>
                  </a:cubicBezTo>
                  <a:cubicBezTo>
                    <a:pt x="21" y="22"/>
                    <a:pt x="21" y="21"/>
                    <a:pt x="21" y="20"/>
                  </a:cubicBezTo>
                  <a:cubicBezTo>
                    <a:pt x="21" y="19"/>
                    <a:pt x="21" y="19"/>
                    <a:pt x="20" y="18"/>
                  </a:cubicBezTo>
                  <a:cubicBezTo>
                    <a:pt x="19" y="17"/>
                    <a:pt x="18" y="17"/>
                    <a:pt x="16" y="17"/>
                  </a:cubicBezTo>
                  <a:cubicBezTo>
                    <a:pt x="11" y="17"/>
                    <a:pt x="11" y="17"/>
                    <a:pt x="11" y="17"/>
                  </a:cubicBezTo>
                  <a:lnTo>
                    <a:pt x="11" y="23"/>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0" name="Freeform 189"/>
            <p:cNvSpPr>
              <a:spLocks noEditPoints="1"/>
            </p:cNvSpPr>
            <p:nvPr/>
          </p:nvSpPr>
          <p:spPr bwMode="auto">
            <a:xfrm>
              <a:off x="6456363" y="3730254"/>
              <a:ext cx="142875" cy="109538"/>
            </a:xfrm>
            <a:custGeom>
              <a:avLst/>
              <a:gdLst>
                <a:gd name="T0" fmla="*/ 59 w 90"/>
                <a:gd name="T1" fmla="*/ 60 h 69"/>
                <a:gd name="T2" fmla="*/ 31 w 90"/>
                <a:gd name="T3" fmla="*/ 60 h 69"/>
                <a:gd name="T4" fmla="*/ 26 w 90"/>
                <a:gd name="T5" fmla="*/ 69 h 69"/>
                <a:gd name="T6" fmla="*/ 0 w 90"/>
                <a:gd name="T7" fmla="*/ 69 h 69"/>
                <a:gd name="T8" fmla="*/ 31 w 90"/>
                <a:gd name="T9" fmla="*/ 0 h 69"/>
                <a:gd name="T10" fmla="*/ 59 w 90"/>
                <a:gd name="T11" fmla="*/ 0 h 69"/>
                <a:gd name="T12" fmla="*/ 90 w 90"/>
                <a:gd name="T13" fmla="*/ 69 h 69"/>
                <a:gd name="T14" fmla="*/ 64 w 90"/>
                <a:gd name="T15" fmla="*/ 69 h 69"/>
                <a:gd name="T16" fmla="*/ 59 w 90"/>
                <a:gd name="T17" fmla="*/ 60 h 69"/>
                <a:gd name="T18" fmla="*/ 54 w 90"/>
                <a:gd name="T19" fmla="*/ 43 h 69"/>
                <a:gd name="T20" fmla="*/ 45 w 90"/>
                <a:gd name="T21" fmla="*/ 19 h 69"/>
                <a:gd name="T22" fmla="*/ 35 w 90"/>
                <a:gd name="T23" fmla="*/ 43 h 69"/>
                <a:gd name="T24" fmla="*/ 54 w 90"/>
                <a:gd name="T25" fmla="*/ 4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69">
                  <a:moveTo>
                    <a:pt x="59" y="60"/>
                  </a:moveTo>
                  <a:lnTo>
                    <a:pt x="31" y="60"/>
                  </a:lnTo>
                  <a:lnTo>
                    <a:pt x="26" y="69"/>
                  </a:lnTo>
                  <a:lnTo>
                    <a:pt x="0" y="69"/>
                  </a:lnTo>
                  <a:lnTo>
                    <a:pt x="31" y="0"/>
                  </a:lnTo>
                  <a:lnTo>
                    <a:pt x="59" y="0"/>
                  </a:lnTo>
                  <a:lnTo>
                    <a:pt x="90" y="69"/>
                  </a:lnTo>
                  <a:lnTo>
                    <a:pt x="64" y="69"/>
                  </a:lnTo>
                  <a:lnTo>
                    <a:pt x="59" y="60"/>
                  </a:lnTo>
                  <a:close/>
                  <a:moveTo>
                    <a:pt x="54" y="43"/>
                  </a:moveTo>
                  <a:lnTo>
                    <a:pt x="45" y="19"/>
                  </a:lnTo>
                  <a:lnTo>
                    <a:pt x="35" y="43"/>
                  </a:lnTo>
                  <a:lnTo>
                    <a:pt x="54" y="43"/>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1" name="Freeform 190"/>
            <p:cNvSpPr/>
            <p:nvPr/>
          </p:nvSpPr>
          <p:spPr bwMode="auto">
            <a:xfrm>
              <a:off x="6610350" y="3730254"/>
              <a:ext cx="123825" cy="109538"/>
            </a:xfrm>
            <a:custGeom>
              <a:avLst/>
              <a:gdLst>
                <a:gd name="T0" fmla="*/ 0 w 78"/>
                <a:gd name="T1" fmla="*/ 0 h 69"/>
                <a:gd name="T2" fmla="*/ 24 w 78"/>
                <a:gd name="T3" fmla="*/ 0 h 69"/>
                <a:gd name="T4" fmla="*/ 55 w 78"/>
                <a:gd name="T5" fmla="*/ 38 h 69"/>
                <a:gd name="T6" fmla="*/ 55 w 78"/>
                <a:gd name="T7" fmla="*/ 0 h 69"/>
                <a:gd name="T8" fmla="*/ 78 w 78"/>
                <a:gd name="T9" fmla="*/ 0 h 69"/>
                <a:gd name="T10" fmla="*/ 78 w 78"/>
                <a:gd name="T11" fmla="*/ 69 h 69"/>
                <a:gd name="T12" fmla="*/ 55 w 78"/>
                <a:gd name="T13" fmla="*/ 69 h 69"/>
                <a:gd name="T14" fmla="*/ 24 w 78"/>
                <a:gd name="T15" fmla="*/ 31 h 69"/>
                <a:gd name="T16" fmla="*/ 24 w 78"/>
                <a:gd name="T17" fmla="*/ 69 h 69"/>
                <a:gd name="T18" fmla="*/ 0 w 78"/>
                <a:gd name="T19" fmla="*/ 69 h 69"/>
                <a:gd name="T20" fmla="*/ 0 w 78"/>
                <a:gd name="T21"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69">
                  <a:moveTo>
                    <a:pt x="0" y="0"/>
                  </a:moveTo>
                  <a:lnTo>
                    <a:pt x="24" y="0"/>
                  </a:lnTo>
                  <a:lnTo>
                    <a:pt x="55" y="38"/>
                  </a:lnTo>
                  <a:lnTo>
                    <a:pt x="55" y="0"/>
                  </a:lnTo>
                  <a:lnTo>
                    <a:pt x="78" y="0"/>
                  </a:lnTo>
                  <a:lnTo>
                    <a:pt x="78" y="69"/>
                  </a:lnTo>
                  <a:lnTo>
                    <a:pt x="55" y="69"/>
                  </a:lnTo>
                  <a:lnTo>
                    <a:pt x="24" y="31"/>
                  </a:lnTo>
                  <a:lnTo>
                    <a:pt x="24" y="69"/>
                  </a:lnTo>
                  <a:lnTo>
                    <a:pt x="0" y="69"/>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2" name="Freeform 191"/>
            <p:cNvSpPr/>
            <p:nvPr/>
          </p:nvSpPr>
          <p:spPr bwMode="auto">
            <a:xfrm>
              <a:off x="6761163" y="3730254"/>
              <a:ext cx="139700" cy="109538"/>
            </a:xfrm>
            <a:custGeom>
              <a:avLst/>
              <a:gdLst>
                <a:gd name="T0" fmla="*/ 0 w 88"/>
                <a:gd name="T1" fmla="*/ 0 h 69"/>
                <a:gd name="T2" fmla="*/ 26 w 88"/>
                <a:gd name="T3" fmla="*/ 0 h 69"/>
                <a:gd name="T4" fmla="*/ 26 w 88"/>
                <a:gd name="T5" fmla="*/ 26 h 69"/>
                <a:gd name="T6" fmla="*/ 52 w 88"/>
                <a:gd name="T7" fmla="*/ 0 h 69"/>
                <a:gd name="T8" fmla="*/ 85 w 88"/>
                <a:gd name="T9" fmla="*/ 0 h 69"/>
                <a:gd name="T10" fmla="*/ 57 w 88"/>
                <a:gd name="T11" fmla="*/ 26 h 69"/>
                <a:gd name="T12" fmla="*/ 88 w 88"/>
                <a:gd name="T13" fmla="*/ 69 h 69"/>
                <a:gd name="T14" fmla="*/ 57 w 88"/>
                <a:gd name="T15" fmla="*/ 69 h 69"/>
                <a:gd name="T16" fmla="*/ 38 w 88"/>
                <a:gd name="T17" fmla="*/ 40 h 69"/>
                <a:gd name="T18" fmla="*/ 26 w 88"/>
                <a:gd name="T19" fmla="*/ 52 h 69"/>
                <a:gd name="T20" fmla="*/ 26 w 88"/>
                <a:gd name="T21" fmla="*/ 69 h 69"/>
                <a:gd name="T22" fmla="*/ 0 w 88"/>
                <a:gd name="T23" fmla="*/ 69 h 69"/>
                <a:gd name="T24" fmla="*/ 0 w 88"/>
                <a:gd name="T25"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69">
                  <a:moveTo>
                    <a:pt x="0" y="0"/>
                  </a:moveTo>
                  <a:lnTo>
                    <a:pt x="26" y="0"/>
                  </a:lnTo>
                  <a:lnTo>
                    <a:pt x="26" y="26"/>
                  </a:lnTo>
                  <a:lnTo>
                    <a:pt x="52" y="0"/>
                  </a:lnTo>
                  <a:lnTo>
                    <a:pt x="85" y="0"/>
                  </a:lnTo>
                  <a:lnTo>
                    <a:pt x="57" y="26"/>
                  </a:lnTo>
                  <a:lnTo>
                    <a:pt x="88" y="69"/>
                  </a:lnTo>
                  <a:lnTo>
                    <a:pt x="57" y="69"/>
                  </a:lnTo>
                  <a:lnTo>
                    <a:pt x="38" y="40"/>
                  </a:lnTo>
                  <a:lnTo>
                    <a:pt x="26" y="52"/>
                  </a:lnTo>
                  <a:lnTo>
                    <a:pt x="26" y="69"/>
                  </a:lnTo>
                  <a:lnTo>
                    <a:pt x="0" y="69"/>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grpSp>
      <p:grpSp>
        <p:nvGrpSpPr>
          <p:cNvPr id="23" name="组合 22"/>
          <p:cNvGrpSpPr/>
          <p:nvPr/>
        </p:nvGrpSpPr>
        <p:grpSpPr>
          <a:xfrm>
            <a:off x="2195195" y="1986280"/>
            <a:ext cx="349250" cy="382270"/>
            <a:chOff x="6261100" y="3131766"/>
            <a:chExt cx="684213" cy="776288"/>
          </a:xfrm>
        </p:grpSpPr>
        <p:sp>
          <p:nvSpPr>
            <p:cNvPr id="24" name="Freeform 187"/>
            <p:cNvSpPr>
              <a:spLocks noEditPoints="1"/>
            </p:cNvSpPr>
            <p:nvPr/>
          </p:nvSpPr>
          <p:spPr bwMode="auto">
            <a:xfrm>
              <a:off x="6261100" y="3131766"/>
              <a:ext cx="684213" cy="776288"/>
            </a:xfrm>
            <a:custGeom>
              <a:avLst/>
              <a:gdLst>
                <a:gd name="T0" fmla="*/ 128 w 182"/>
                <a:gd name="T1" fmla="*/ 54 h 204"/>
                <a:gd name="T2" fmla="*/ 93 w 182"/>
                <a:gd name="T3" fmla="*/ 62 h 204"/>
                <a:gd name="T4" fmla="*/ 106 w 182"/>
                <a:gd name="T5" fmla="*/ 67 h 204"/>
                <a:gd name="T6" fmla="*/ 109 w 182"/>
                <a:gd name="T7" fmla="*/ 137 h 204"/>
                <a:gd name="T8" fmla="*/ 122 w 182"/>
                <a:gd name="T9" fmla="*/ 133 h 204"/>
                <a:gd name="T10" fmla="*/ 128 w 182"/>
                <a:gd name="T11" fmla="*/ 70 h 204"/>
                <a:gd name="T12" fmla="*/ 179 w 182"/>
                <a:gd name="T13" fmla="*/ 62 h 204"/>
                <a:gd name="T14" fmla="*/ 145 w 182"/>
                <a:gd name="T15" fmla="*/ 54 h 204"/>
                <a:gd name="T16" fmla="*/ 145 w 182"/>
                <a:gd name="T17" fmla="*/ 70 h 204"/>
                <a:gd name="T18" fmla="*/ 150 w 182"/>
                <a:gd name="T19" fmla="*/ 133 h 204"/>
                <a:gd name="T20" fmla="*/ 163 w 182"/>
                <a:gd name="T21" fmla="*/ 137 h 204"/>
                <a:gd name="T22" fmla="*/ 166 w 182"/>
                <a:gd name="T23" fmla="*/ 67 h 204"/>
                <a:gd name="T24" fmla="*/ 179 w 182"/>
                <a:gd name="T25" fmla="*/ 62 h 204"/>
                <a:gd name="T26" fmla="*/ 169 w 182"/>
                <a:gd name="T27" fmla="*/ 197 h 204"/>
                <a:gd name="T28" fmla="*/ 169 w 182"/>
                <a:gd name="T29" fmla="*/ 191 h 204"/>
                <a:gd name="T30" fmla="*/ 13 w 182"/>
                <a:gd name="T31" fmla="*/ 194 h 204"/>
                <a:gd name="T32" fmla="*/ 17 w 182"/>
                <a:gd name="T33" fmla="*/ 204 h 204"/>
                <a:gd name="T34" fmla="*/ 172 w 182"/>
                <a:gd name="T35" fmla="*/ 202 h 204"/>
                <a:gd name="T36" fmla="*/ 17 w 182"/>
                <a:gd name="T37" fmla="*/ 199 h 204"/>
                <a:gd name="T38" fmla="*/ 17 w 182"/>
                <a:gd name="T39" fmla="*/ 204 h 204"/>
                <a:gd name="T40" fmla="*/ 169 w 182"/>
                <a:gd name="T41" fmla="*/ 150 h 204"/>
                <a:gd name="T42" fmla="*/ 169 w 182"/>
                <a:gd name="T43" fmla="*/ 144 h 204"/>
                <a:gd name="T44" fmla="*/ 13 w 182"/>
                <a:gd name="T45" fmla="*/ 147 h 204"/>
                <a:gd name="T46" fmla="*/ 83 w 182"/>
                <a:gd name="T47" fmla="*/ 70 h 204"/>
                <a:gd name="T48" fmla="*/ 83 w 182"/>
                <a:gd name="T49" fmla="*/ 54 h 204"/>
                <a:gd name="T50" fmla="*/ 48 w 182"/>
                <a:gd name="T51" fmla="*/ 62 h 204"/>
                <a:gd name="T52" fmla="*/ 61 w 182"/>
                <a:gd name="T53" fmla="*/ 67 h 204"/>
                <a:gd name="T54" fmla="*/ 64 w 182"/>
                <a:gd name="T55" fmla="*/ 137 h 204"/>
                <a:gd name="T56" fmla="*/ 77 w 182"/>
                <a:gd name="T57" fmla="*/ 133 h 204"/>
                <a:gd name="T58" fmla="*/ 83 w 182"/>
                <a:gd name="T59" fmla="*/ 70 h 204"/>
                <a:gd name="T60" fmla="*/ 17 w 182"/>
                <a:gd name="T61" fmla="*/ 67 h 204"/>
                <a:gd name="T62" fmla="*/ 21 w 182"/>
                <a:gd name="T63" fmla="*/ 137 h 204"/>
                <a:gd name="T64" fmla="*/ 34 w 182"/>
                <a:gd name="T65" fmla="*/ 133 h 204"/>
                <a:gd name="T66" fmla="*/ 39 w 182"/>
                <a:gd name="T67" fmla="*/ 70 h 204"/>
                <a:gd name="T68" fmla="*/ 39 w 182"/>
                <a:gd name="T69" fmla="*/ 54 h 204"/>
                <a:gd name="T70" fmla="*/ 5 w 182"/>
                <a:gd name="T71" fmla="*/ 62 h 204"/>
                <a:gd name="T72" fmla="*/ 136 w 182"/>
                <a:gd name="T73" fmla="*/ 22 h 204"/>
                <a:gd name="T74" fmla="*/ 45 w 182"/>
                <a:gd name="T75" fmla="*/ 22 h 204"/>
                <a:gd name="T76" fmla="*/ 91 w 182"/>
                <a:gd name="T77" fmla="*/ 44 h 204"/>
                <a:gd name="T78" fmla="*/ 136 w 182"/>
                <a:gd name="T79" fmla="*/ 2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2" h="204">
                  <a:moveTo>
                    <a:pt x="135" y="62"/>
                  </a:moveTo>
                  <a:cubicBezTo>
                    <a:pt x="135" y="57"/>
                    <a:pt x="132" y="54"/>
                    <a:pt x="128" y="54"/>
                  </a:cubicBezTo>
                  <a:cubicBezTo>
                    <a:pt x="100" y="54"/>
                    <a:pt x="100" y="54"/>
                    <a:pt x="100" y="54"/>
                  </a:cubicBezTo>
                  <a:cubicBezTo>
                    <a:pt x="96" y="54"/>
                    <a:pt x="93" y="57"/>
                    <a:pt x="93" y="62"/>
                  </a:cubicBezTo>
                  <a:cubicBezTo>
                    <a:pt x="93" y="66"/>
                    <a:pt x="96" y="70"/>
                    <a:pt x="100" y="70"/>
                  </a:cubicBezTo>
                  <a:cubicBezTo>
                    <a:pt x="102" y="70"/>
                    <a:pt x="104" y="69"/>
                    <a:pt x="106" y="67"/>
                  </a:cubicBezTo>
                  <a:cubicBezTo>
                    <a:pt x="106" y="133"/>
                    <a:pt x="106" y="133"/>
                    <a:pt x="106" y="133"/>
                  </a:cubicBezTo>
                  <a:cubicBezTo>
                    <a:pt x="106" y="135"/>
                    <a:pt x="107" y="137"/>
                    <a:pt x="109" y="137"/>
                  </a:cubicBezTo>
                  <a:cubicBezTo>
                    <a:pt x="118" y="137"/>
                    <a:pt x="118" y="137"/>
                    <a:pt x="118" y="137"/>
                  </a:cubicBezTo>
                  <a:cubicBezTo>
                    <a:pt x="120" y="137"/>
                    <a:pt x="122" y="135"/>
                    <a:pt x="122" y="133"/>
                  </a:cubicBezTo>
                  <a:cubicBezTo>
                    <a:pt x="122" y="67"/>
                    <a:pt x="122" y="67"/>
                    <a:pt x="122" y="67"/>
                  </a:cubicBezTo>
                  <a:cubicBezTo>
                    <a:pt x="123" y="69"/>
                    <a:pt x="126" y="70"/>
                    <a:pt x="128" y="70"/>
                  </a:cubicBezTo>
                  <a:cubicBezTo>
                    <a:pt x="132" y="70"/>
                    <a:pt x="135" y="66"/>
                    <a:pt x="135" y="62"/>
                  </a:cubicBezTo>
                  <a:close/>
                  <a:moveTo>
                    <a:pt x="179" y="62"/>
                  </a:moveTo>
                  <a:cubicBezTo>
                    <a:pt x="179" y="57"/>
                    <a:pt x="176" y="54"/>
                    <a:pt x="172" y="54"/>
                  </a:cubicBezTo>
                  <a:cubicBezTo>
                    <a:pt x="145" y="54"/>
                    <a:pt x="145" y="54"/>
                    <a:pt x="145" y="54"/>
                  </a:cubicBezTo>
                  <a:cubicBezTo>
                    <a:pt x="141" y="54"/>
                    <a:pt x="137" y="57"/>
                    <a:pt x="137" y="62"/>
                  </a:cubicBezTo>
                  <a:cubicBezTo>
                    <a:pt x="137" y="66"/>
                    <a:pt x="141" y="70"/>
                    <a:pt x="145" y="70"/>
                  </a:cubicBezTo>
                  <a:cubicBezTo>
                    <a:pt x="147" y="70"/>
                    <a:pt x="149" y="69"/>
                    <a:pt x="150" y="67"/>
                  </a:cubicBezTo>
                  <a:cubicBezTo>
                    <a:pt x="150" y="133"/>
                    <a:pt x="150" y="133"/>
                    <a:pt x="150" y="133"/>
                  </a:cubicBezTo>
                  <a:cubicBezTo>
                    <a:pt x="150" y="135"/>
                    <a:pt x="152" y="137"/>
                    <a:pt x="153" y="137"/>
                  </a:cubicBezTo>
                  <a:cubicBezTo>
                    <a:pt x="163" y="137"/>
                    <a:pt x="163" y="137"/>
                    <a:pt x="163" y="137"/>
                  </a:cubicBezTo>
                  <a:cubicBezTo>
                    <a:pt x="165" y="137"/>
                    <a:pt x="166" y="135"/>
                    <a:pt x="166" y="133"/>
                  </a:cubicBezTo>
                  <a:cubicBezTo>
                    <a:pt x="166" y="67"/>
                    <a:pt x="166" y="67"/>
                    <a:pt x="166" y="67"/>
                  </a:cubicBezTo>
                  <a:cubicBezTo>
                    <a:pt x="167" y="69"/>
                    <a:pt x="170" y="70"/>
                    <a:pt x="172" y="70"/>
                  </a:cubicBezTo>
                  <a:cubicBezTo>
                    <a:pt x="176" y="70"/>
                    <a:pt x="179" y="66"/>
                    <a:pt x="179" y="62"/>
                  </a:cubicBezTo>
                  <a:close/>
                  <a:moveTo>
                    <a:pt x="17" y="197"/>
                  </a:moveTo>
                  <a:cubicBezTo>
                    <a:pt x="169" y="197"/>
                    <a:pt x="169" y="197"/>
                    <a:pt x="169" y="197"/>
                  </a:cubicBezTo>
                  <a:cubicBezTo>
                    <a:pt x="171" y="197"/>
                    <a:pt x="172" y="196"/>
                    <a:pt x="172" y="194"/>
                  </a:cubicBezTo>
                  <a:cubicBezTo>
                    <a:pt x="172" y="193"/>
                    <a:pt x="171" y="191"/>
                    <a:pt x="169" y="191"/>
                  </a:cubicBezTo>
                  <a:cubicBezTo>
                    <a:pt x="17" y="191"/>
                    <a:pt x="17" y="191"/>
                    <a:pt x="17" y="191"/>
                  </a:cubicBezTo>
                  <a:cubicBezTo>
                    <a:pt x="15" y="191"/>
                    <a:pt x="13" y="193"/>
                    <a:pt x="13" y="194"/>
                  </a:cubicBezTo>
                  <a:cubicBezTo>
                    <a:pt x="13" y="196"/>
                    <a:pt x="15" y="197"/>
                    <a:pt x="17" y="197"/>
                  </a:cubicBezTo>
                  <a:close/>
                  <a:moveTo>
                    <a:pt x="17" y="204"/>
                  </a:moveTo>
                  <a:cubicBezTo>
                    <a:pt x="169" y="204"/>
                    <a:pt x="169" y="204"/>
                    <a:pt x="169" y="204"/>
                  </a:cubicBezTo>
                  <a:cubicBezTo>
                    <a:pt x="171" y="204"/>
                    <a:pt x="172" y="203"/>
                    <a:pt x="172" y="202"/>
                  </a:cubicBezTo>
                  <a:cubicBezTo>
                    <a:pt x="172" y="200"/>
                    <a:pt x="171" y="199"/>
                    <a:pt x="169" y="199"/>
                  </a:cubicBezTo>
                  <a:cubicBezTo>
                    <a:pt x="17" y="199"/>
                    <a:pt x="17" y="199"/>
                    <a:pt x="17" y="199"/>
                  </a:cubicBezTo>
                  <a:cubicBezTo>
                    <a:pt x="15" y="199"/>
                    <a:pt x="13" y="200"/>
                    <a:pt x="13" y="202"/>
                  </a:cubicBezTo>
                  <a:cubicBezTo>
                    <a:pt x="13" y="203"/>
                    <a:pt x="15" y="204"/>
                    <a:pt x="17" y="204"/>
                  </a:cubicBezTo>
                  <a:close/>
                  <a:moveTo>
                    <a:pt x="17" y="150"/>
                  </a:moveTo>
                  <a:cubicBezTo>
                    <a:pt x="169" y="150"/>
                    <a:pt x="169" y="150"/>
                    <a:pt x="169" y="150"/>
                  </a:cubicBezTo>
                  <a:cubicBezTo>
                    <a:pt x="171" y="150"/>
                    <a:pt x="172" y="149"/>
                    <a:pt x="172" y="147"/>
                  </a:cubicBezTo>
                  <a:cubicBezTo>
                    <a:pt x="172" y="146"/>
                    <a:pt x="171" y="144"/>
                    <a:pt x="169" y="144"/>
                  </a:cubicBezTo>
                  <a:cubicBezTo>
                    <a:pt x="17" y="144"/>
                    <a:pt x="17" y="144"/>
                    <a:pt x="17" y="144"/>
                  </a:cubicBezTo>
                  <a:cubicBezTo>
                    <a:pt x="15" y="144"/>
                    <a:pt x="13" y="146"/>
                    <a:pt x="13" y="147"/>
                  </a:cubicBezTo>
                  <a:cubicBezTo>
                    <a:pt x="13" y="149"/>
                    <a:pt x="15" y="150"/>
                    <a:pt x="17" y="150"/>
                  </a:cubicBezTo>
                  <a:close/>
                  <a:moveTo>
                    <a:pt x="83" y="70"/>
                  </a:moveTo>
                  <a:cubicBezTo>
                    <a:pt x="87" y="70"/>
                    <a:pt x="90" y="66"/>
                    <a:pt x="90" y="62"/>
                  </a:cubicBezTo>
                  <a:cubicBezTo>
                    <a:pt x="90" y="57"/>
                    <a:pt x="87" y="54"/>
                    <a:pt x="83" y="54"/>
                  </a:cubicBezTo>
                  <a:cubicBezTo>
                    <a:pt x="55" y="54"/>
                    <a:pt x="55" y="54"/>
                    <a:pt x="55" y="54"/>
                  </a:cubicBezTo>
                  <a:cubicBezTo>
                    <a:pt x="51" y="54"/>
                    <a:pt x="48" y="57"/>
                    <a:pt x="48" y="62"/>
                  </a:cubicBezTo>
                  <a:cubicBezTo>
                    <a:pt x="48" y="66"/>
                    <a:pt x="51" y="70"/>
                    <a:pt x="55" y="70"/>
                  </a:cubicBezTo>
                  <a:cubicBezTo>
                    <a:pt x="57" y="70"/>
                    <a:pt x="59" y="69"/>
                    <a:pt x="61" y="67"/>
                  </a:cubicBezTo>
                  <a:cubicBezTo>
                    <a:pt x="61" y="133"/>
                    <a:pt x="61" y="133"/>
                    <a:pt x="61" y="133"/>
                  </a:cubicBezTo>
                  <a:cubicBezTo>
                    <a:pt x="61" y="135"/>
                    <a:pt x="62" y="137"/>
                    <a:pt x="64" y="137"/>
                  </a:cubicBezTo>
                  <a:cubicBezTo>
                    <a:pt x="74" y="137"/>
                    <a:pt x="74" y="137"/>
                    <a:pt x="74" y="137"/>
                  </a:cubicBezTo>
                  <a:cubicBezTo>
                    <a:pt x="76" y="137"/>
                    <a:pt x="77" y="135"/>
                    <a:pt x="77" y="133"/>
                  </a:cubicBezTo>
                  <a:cubicBezTo>
                    <a:pt x="77" y="67"/>
                    <a:pt x="77" y="67"/>
                    <a:pt x="77" y="67"/>
                  </a:cubicBezTo>
                  <a:cubicBezTo>
                    <a:pt x="79" y="69"/>
                    <a:pt x="80" y="70"/>
                    <a:pt x="83" y="70"/>
                  </a:cubicBezTo>
                  <a:close/>
                  <a:moveTo>
                    <a:pt x="12" y="70"/>
                  </a:moveTo>
                  <a:cubicBezTo>
                    <a:pt x="14" y="70"/>
                    <a:pt x="16" y="69"/>
                    <a:pt x="17" y="67"/>
                  </a:cubicBezTo>
                  <a:cubicBezTo>
                    <a:pt x="17" y="133"/>
                    <a:pt x="17" y="133"/>
                    <a:pt x="17" y="133"/>
                  </a:cubicBezTo>
                  <a:cubicBezTo>
                    <a:pt x="17" y="135"/>
                    <a:pt x="19" y="137"/>
                    <a:pt x="21" y="137"/>
                  </a:cubicBezTo>
                  <a:cubicBezTo>
                    <a:pt x="31" y="137"/>
                    <a:pt x="31" y="137"/>
                    <a:pt x="31" y="137"/>
                  </a:cubicBezTo>
                  <a:cubicBezTo>
                    <a:pt x="32" y="137"/>
                    <a:pt x="34" y="135"/>
                    <a:pt x="34" y="133"/>
                  </a:cubicBezTo>
                  <a:cubicBezTo>
                    <a:pt x="34" y="67"/>
                    <a:pt x="34" y="67"/>
                    <a:pt x="34" y="67"/>
                  </a:cubicBezTo>
                  <a:cubicBezTo>
                    <a:pt x="35" y="69"/>
                    <a:pt x="37" y="70"/>
                    <a:pt x="39" y="70"/>
                  </a:cubicBezTo>
                  <a:cubicBezTo>
                    <a:pt x="43" y="70"/>
                    <a:pt x="47" y="66"/>
                    <a:pt x="47" y="62"/>
                  </a:cubicBezTo>
                  <a:cubicBezTo>
                    <a:pt x="47" y="57"/>
                    <a:pt x="43" y="54"/>
                    <a:pt x="39" y="54"/>
                  </a:cubicBezTo>
                  <a:cubicBezTo>
                    <a:pt x="12" y="54"/>
                    <a:pt x="12" y="54"/>
                    <a:pt x="12" y="54"/>
                  </a:cubicBezTo>
                  <a:cubicBezTo>
                    <a:pt x="8" y="54"/>
                    <a:pt x="5" y="57"/>
                    <a:pt x="5" y="62"/>
                  </a:cubicBezTo>
                  <a:cubicBezTo>
                    <a:pt x="5" y="66"/>
                    <a:pt x="8" y="70"/>
                    <a:pt x="12" y="70"/>
                  </a:cubicBezTo>
                  <a:close/>
                  <a:moveTo>
                    <a:pt x="136" y="22"/>
                  </a:moveTo>
                  <a:cubicBezTo>
                    <a:pt x="91" y="0"/>
                    <a:pt x="91" y="0"/>
                    <a:pt x="91" y="0"/>
                  </a:cubicBezTo>
                  <a:cubicBezTo>
                    <a:pt x="45" y="22"/>
                    <a:pt x="45" y="22"/>
                    <a:pt x="45" y="22"/>
                  </a:cubicBezTo>
                  <a:cubicBezTo>
                    <a:pt x="0" y="44"/>
                    <a:pt x="0" y="44"/>
                    <a:pt x="0" y="44"/>
                  </a:cubicBezTo>
                  <a:cubicBezTo>
                    <a:pt x="91" y="44"/>
                    <a:pt x="91" y="44"/>
                    <a:pt x="91" y="44"/>
                  </a:cubicBezTo>
                  <a:cubicBezTo>
                    <a:pt x="182" y="44"/>
                    <a:pt x="182" y="44"/>
                    <a:pt x="182" y="44"/>
                  </a:cubicBezTo>
                  <a:lnTo>
                    <a:pt x="136" y="22"/>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5" name="Freeform 188"/>
            <p:cNvSpPr>
              <a:spLocks noEditPoints="1"/>
            </p:cNvSpPr>
            <p:nvPr/>
          </p:nvSpPr>
          <p:spPr bwMode="auto">
            <a:xfrm>
              <a:off x="6332538" y="3730254"/>
              <a:ext cx="120650" cy="109538"/>
            </a:xfrm>
            <a:custGeom>
              <a:avLst/>
              <a:gdLst>
                <a:gd name="T0" fmla="*/ 0 w 32"/>
                <a:gd name="T1" fmla="*/ 0 h 29"/>
                <a:gd name="T2" fmla="*/ 20 w 32"/>
                <a:gd name="T3" fmla="*/ 0 h 29"/>
                <a:gd name="T4" fmla="*/ 28 w 32"/>
                <a:gd name="T5" fmla="*/ 2 h 29"/>
                <a:gd name="T6" fmla="*/ 30 w 32"/>
                <a:gd name="T7" fmla="*/ 8 h 29"/>
                <a:gd name="T8" fmla="*/ 28 w 32"/>
                <a:gd name="T9" fmla="*/ 12 h 29"/>
                <a:gd name="T10" fmla="*/ 25 w 32"/>
                <a:gd name="T11" fmla="*/ 14 h 29"/>
                <a:gd name="T12" fmla="*/ 30 w 32"/>
                <a:gd name="T13" fmla="*/ 16 h 29"/>
                <a:gd name="T14" fmla="*/ 32 w 32"/>
                <a:gd name="T15" fmla="*/ 21 h 29"/>
                <a:gd name="T16" fmla="*/ 31 w 32"/>
                <a:gd name="T17" fmla="*/ 25 h 29"/>
                <a:gd name="T18" fmla="*/ 27 w 32"/>
                <a:gd name="T19" fmla="*/ 28 h 29"/>
                <a:gd name="T20" fmla="*/ 23 w 32"/>
                <a:gd name="T21" fmla="*/ 29 h 29"/>
                <a:gd name="T22" fmla="*/ 18 w 32"/>
                <a:gd name="T23" fmla="*/ 29 h 29"/>
                <a:gd name="T24" fmla="*/ 0 w 32"/>
                <a:gd name="T25" fmla="*/ 29 h 29"/>
                <a:gd name="T26" fmla="*/ 0 w 32"/>
                <a:gd name="T27" fmla="*/ 0 h 29"/>
                <a:gd name="T28" fmla="*/ 11 w 32"/>
                <a:gd name="T29" fmla="*/ 12 h 29"/>
                <a:gd name="T30" fmla="*/ 15 w 32"/>
                <a:gd name="T31" fmla="*/ 12 h 29"/>
                <a:gd name="T32" fmla="*/ 19 w 32"/>
                <a:gd name="T33" fmla="*/ 11 h 29"/>
                <a:gd name="T34" fmla="*/ 20 w 32"/>
                <a:gd name="T35" fmla="*/ 9 h 29"/>
                <a:gd name="T36" fmla="*/ 19 w 32"/>
                <a:gd name="T37" fmla="*/ 7 h 29"/>
                <a:gd name="T38" fmla="*/ 15 w 32"/>
                <a:gd name="T39" fmla="*/ 6 h 29"/>
                <a:gd name="T40" fmla="*/ 11 w 32"/>
                <a:gd name="T41" fmla="*/ 6 h 29"/>
                <a:gd name="T42" fmla="*/ 11 w 32"/>
                <a:gd name="T43" fmla="*/ 12 h 29"/>
                <a:gd name="T44" fmla="*/ 11 w 32"/>
                <a:gd name="T45" fmla="*/ 23 h 29"/>
                <a:gd name="T46" fmla="*/ 16 w 32"/>
                <a:gd name="T47" fmla="*/ 23 h 29"/>
                <a:gd name="T48" fmla="*/ 20 w 32"/>
                <a:gd name="T49" fmla="*/ 22 h 29"/>
                <a:gd name="T50" fmla="*/ 21 w 32"/>
                <a:gd name="T51" fmla="*/ 20 h 29"/>
                <a:gd name="T52" fmla="*/ 20 w 32"/>
                <a:gd name="T53" fmla="*/ 18 h 29"/>
                <a:gd name="T54" fmla="*/ 16 w 32"/>
                <a:gd name="T55" fmla="*/ 17 h 29"/>
                <a:gd name="T56" fmla="*/ 11 w 32"/>
                <a:gd name="T57" fmla="*/ 17 h 29"/>
                <a:gd name="T58" fmla="*/ 11 w 32"/>
                <a:gd name="T59"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2" h="29">
                  <a:moveTo>
                    <a:pt x="0" y="0"/>
                  </a:moveTo>
                  <a:cubicBezTo>
                    <a:pt x="20" y="0"/>
                    <a:pt x="20" y="0"/>
                    <a:pt x="20" y="0"/>
                  </a:cubicBezTo>
                  <a:cubicBezTo>
                    <a:pt x="23" y="0"/>
                    <a:pt x="26" y="1"/>
                    <a:pt x="28" y="2"/>
                  </a:cubicBezTo>
                  <a:cubicBezTo>
                    <a:pt x="29" y="4"/>
                    <a:pt x="30" y="5"/>
                    <a:pt x="30" y="8"/>
                  </a:cubicBezTo>
                  <a:cubicBezTo>
                    <a:pt x="30" y="9"/>
                    <a:pt x="30" y="11"/>
                    <a:pt x="28" y="12"/>
                  </a:cubicBezTo>
                  <a:cubicBezTo>
                    <a:pt x="27" y="13"/>
                    <a:pt x="26" y="13"/>
                    <a:pt x="25" y="14"/>
                  </a:cubicBezTo>
                  <a:cubicBezTo>
                    <a:pt x="27" y="14"/>
                    <a:pt x="29" y="15"/>
                    <a:pt x="30" y="16"/>
                  </a:cubicBezTo>
                  <a:cubicBezTo>
                    <a:pt x="31" y="18"/>
                    <a:pt x="32" y="19"/>
                    <a:pt x="32" y="21"/>
                  </a:cubicBezTo>
                  <a:cubicBezTo>
                    <a:pt x="32" y="23"/>
                    <a:pt x="31" y="24"/>
                    <a:pt x="31" y="25"/>
                  </a:cubicBezTo>
                  <a:cubicBezTo>
                    <a:pt x="30" y="26"/>
                    <a:pt x="29" y="27"/>
                    <a:pt x="27" y="28"/>
                  </a:cubicBezTo>
                  <a:cubicBezTo>
                    <a:pt x="26" y="28"/>
                    <a:pt x="25" y="29"/>
                    <a:pt x="23" y="29"/>
                  </a:cubicBezTo>
                  <a:cubicBezTo>
                    <a:pt x="21" y="29"/>
                    <a:pt x="19" y="29"/>
                    <a:pt x="18" y="29"/>
                  </a:cubicBezTo>
                  <a:cubicBezTo>
                    <a:pt x="0" y="29"/>
                    <a:pt x="0" y="29"/>
                    <a:pt x="0" y="29"/>
                  </a:cubicBezTo>
                  <a:lnTo>
                    <a:pt x="0" y="0"/>
                  </a:lnTo>
                  <a:close/>
                  <a:moveTo>
                    <a:pt x="11" y="12"/>
                  </a:moveTo>
                  <a:cubicBezTo>
                    <a:pt x="15" y="12"/>
                    <a:pt x="15" y="12"/>
                    <a:pt x="15" y="12"/>
                  </a:cubicBezTo>
                  <a:cubicBezTo>
                    <a:pt x="17" y="12"/>
                    <a:pt x="18" y="11"/>
                    <a:pt x="19" y="11"/>
                  </a:cubicBezTo>
                  <a:cubicBezTo>
                    <a:pt x="19" y="10"/>
                    <a:pt x="20" y="10"/>
                    <a:pt x="20" y="9"/>
                  </a:cubicBezTo>
                  <a:cubicBezTo>
                    <a:pt x="20" y="8"/>
                    <a:pt x="19" y="7"/>
                    <a:pt x="19" y="7"/>
                  </a:cubicBezTo>
                  <a:cubicBezTo>
                    <a:pt x="18" y="6"/>
                    <a:pt x="17" y="6"/>
                    <a:pt x="15" y="6"/>
                  </a:cubicBezTo>
                  <a:cubicBezTo>
                    <a:pt x="11" y="6"/>
                    <a:pt x="11" y="6"/>
                    <a:pt x="11" y="6"/>
                  </a:cubicBezTo>
                  <a:lnTo>
                    <a:pt x="11" y="12"/>
                  </a:lnTo>
                  <a:close/>
                  <a:moveTo>
                    <a:pt x="11" y="23"/>
                  </a:moveTo>
                  <a:cubicBezTo>
                    <a:pt x="16" y="23"/>
                    <a:pt x="16" y="23"/>
                    <a:pt x="16" y="23"/>
                  </a:cubicBezTo>
                  <a:cubicBezTo>
                    <a:pt x="18" y="23"/>
                    <a:pt x="19" y="23"/>
                    <a:pt x="20" y="22"/>
                  </a:cubicBezTo>
                  <a:cubicBezTo>
                    <a:pt x="21" y="22"/>
                    <a:pt x="21" y="21"/>
                    <a:pt x="21" y="20"/>
                  </a:cubicBezTo>
                  <a:cubicBezTo>
                    <a:pt x="21" y="19"/>
                    <a:pt x="21" y="19"/>
                    <a:pt x="20" y="18"/>
                  </a:cubicBezTo>
                  <a:cubicBezTo>
                    <a:pt x="19" y="17"/>
                    <a:pt x="18" y="17"/>
                    <a:pt x="16" y="17"/>
                  </a:cubicBezTo>
                  <a:cubicBezTo>
                    <a:pt x="11" y="17"/>
                    <a:pt x="11" y="17"/>
                    <a:pt x="11" y="17"/>
                  </a:cubicBezTo>
                  <a:lnTo>
                    <a:pt x="11" y="23"/>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6" name="Freeform 189"/>
            <p:cNvSpPr>
              <a:spLocks noEditPoints="1"/>
            </p:cNvSpPr>
            <p:nvPr/>
          </p:nvSpPr>
          <p:spPr bwMode="auto">
            <a:xfrm>
              <a:off x="6456363" y="3730254"/>
              <a:ext cx="142875" cy="109538"/>
            </a:xfrm>
            <a:custGeom>
              <a:avLst/>
              <a:gdLst>
                <a:gd name="T0" fmla="*/ 59 w 90"/>
                <a:gd name="T1" fmla="*/ 60 h 69"/>
                <a:gd name="T2" fmla="*/ 31 w 90"/>
                <a:gd name="T3" fmla="*/ 60 h 69"/>
                <a:gd name="T4" fmla="*/ 26 w 90"/>
                <a:gd name="T5" fmla="*/ 69 h 69"/>
                <a:gd name="T6" fmla="*/ 0 w 90"/>
                <a:gd name="T7" fmla="*/ 69 h 69"/>
                <a:gd name="T8" fmla="*/ 31 w 90"/>
                <a:gd name="T9" fmla="*/ 0 h 69"/>
                <a:gd name="T10" fmla="*/ 59 w 90"/>
                <a:gd name="T11" fmla="*/ 0 h 69"/>
                <a:gd name="T12" fmla="*/ 90 w 90"/>
                <a:gd name="T13" fmla="*/ 69 h 69"/>
                <a:gd name="T14" fmla="*/ 64 w 90"/>
                <a:gd name="T15" fmla="*/ 69 h 69"/>
                <a:gd name="T16" fmla="*/ 59 w 90"/>
                <a:gd name="T17" fmla="*/ 60 h 69"/>
                <a:gd name="T18" fmla="*/ 54 w 90"/>
                <a:gd name="T19" fmla="*/ 43 h 69"/>
                <a:gd name="T20" fmla="*/ 45 w 90"/>
                <a:gd name="T21" fmla="*/ 19 h 69"/>
                <a:gd name="T22" fmla="*/ 35 w 90"/>
                <a:gd name="T23" fmla="*/ 43 h 69"/>
                <a:gd name="T24" fmla="*/ 54 w 90"/>
                <a:gd name="T25" fmla="*/ 4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69">
                  <a:moveTo>
                    <a:pt x="59" y="60"/>
                  </a:moveTo>
                  <a:lnTo>
                    <a:pt x="31" y="60"/>
                  </a:lnTo>
                  <a:lnTo>
                    <a:pt x="26" y="69"/>
                  </a:lnTo>
                  <a:lnTo>
                    <a:pt x="0" y="69"/>
                  </a:lnTo>
                  <a:lnTo>
                    <a:pt x="31" y="0"/>
                  </a:lnTo>
                  <a:lnTo>
                    <a:pt x="59" y="0"/>
                  </a:lnTo>
                  <a:lnTo>
                    <a:pt x="90" y="69"/>
                  </a:lnTo>
                  <a:lnTo>
                    <a:pt x="64" y="69"/>
                  </a:lnTo>
                  <a:lnTo>
                    <a:pt x="59" y="60"/>
                  </a:lnTo>
                  <a:close/>
                  <a:moveTo>
                    <a:pt x="54" y="43"/>
                  </a:moveTo>
                  <a:lnTo>
                    <a:pt x="45" y="19"/>
                  </a:lnTo>
                  <a:lnTo>
                    <a:pt x="35" y="43"/>
                  </a:lnTo>
                  <a:lnTo>
                    <a:pt x="54" y="43"/>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7" name="Freeform 190"/>
            <p:cNvSpPr/>
            <p:nvPr/>
          </p:nvSpPr>
          <p:spPr bwMode="auto">
            <a:xfrm>
              <a:off x="6610350" y="3730254"/>
              <a:ext cx="123825" cy="109538"/>
            </a:xfrm>
            <a:custGeom>
              <a:avLst/>
              <a:gdLst>
                <a:gd name="T0" fmla="*/ 0 w 78"/>
                <a:gd name="T1" fmla="*/ 0 h 69"/>
                <a:gd name="T2" fmla="*/ 24 w 78"/>
                <a:gd name="T3" fmla="*/ 0 h 69"/>
                <a:gd name="T4" fmla="*/ 55 w 78"/>
                <a:gd name="T5" fmla="*/ 38 h 69"/>
                <a:gd name="T6" fmla="*/ 55 w 78"/>
                <a:gd name="T7" fmla="*/ 0 h 69"/>
                <a:gd name="T8" fmla="*/ 78 w 78"/>
                <a:gd name="T9" fmla="*/ 0 h 69"/>
                <a:gd name="T10" fmla="*/ 78 w 78"/>
                <a:gd name="T11" fmla="*/ 69 h 69"/>
                <a:gd name="T12" fmla="*/ 55 w 78"/>
                <a:gd name="T13" fmla="*/ 69 h 69"/>
                <a:gd name="T14" fmla="*/ 24 w 78"/>
                <a:gd name="T15" fmla="*/ 31 h 69"/>
                <a:gd name="T16" fmla="*/ 24 w 78"/>
                <a:gd name="T17" fmla="*/ 69 h 69"/>
                <a:gd name="T18" fmla="*/ 0 w 78"/>
                <a:gd name="T19" fmla="*/ 69 h 69"/>
                <a:gd name="T20" fmla="*/ 0 w 78"/>
                <a:gd name="T21"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69">
                  <a:moveTo>
                    <a:pt x="0" y="0"/>
                  </a:moveTo>
                  <a:lnTo>
                    <a:pt x="24" y="0"/>
                  </a:lnTo>
                  <a:lnTo>
                    <a:pt x="55" y="38"/>
                  </a:lnTo>
                  <a:lnTo>
                    <a:pt x="55" y="0"/>
                  </a:lnTo>
                  <a:lnTo>
                    <a:pt x="78" y="0"/>
                  </a:lnTo>
                  <a:lnTo>
                    <a:pt x="78" y="69"/>
                  </a:lnTo>
                  <a:lnTo>
                    <a:pt x="55" y="69"/>
                  </a:lnTo>
                  <a:lnTo>
                    <a:pt x="24" y="31"/>
                  </a:lnTo>
                  <a:lnTo>
                    <a:pt x="24" y="69"/>
                  </a:lnTo>
                  <a:lnTo>
                    <a:pt x="0" y="69"/>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sp>
          <p:nvSpPr>
            <p:cNvPr id="28" name="Freeform 191"/>
            <p:cNvSpPr/>
            <p:nvPr/>
          </p:nvSpPr>
          <p:spPr bwMode="auto">
            <a:xfrm>
              <a:off x="6761163" y="3730254"/>
              <a:ext cx="139700" cy="109538"/>
            </a:xfrm>
            <a:custGeom>
              <a:avLst/>
              <a:gdLst>
                <a:gd name="T0" fmla="*/ 0 w 88"/>
                <a:gd name="T1" fmla="*/ 0 h 69"/>
                <a:gd name="T2" fmla="*/ 26 w 88"/>
                <a:gd name="T3" fmla="*/ 0 h 69"/>
                <a:gd name="T4" fmla="*/ 26 w 88"/>
                <a:gd name="T5" fmla="*/ 26 h 69"/>
                <a:gd name="T6" fmla="*/ 52 w 88"/>
                <a:gd name="T7" fmla="*/ 0 h 69"/>
                <a:gd name="T8" fmla="*/ 85 w 88"/>
                <a:gd name="T9" fmla="*/ 0 h 69"/>
                <a:gd name="T10" fmla="*/ 57 w 88"/>
                <a:gd name="T11" fmla="*/ 26 h 69"/>
                <a:gd name="T12" fmla="*/ 88 w 88"/>
                <a:gd name="T13" fmla="*/ 69 h 69"/>
                <a:gd name="T14" fmla="*/ 57 w 88"/>
                <a:gd name="T15" fmla="*/ 69 h 69"/>
                <a:gd name="T16" fmla="*/ 38 w 88"/>
                <a:gd name="T17" fmla="*/ 40 h 69"/>
                <a:gd name="T18" fmla="*/ 26 w 88"/>
                <a:gd name="T19" fmla="*/ 52 h 69"/>
                <a:gd name="T20" fmla="*/ 26 w 88"/>
                <a:gd name="T21" fmla="*/ 69 h 69"/>
                <a:gd name="T22" fmla="*/ 0 w 88"/>
                <a:gd name="T23" fmla="*/ 69 h 69"/>
                <a:gd name="T24" fmla="*/ 0 w 88"/>
                <a:gd name="T25"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69">
                  <a:moveTo>
                    <a:pt x="0" y="0"/>
                  </a:moveTo>
                  <a:lnTo>
                    <a:pt x="26" y="0"/>
                  </a:lnTo>
                  <a:lnTo>
                    <a:pt x="26" y="26"/>
                  </a:lnTo>
                  <a:lnTo>
                    <a:pt x="52" y="0"/>
                  </a:lnTo>
                  <a:lnTo>
                    <a:pt x="85" y="0"/>
                  </a:lnTo>
                  <a:lnTo>
                    <a:pt x="57" y="26"/>
                  </a:lnTo>
                  <a:lnTo>
                    <a:pt x="88" y="69"/>
                  </a:lnTo>
                  <a:lnTo>
                    <a:pt x="57" y="69"/>
                  </a:lnTo>
                  <a:lnTo>
                    <a:pt x="38" y="40"/>
                  </a:lnTo>
                  <a:lnTo>
                    <a:pt x="26" y="52"/>
                  </a:lnTo>
                  <a:lnTo>
                    <a:pt x="26" y="69"/>
                  </a:lnTo>
                  <a:lnTo>
                    <a:pt x="0" y="69"/>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cs typeface="Arial"/>
              </a:endParaRPr>
            </a:p>
          </p:txBody>
        </p:sp>
      </p:grpSp>
      <p:grpSp>
        <p:nvGrpSpPr>
          <p:cNvPr id="88" name="Group 123"/>
          <p:cNvGrpSpPr/>
          <p:nvPr/>
        </p:nvGrpSpPr>
        <p:grpSpPr>
          <a:xfrm>
            <a:off x="1514356" y="1653209"/>
            <a:ext cx="390794" cy="138072"/>
            <a:chOff x="1441430" y="4357700"/>
            <a:chExt cx="503238" cy="177800"/>
          </a:xfrm>
          <a:solidFill>
            <a:schemeClr val="tx1"/>
          </a:solidFill>
        </p:grpSpPr>
        <p:sp>
          <p:nvSpPr>
            <p:cNvPr id="125" name="Freeform 19"/>
            <p:cNvSpPr/>
            <p:nvPr/>
          </p:nvSpPr>
          <p:spPr bwMode="auto">
            <a:xfrm>
              <a:off x="1441430" y="4357700"/>
              <a:ext cx="231775" cy="177800"/>
            </a:xfrm>
            <a:custGeom>
              <a:avLst/>
              <a:gdLst/>
              <a:ahLst/>
              <a:cxnLst>
                <a:cxn ang="0">
                  <a:pos x="192" y="0"/>
                </a:cxn>
                <a:cxn ang="0">
                  <a:pos x="203" y="0"/>
                </a:cxn>
                <a:cxn ang="0">
                  <a:pos x="225" y="5"/>
                </a:cxn>
                <a:cxn ang="0">
                  <a:pos x="245" y="13"/>
                </a:cxn>
                <a:cxn ang="0">
                  <a:pos x="262" y="26"/>
                </a:cxn>
                <a:cxn ang="0">
                  <a:pos x="271" y="32"/>
                </a:cxn>
                <a:cxn ang="0">
                  <a:pos x="282" y="47"/>
                </a:cxn>
                <a:cxn ang="0">
                  <a:pos x="292" y="63"/>
                </a:cxn>
                <a:cxn ang="0">
                  <a:pos x="232" y="63"/>
                </a:cxn>
                <a:cxn ang="0">
                  <a:pos x="213" y="53"/>
                </a:cxn>
                <a:cxn ang="0">
                  <a:pos x="192" y="49"/>
                </a:cxn>
                <a:cxn ang="0">
                  <a:pos x="112" y="49"/>
                </a:cxn>
                <a:cxn ang="0">
                  <a:pos x="88" y="54"/>
                </a:cxn>
                <a:cxn ang="0">
                  <a:pos x="68" y="68"/>
                </a:cxn>
                <a:cxn ang="0">
                  <a:pos x="61" y="77"/>
                </a:cxn>
                <a:cxn ang="0">
                  <a:pos x="51" y="99"/>
                </a:cxn>
                <a:cxn ang="0">
                  <a:pos x="50" y="111"/>
                </a:cxn>
                <a:cxn ang="0">
                  <a:pos x="51" y="124"/>
                </a:cxn>
                <a:cxn ang="0">
                  <a:pos x="61" y="146"/>
                </a:cxn>
                <a:cxn ang="0">
                  <a:pos x="68" y="154"/>
                </a:cxn>
                <a:cxn ang="0">
                  <a:pos x="88" y="168"/>
                </a:cxn>
                <a:cxn ang="0">
                  <a:pos x="112" y="173"/>
                </a:cxn>
                <a:cxn ang="0">
                  <a:pos x="192" y="173"/>
                </a:cxn>
                <a:cxn ang="0">
                  <a:pos x="213" y="169"/>
                </a:cxn>
                <a:cxn ang="0">
                  <a:pos x="232" y="158"/>
                </a:cxn>
                <a:cxn ang="0">
                  <a:pos x="292" y="158"/>
                </a:cxn>
                <a:cxn ang="0">
                  <a:pos x="282" y="175"/>
                </a:cxn>
                <a:cxn ang="0">
                  <a:pos x="271" y="189"/>
                </a:cxn>
                <a:cxn ang="0">
                  <a:pos x="262" y="196"/>
                </a:cxn>
                <a:cxn ang="0">
                  <a:pos x="245" y="209"/>
                </a:cxn>
                <a:cxn ang="0">
                  <a:pos x="225" y="217"/>
                </a:cxn>
                <a:cxn ang="0">
                  <a:pos x="203" y="221"/>
                </a:cxn>
                <a:cxn ang="0">
                  <a:pos x="112" y="222"/>
                </a:cxn>
                <a:cxn ang="0">
                  <a:pos x="100" y="221"/>
                </a:cxn>
                <a:cxn ang="0">
                  <a:pos x="78" y="217"/>
                </a:cxn>
                <a:cxn ang="0">
                  <a:pos x="58" y="209"/>
                </a:cxn>
                <a:cxn ang="0">
                  <a:pos x="41" y="196"/>
                </a:cxn>
                <a:cxn ang="0">
                  <a:pos x="34" y="189"/>
                </a:cxn>
                <a:cxn ang="0">
                  <a:pos x="20" y="173"/>
                </a:cxn>
                <a:cxn ang="0">
                  <a:pos x="9" y="154"/>
                </a:cxn>
                <a:cxn ang="0">
                  <a:pos x="3" y="133"/>
                </a:cxn>
                <a:cxn ang="0">
                  <a:pos x="0" y="111"/>
                </a:cxn>
                <a:cxn ang="0">
                  <a:pos x="0" y="111"/>
                </a:cxn>
                <a:cxn ang="0">
                  <a:pos x="3" y="89"/>
                </a:cxn>
                <a:cxn ang="0">
                  <a:pos x="9" y="68"/>
                </a:cxn>
                <a:cxn ang="0">
                  <a:pos x="20" y="49"/>
                </a:cxn>
                <a:cxn ang="0">
                  <a:pos x="34" y="32"/>
                </a:cxn>
                <a:cxn ang="0">
                  <a:pos x="41" y="26"/>
                </a:cxn>
                <a:cxn ang="0">
                  <a:pos x="58" y="13"/>
                </a:cxn>
                <a:cxn ang="0">
                  <a:pos x="78" y="5"/>
                </a:cxn>
                <a:cxn ang="0">
                  <a:pos x="100" y="0"/>
                </a:cxn>
                <a:cxn ang="0">
                  <a:pos x="112" y="0"/>
                </a:cxn>
              </a:cxnLst>
              <a:rect l="0" t="0" r="r" b="b"/>
              <a:pathLst>
                <a:path w="292" h="222">
                  <a:moveTo>
                    <a:pt x="112" y="0"/>
                  </a:moveTo>
                  <a:lnTo>
                    <a:pt x="192" y="0"/>
                  </a:lnTo>
                  <a:lnTo>
                    <a:pt x="192" y="0"/>
                  </a:lnTo>
                  <a:lnTo>
                    <a:pt x="203" y="0"/>
                  </a:lnTo>
                  <a:lnTo>
                    <a:pt x="214" y="2"/>
                  </a:lnTo>
                  <a:lnTo>
                    <a:pt x="225" y="5"/>
                  </a:lnTo>
                  <a:lnTo>
                    <a:pt x="235" y="9"/>
                  </a:lnTo>
                  <a:lnTo>
                    <a:pt x="245" y="13"/>
                  </a:lnTo>
                  <a:lnTo>
                    <a:pt x="254" y="18"/>
                  </a:lnTo>
                  <a:lnTo>
                    <a:pt x="262" y="26"/>
                  </a:lnTo>
                  <a:lnTo>
                    <a:pt x="271" y="32"/>
                  </a:lnTo>
                  <a:lnTo>
                    <a:pt x="271" y="32"/>
                  </a:lnTo>
                  <a:lnTo>
                    <a:pt x="277" y="39"/>
                  </a:lnTo>
                  <a:lnTo>
                    <a:pt x="282" y="47"/>
                  </a:lnTo>
                  <a:lnTo>
                    <a:pt x="288" y="56"/>
                  </a:lnTo>
                  <a:lnTo>
                    <a:pt x="292" y="63"/>
                  </a:lnTo>
                  <a:lnTo>
                    <a:pt x="232" y="63"/>
                  </a:lnTo>
                  <a:lnTo>
                    <a:pt x="232" y="63"/>
                  </a:lnTo>
                  <a:lnTo>
                    <a:pt x="223" y="58"/>
                  </a:lnTo>
                  <a:lnTo>
                    <a:pt x="213" y="53"/>
                  </a:lnTo>
                  <a:lnTo>
                    <a:pt x="203" y="51"/>
                  </a:lnTo>
                  <a:lnTo>
                    <a:pt x="192" y="49"/>
                  </a:lnTo>
                  <a:lnTo>
                    <a:pt x="112" y="49"/>
                  </a:lnTo>
                  <a:lnTo>
                    <a:pt x="112" y="49"/>
                  </a:lnTo>
                  <a:lnTo>
                    <a:pt x="99" y="51"/>
                  </a:lnTo>
                  <a:lnTo>
                    <a:pt x="88" y="54"/>
                  </a:lnTo>
                  <a:lnTo>
                    <a:pt x="77" y="60"/>
                  </a:lnTo>
                  <a:lnTo>
                    <a:pt x="68" y="68"/>
                  </a:lnTo>
                  <a:lnTo>
                    <a:pt x="68" y="68"/>
                  </a:lnTo>
                  <a:lnTo>
                    <a:pt x="61" y="77"/>
                  </a:lnTo>
                  <a:lnTo>
                    <a:pt x="55" y="86"/>
                  </a:lnTo>
                  <a:lnTo>
                    <a:pt x="51" y="99"/>
                  </a:lnTo>
                  <a:lnTo>
                    <a:pt x="50" y="111"/>
                  </a:lnTo>
                  <a:lnTo>
                    <a:pt x="50" y="111"/>
                  </a:lnTo>
                  <a:lnTo>
                    <a:pt x="50" y="111"/>
                  </a:lnTo>
                  <a:lnTo>
                    <a:pt x="51" y="124"/>
                  </a:lnTo>
                  <a:lnTo>
                    <a:pt x="55" y="135"/>
                  </a:lnTo>
                  <a:lnTo>
                    <a:pt x="61" y="146"/>
                  </a:lnTo>
                  <a:lnTo>
                    <a:pt x="68" y="154"/>
                  </a:lnTo>
                  <a:lnTo>
                    <a:pt x="68" y="154"/>
                  </a:lnTo>
                  <a:lnTo>
                    <a:pt x="77" y="162"/>
                  </a:lnTo>
                  <a:lnTo>
                    <a:pt x="88" y="168"/>
                  </a:lnTo>
                  <a:lnTo>
                    <a:pt x="99" y="172"/>
                  </a:lnTo>
                  <a:lnTo>
                    <a:pt x="112" y="173"/>
                  </a:lnTo>
                  <a:lnTo>
                    <a:pt x="192" y="173"/>
                  </a:lnTo>
                  <a:lnTo>
                    <a:pt x="192" y="173"/>
                  </a:lnTo>
                  <a:lnTo>
                    <a:pt x="203" y="172"/>
                  </a:lnTo>
                  <a:lnTo>
                    <a:pt x="213" y="169"/>
                  </a:lnTo>
                  <a:lnTo>
                    <a:pt x="223" y="164"/>
                  </a:lnTo>
                  <a:lnTo>
                    <a:pt x="232" y="158"/>
                  </a:lnTo>
                  <a:lnTo>
                    <a:pt x="292" y="158"/>
                  </a:lnTo>
                  <a:lnTo>
                    <a:pt x="292" y="158"/>
                  </a:lnTo>
                  <a:lnTo>
                    <a:pt x="288" y="167"/>
                  </a:lnTo>
                  <a:lnTo>
                    <a:pt x="282" y="175"/>
                  </a:lnTo>
                  <a:lnTo>
                    <a:pt x="277" y="183"/>
                  </a:lnTo>
                  <a:lnTo>
                    <a:pt x="271" y="189"/>
                  </a:lnTo>
                  <a:lnTo>
                    <a:pt x="271" y="189"/>
                  </a:lnTo>
                  <a:lnTo>
                    <a:pt x="262" y="196"/>
                  </a:lnTo>
                  <a:lnTo>
                    <a:pt x="254" y="203"/>
                  </a:lnTo>
                  <a:lnTo>
                    <a:pt x="245" y="209"/>
                  </a:lnTo>
                  <a:lnTo>
                    <a:pt x="235" y="214"/>
                  </a:lnTo>
                  <a:lnTo>
                    <a:pt x="225" y="217"/>
                  </a:lnTo>
                  <a:lnTo>
                    <a:pt x="214" y="220"/>
                  </a:lnTo>
                  <a:lnTo>
                    <a:pt x="203" y="221"/>
                  </a:lnTo>
                  <a:lnTo>
                    <a:pt x="192" y="222"/>
                  </a:lnTo>
                  <a:lnTo>
                    <a:pt x="112" y="222"/>
                  </a:lnTo>
                  <a:lnTo>
                    <a:pt x="112" y="222"/>
                  </a:lnTo>
                  <a:lnTo>
                    <a:pt x="100" y="221"/>
                  </a:lnTo>
                  <a:lnTo>
                    <a:pt x="89" y="220"/>
                  </a:lnTo>
                  <a:lnTo>
                    <a:pt x="78" y="217"/>
                  </a:lnTo>
                  <a:lnTo>
                    <a:pt x="68" y="214"/>
                  </a:lnTo>
                  <a:lnTo>
                    <a:pt x="58" y="209"/>
                  </a:lnTo>
                  <a:lnTo>
                    <a:pt x="50" y="203"/>
                  </a:lnTo>
                  <a:lnTo>
                    <a:pt x="41" y="196"/>
                  </a:lnTo>
                  <a:lnTo>
                    <a:pt x="34" y="189"/>
                  </a:lnTo>
                  <a:lnTo>
                    <a:pt x="34" y="189"/>
                  </a:lnTo>
                  <a:lnTo>
                    <a:pt x="26" y="182"/>
                  </a:lnTo>
                  <a:lnTo>
                    <a:pt x="20" y="173"/>
                  </a:lnTo>
                  <a:lnTo>
                    <a:pt x="14" y="164"/>
                  </a:lnTo>
                  <a:lnTo>
                    <a:pt x="9" y="154"/>
                  </a:lnTo>
                  <a:lnTo>
                    <a:pt x="5" y="143"/>
                  </a:lnTo>
                  <a:lnTo>
                    <a:pt x="3" y="133"/>
                  </a:lnTo>
                  <a:lnTo>
                    <a:pt x="2" y="122"/>
                  </a:lnTo>
                  <a:lnTo>
                    <a:pt x="0" y="111"/>
                  </a:lnTo>
                  <a:lnTo>
                    <a:pt x="0" y="111"/>
                  </a:lnTo>
                  <a:lnTo>
                    <a:pt x="0" y="111"/>
                  </a:lnTo>
                  <a:lnTo>
                    <a:pt x="2" y="100"/>
                  </a:lnTo>
                  <a:lnTo>
                    <a:pt x="3" y="89"/>
                  </a:lnTo>
                  <a:lnTo>
                    <a:pt x="5" y="78"/>
                  </a:lnTo>
                  <a:lnTo>
                    <a:pt x="9" y="68"/>
                  </a:lnTo>
                  <a:lnTo>
                    <a:pt x="14" y="58"/>
                  </a:lnTo>
                  <a:lnTo>
                    <a:pt x="20" y="49"/>
                  </a:lnTo>
                  <a:lnTo>
                    <a:pt x="26" y="41"/>
                  </a:lnTo>
                  <a:lnTo>
                    <a:pt x="34" y="32"/>
                  </a:lnTo>
                  <a:lnTo>
                    <a:pt x="34" y="32"/>
                  </a:lnTo>
                  <a:lnTo>
                    <a:pt x="41" y="26"/>
                  </a:lnTo>
                  <a:lnTo>
                    <a:pt x="50" y="18"/>
                  </a:lnTo>
                  <a:lnTo>
                    <a:pt x="58" y="13"/>
                  </a:lnTo>
                  <a:lnTo>
                    <a:pt x="68" y="9"/>
                  </a:lnTo>
                  <a:lnTo>
                    <a:pt x="78" y="5"/>
                  </a:lnTo>
                  <a:lnTo>
                    <a:pt x="89" y="2"/>
                  </a:lnTo>
                  <a:lnTo>
                    <a:pt x="100" y="0"/>
                  </a:lnTo>
                  <a:lnTo>
                    <a:pt x="112" y="0"/>
                  </a:lnTo>
                  <a:lnTo>
                    <a:pt x="112" y="0"/>
                  </a:lnTo>
                  <a:close/>
                </a:path>
              </a:pathLst>
            </a:custGeom>
            <a:grpFill/>
            <a:ln w="9525">
              <a:noFill/>
              <a:roun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cs typeface="Arial"/>
              </a:endParaRPr>
            </a:p>
          </p:txBody>
        </p:sp>
        <p:sp>
          <p:nvSpPr>
            <p:cNvPr id="126" name="Freeform 20"/>
            <p:cNvSpPr/>
            <p:nvPr/>
          </p:nvSpPr>
          <p:spPr bwMode="auto">
            <a:xfrm>
              <a:off x="1714480" y="4357700"/>
              <a:ext cx="230188" cy="177800"/>
            </a:xfrm>
            <a:custGeom>
              <a:avLst/>
              <a:gdLst/>
              <a:ahLst/>
              <a:cxnLst>
                <a:cxn ang="0">
                  <a:pos x="181" y="0"/>
                </a:cxn>
                <a:cxn ang="0">
                  <a:pos x="192" y="0"/>
                </a:cxn>
                <a:cxn ang="0">
                  <a:pos x="213" y="5"/>
                </a:cxn>
                <a:cxn ang="0">
                  <a:pos x="234" y="13"/>
                </a:cxn>
                <a:cxn ang="0">
                  <a:pos x="251" y="26"/>
                </a:cxn>
                <a:cxn ang="0">
                  <a:pos x="258" y="32"/>
                </a:cxn>
                <a:cxn ang="0">
                  <a:pos x="272" y="49"/>
                </a:cxn>
                <a:cxn ang="0">
                  <a:pos x="283" y="68"/>
                </a:cxn>
                <a:cxn ang="0">
                  <a:pos x="289" y="89"/>
                </a:cxn>
                <a:cxn ang="0">
                  <a:pos x="292" y="111"/>
                </a:cxn>
                <a:cxn ang="0">
                  <a:pos x="292" y="111"/>
                </a:cxn>
                <a:cxn ang="0">
                  <a:pos x="289" y="133"/>
                </a:cxn>
                <a:cxn ang="0">
                  <a:pos x="283" y="154"/>
                </a:cxn>
                <a:cxn ang="0">
                  <a:pos x="272" y="173"/>
                </a:cxn>
                <a:cxn ang="0">
                  <a:pos x="258" y="189"/>
                </a:cxn>
                <a:cxn ang="0">
                  <a:pos x="251" y="196"/>
                </a:cxn>
                <a:cxn ang="0">
                  <a:pos x="234" y="209"/>
                </a:cxn>
                <a:cxn ang="0">
                  <a:pos x="213" y="217"/>
                </a:cxn>
                <a:cxn ang="0">
                  <a:pos x="192" y="221"/>
                </a:cxn>
                <a:cxn ang="0">
                  <a:pos x="100" y="222"/>
                </a:cxn>
                <a:cxn ang="0">
                  <a:pos x="89" y="221"/>
                </a:cxn>
                <a:cxn ang="0">
                  <a:pos x="67" y="217"/>
                </a:cxn>
                <a:cxn ang="0">
                  <a:pos x="47" y="209"/>
                </a:cxn>
                <a:cxn ang="0">
                  <a:pos x="30" y="196"/>
                </a:cxn>
                <a:cxn ang="0">
                  <a:pos x="21" y="189"/>
                </a:cxn>
                <a:cxn ang="0">
                  <a:pos x="9" y="175"/>
                </a:cxn>
                <a:cxn ang="0">
                  <a:pos x="0" y="158"/>
                </a:cxn>
                <a:cxn ang="0">
                  <a:pos x="61" y="158"/>
                </a:cxn>
                <a:cxn ang="0">
                  <a:pos x="79" y="169"/>
                </a:cxn>
                <a:cxn ang="0">
                  <a:pos x="100" y="173"/>
                </a:cxn>
                <a:cxn ang="0">
                  <a:pos x="181" y="173"/>
                </a:cxn>
                <a:cxn ang="0">
                  <a:pos x="204" y="168"/>
                </a:cxn>
                <a:cxn ang="0">
                  <a:pos x="224" y="154"/>
                </a:cxn>
                <a:cxn ang="0">
                  <a:pos x="231" y="146"/>
                </a:cxn>
                <a:cxn ang="0">
                  <a:pos x="241" y="124"/>
                </a:cxn>
                <a:cxn ang="0">
                  <a:pos x="242" y="111"/>
                </a:cxn>
                <a:cxn ang="0">
                  <a:pos x="241" y="99"/>
                </a:cxn>
                <a:cxn ang="0">
                  <a:pos x="231" y="77"/>
                </a:cxn>
                <a:cxn ang="0">
                  <a:pos x="224" y="68"/>
                </a:cxn>
                <a:cxn ang="0">
                  <a:pos x="204" y="54"/>
                </a:cxn>
                <a:cxn ang="0">
                  <a:pos x="181" y="49"/>
                </a:cxn>
                <a:cxn ang="0">
                  <a:pos x="100" y="49"/>
                </a:cxn>
                <a:cxn ang="0">
                  <a:pos x="79" y="53"/>
                </a:cxn>
                <a:cxn ang="0">
                  <a:pos x="61" y="63"/>
                </a:cxn>
                <a:cxn ang="0">
                  <a:pos x="0" y="63"/>
                </a:cxn>
                <a:cxn ang="0">
                  <a:pos x="9" y="47"/>
                </a:cxn>
                <a:cxn ang="0">
                  <a:pos x="21" y="32"/>
                </a:cxn>
                <a:cxn ang="0">
                  <a:pos x="30" y="26"/>
                </a:cxn>
                <a:cxn ang="0">
                  <a:pos x="47" y="13"/>
                </a:cxn>
                <a:cxn ang="0">
                  <a:pos x="67" y="5"/>
                </a:cxn>
                <a:cxn ang="0">
                  <a:pos x="89" y="0"/>
                </a:cxn>
                <a:cxn ang="0">
                  <a:pos x="100" y="0"/>
                </a:cxn>
              </a:cxnLst>
              <a:rect l="0" t="0" r="r" b="b"/>
              <a:pathLst>
                <a:path w="292" h="222">
                  <a:moveTo>
                    <a:pt x="100" y="0"/>
                  </a:moveTo>
                  <a:lnTo>
                    <a:pt x="181" y="0"/>
                  </a:lnTo>
                  <a:lnTo>
                    <a:pt x="181" y="0"/>
                  </a:lnTo>
                  <a:lnTo>
                    <a:pt x="192" y="0"/>
                  </a:lnTo>
                  <a:lnTo>
                    <a:pt x="203" y="2"/>
                  </a:lnTo>
                  <a:lnTo>
                    <a:pt x="213" y="5"/>
                  </a:lnTo>
                  <a:lnTo>
                    <a:pt x="224" y="9"/>
                  </a:lnTo>
                  <a:lnTo>
                    <a:pt x="234" y="13"/>
                  </a:lnTo>
                  <a:lnTo>
                    <a:pt x="242" y="18"/>
                  </a:lnTo>
                  <a:lnTo>
                    <a:pt x="251" y="26"/>
                  </a:lnTo>
                  <a:lnTo>
                    <a:pt x="258" y="32"/>
                  </a:lnTo>
                  <a:lnTo>
                    <a:pt x="258" y="32"/>
                  </a:lnTo>
                  <a:lnTo>
                    <a:pt x="266" y="41"/>
                  </a:lnTo>
                  <a:lnTo>
                    <a:pt x="272" y="49"/>
                  </a:lnTo>
                  <a:lnTo>
                    <a:pt x="278" y="58"/>
                  </a:lnTo>
                  <a:lnTo>
                    <a:pt x="283" y="68"/>
                  </a:lnTo>
                  <a:lnTo>
                    <a:pt x="287" y="78"/>
                  </a:lnTo>
                  <a:lnTo>
                    <a:pt x="289" y="89"/>
                  </a:lnTo>
                  <a:lnTo>
                    <a:pt x="291" y="100"/>
                  </a:lnTo>
                  <a:lnTo>
                    <a:pt x="292" y="111"/>
                  </a:lnTo>
                  <a:lnTo>
                    <a:pt x="292" y="111"/>
                  </a:lnTo>
                  <a:lnTo>
                    <a:pt x="292" y="111"/>
                  </a:lnTo>
                  <a:lnTo>
                    <a:pt x="291" y="122"/>
                  </a:lnTo>
                  <a:lnTo>
                    <a:pt x="289" y="133"/>
                  </a:lnTo>
                  <a:lnTo>
                    <a:pt x="287" y="143"/>
                  </a:lnTo>
                  <a:lnTo>
                    <a:pt x="283" y="154"/>
                  </a:lnTo>
                  <a:lnTo>
                    <a:pt x="278" y="164"/>
                  </a:lnTo>
                  <a:lnTo>
                    <a:pt x="272" y="173"/>
                  </a:lnTo>
                  <a:lnTo>
                    <a:pt x="266" y="182"/>
                  </a:lnTo>
                  <a:lnTo>
                    <a:pt x="258" y="189"/>
                  </a:lnTo>
                  <a:lnTo>
                    <a:pt x="258" y="189"/>
                  </a:lnTo>
                  <a:lnTo>
                    <a:pt x="251" y="196"/>
                  </a:lnTo>
                  <a:lnTo>
                    <a:pt x="242" y="203"/>
                  </a:lnTo>
                  <a:lnTo>
                    <a:pt x="234" y="209"/>
                  </a:lnTo>
                  <a:lnTo>
                    <a:pt x="224" y="214"/>
                  </a:lnTo>
                  <a:lnTo>
                    <a:pt x="213" y="217"/>
                  </a:lnTo>
                  <a:lnTo>
                    <a:pt x="203" y="220"/>
                  </a:lnTo>
                  <a:lnTo>
                    <a:pt x="192" y="221"/>
                  </a:lnTo>
                  <a:lnTo>
                    <a:pt x="181" y="222"/>
                  </a:lnTo>
                  <a:lnTo>
                    <a:pt x="100" y="222"/>
                  </a:lnTo>
                  <a:lnTo>
                    <a:pt x="100" y="222"/>
                  </a:lnTo>
                  <a:lnTo>
                    <a:pt x="89" y="221"/>
                  </a:lnTo>
                  <a:lnTo>
                    <a:pt x="78" y="220"/>
                  </a:lnTo>
                  <a:lnTo>
                    <a:pt x="67" y="217"/>
                  </a:lnTo>
                  <a:lnTo>
                    <a:pt x="57" y="214"/>
                  </a:lnTo>
                  <a:lnTo>
                    <a:pt x="47" y="209"/>
                  </a:lnTo>
                  <a:lnTo>
                    <a:pt x="38" y="203"/>
                  </a:lnTo>
                  <a:lnTo>
                    <a:pt x="30" y="196"/>
                  </a:lnTo>
                  <a:lnTo>
                    <a:pt x="21" y="189"/>
                  </a:lnTo>
                  <a:lnTo>
                    <a:pt x="21" y="189"/>
                  </a:lnTo>
                  <a:lnTo>
                    <a:pt x="15" y="183"/>
                  </a:lnTo>
                  <a:lnTo>
                    <a:pt x="9" y="175"/>
                  </a:lnTo>
                  <a:lnTo>
                    <a:pt x="4" y="167"/>
                  </a:lnTo>
                  <a:lnTo>
                    <a:pt x="0" y="158"/>
                  </a:lnTo>
                  <a:lnTo>
                    <a:pt x="61" y="158"/>
                  </a:lnTo>
                  <a:lnTo>
                    <a:pt x="61" y="158"/>
                  </a:lnTo>
                  <a:lnTo>
                    <a:pt x="69" y="164"/>
                  </a:lnTo>
                  <a:lnTo>
                    <a:pt x="79" y="169"/>
                  </a:lnTo>
                  <a:lnTo>
                    <a:pt x="89" y="172"/>
                  </a:lnTo>
                  <a:lnTo>
                    <a:pt x="100" y="173"/>
                  </a:lnTo>
                  <a:lnTo>
                    <a:pt x="181" y="173"/>
                  </a:lnTo>
                  <a:lnTo>
                    <a:pt x="181" y="173"/>
                  </a:lnTo>
                  <a:lnTo>
                    <a:pt x="193" y="172"/>
                  </a:lnTo>
                  <a:lnTo>
                    <a:pt x="204" y="168"/>
                  </a:lnTo>
                  <a:lnTo>
                    <a:pt x="215" y="162"/>
                  </a:lnTo>
                  <a:lnTo>
                    <a:pt x="224" y="154"/>
                  </a:lnTo>
                  <a:lnTo>
                    <a:pt x="224" y="154"/>
                  </a:lnTo>
                  <a:lnTo>
                    <a:pt x="231" y="146"/>
                  </a:lnTo>
                  <a:lnTo>
                    <a:pt x="237" y="135"/>
                  </a:lnTo>
                  <a:lnTo>
                    <a:pt x="241" y="124"/>
                  </a:lnTo>
                  <a:lnTo>
                    <a:pt x="242" y="111"/>
                  </a:lnTo>
                  <a:lnTo>
                    <a:pt x="242" y="111"/>
                  </a:lnTo>
                  <a:lnTo>
                    <a:pt x="242" y="111"/>
                  </a:lnTo>
                  <a:lnTo>
                    <a:pt x="241" y="99"/>
                  </a:lnTo>
                  <a:lnTo>
                    <a:pt x="237" y="86"/>
                  </a:lnTo>
                  <a:lnTo>
                    <a:pt x="231" y="77"/>
                  </a:lnTo>
                  <a:lnTo>
                    <a:pt x="224" y="68"/>
                  </a:lnTo>
                  <a:lnTo>
                    <a:pt x="224" y="68"/>
                  </a:lnTo>
                  <a:lnTo>
                    <a:pt x="215" y="60"/>
                  </a:lnTo>
                  <a:lnTo>
                    <a:pt x="204" y="54"/>
                  </a:lnTo>
                  <a:lnTo>
                    <a:pt x="193" y="51"/>
                  </a:lnTo>
                  <a:lnTo>
                    <a:pt x="181" y="49"/>
                  </a:lnTo>
                  <a:lnTo>
                    <a:pt x="100" y="49"/>
                  </a:lnTo>
                  <a:lnTo>
                    <a:pt x="100" y="49"/>
                  </a:lnTo>
                  <a:lnTo>
                    <a:pt x="89" y="51"/>
                  </a:lnTo>
                  <a:lnTo>
                    <a:pt x="79" y="53"/>
                  </a:lnTo>
                  <a:lnTo>
                    <a:pt x="69" y="58"/>
                  </a:lnTo>
                  <a:lnTo>
                    <a:pt x="61" y="63"/>
                  </a:lnTo>
                  <a:lnTo>
                    <a:pt x="0" y="63"/>
                  </a:lnTo>
                  <a:lnTo>
                    <a:pt x="0" y="63"/>
                  </a:lnTo>
                  <a:lnTo>
                    <a:pt x="4" y="56"/>
                  </a:lnTo>
                  <a:lnTo>
                    <a:pt x="9" y="47"/>
                  </a:lnTo>
                  <a:lnTo>
                    <a:pt x="15" y="39"/>
                  </a:lnTo>
                  <a:lnTo>
                    <a:pt x="21" y="32"/>
                  </a:lnTo>
                  <a:lnTo>
                    <a:pt x="21" y="32"/>
                  </a:lnTo>
                  <a:lnTo>
                    <a:pt x="30" y="26"/>
                  </a:lnTo>
                  <a:lnTo>
                    <a:pt x="38" y="18"/>
                  </a:lnTo>
                  <a:lnTo>
                    <a:pt x="47" y="13"/>
                  </a:lnTo>
                  <a:lnTo>
                    <a:pt x="57" y="9"/>
                  </a:lnTo>
                  <a:lnTo>
                    <a:pt x="67" y="5"/>
                  </a:lnTo>
                  <a:lnTo>
                    <a:pt x="78" y="2"/>
                  </a:lnTo>
                  <a:lnTo>
                    <a:pt x="89" y="0"/>
                  </a:lnTo>
                  <a:lnTo>
                    <a:pt x="100" y="0"/>
                  </a:lnTo>
                  <a:lnTo>
                    <a:pt x="100" y="0"/>
                  </a:lnTo>
                  <a:close/>
                </a:path>
              </a:pathLst>
            </a:custGeom>
            <a:grpFill/>
            <a:ln w="9525">
              <a:noFill/>
              <a:roun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cs typeface="Arial"/>
              </a:endParaRPr>
            </a:p>
          </p:txBody>
        </p:sp>
        <p:sp>
          <p:nvSpPr>
            <p:cNvPr id="127" name="Freeform 21"/>
            <p:cNvSpPr/>
            <p:nvPr/>
          </p:nvSpPr>
          <p:spPr bwMode="auto">
            <a:xfrm>
              <a:off x="1601767" y="4427550"/>
              <a:ext cx="195263" cy="36513"/>
            </a:xfrm>
            <a:custGeom>
              <a:avLst/>
              <a:gdLst/>
              <a:ahLst/>
              <a:cxnLst>
                <a:cxn ang="0">
                  <a:pos x="24" y="0"/>
                </a:cxn>
                <a:cxn ang="0">
                  <a:pos x="224" y="0"/>
                </a:cxn>
                <a:cxn ang="0">
                  <a:pos x="224" y="0"/>
                </a:cxn>
                <a:cxn ang="0">
                  <a:pos x="229" y="1"/>
                </a:cxn>
                <a:cxn ang="0">
                  <a:pos x="233" y="2"/>
                </a:cxn>
                <a:cxn ang="0">
                  <a:pos x="236" y="5"/>
                </a:cxn>
                <a:cxn ang="0">
                  <a:pos x="240" y="7"/>
                </a:cxn>
                <a:cxn ang="0">
                  <a:pos x="242" y="11"/>
                </a:cxn>
                <a:cxn ang="0">
                  <a:pos x="245" y="14"/>
                </a:cxn>
                <a:cxn ang="0">
                  <a:pos x="246" y="18"/>
                </a:cxn>
                <a:cxn ang="0">
                  <a:pos x="246" y="23"/>
                </a:cxn>
                <a:cxn ang="0">
                  <a:pos x="246" y="23"/>
                </a:cxn>
                <a:cxn ang="0">
                  <a:pos x="246" y="23"/>
                </a:cxn>
                <a:cxn ang="0">
                  <a:pos x="246" y="28"/>
                </a:cxn>
                <a:cxn ang="0">
                  <a:pos x="245" y="32"/>
                </a:cxn>
                <a:cxn ang="0">
                  <a:pos x="242" y="36"/>
                </a:cxn>
                <a:cxn ang="0">
                  <a:pos x="240" y="39"/>
                </a:cxn>
                <a:cxn ang="0">
                  <a:pos x="236" y="42"/>
                </a:cxn>
                <a:cxn ang="0">
                  <a:pos x="233" y="44"/>
                </a:cxn>
                <a:cxn ang="0">
                  <a:pos x="229" y="45"/>
                </a:cxn>
                <a:cxn ang="0">
                  <a:pos x="224" y="45"/>
                </a:cxn>
                <a:cxn ang="0">
                  <a:pos x="24" y="45"/>
                </a:cxn>
                <a:cxn ang="0">
                  <a:pos x="24" y="45"/>
                </a:cxn>
                <a:cxn ang="0">
                  <a:pos x="19" y="45"/>
                </a:cxn>
                <a:cxn ang="0">
                  <a:pos x="14" y="44"/>
                </a:cxn>
                <a:cxn ang="0">
                  <a:pos x="10" y="42"/>
                </a:cxn>
                <a:cxn ang="0">
                  <a:pos x="6" y="39"/>
                </a:cxn>
                <a:cxn ang="0">
                  <a:pos x="4" y="36"/>
                </a:cxn>
                <a:cxn ang="0">
                  <a:pos x="3" y="32"/>
                </a:cxn>
                <a:cxn ang="0">
                  <a:pos x="0" y="28"/>
                </a:cxn>
                <a:cxn ang="0">
                  <a:pos x="0" y="23"/>
                </a:cxn>
                <a:cxn ang="0">
                  <a:pos x="0" y="23"/>
                </a:cxn>
                <a:cxn ang="0">
                  <a:pos x="0" y="23"/>
                </a:cxn>
                <a:cxn ang="0">
                  <a:pos x="0" y="18"/>
                </a:cxn>
                <a:cxn ang="0">
                  <a:pos x="3" y="14"/>
                </a:cxn>
                <a:cxn ang="0">
                  <a:pos x="4" y="11"/>
                </a:cxn>
                <a:cxn ang="0">
                  <a:pos x="6" y="7"/>
                </a:cxn>
                <a:cxn ang="0">
                  <a:pos x="10" y="5"/>
                </a:cxn>
                <a:cxn ang="0">
                  <a:pos x="14" y="2"/>
                </a:cxn>
                <a:cxn ang="0">
                  <a:pos x="19" y="1"/>
                </a:cxn>
                <a:cxn ang="0">
                  <a:pos x="24" y="0"/>
                </a:cxn>
                <a:cxn ang="0">
                  <a:pos x="24" y="0"/>
                </a:cxn>
              </a:cxnLst>
              <a:rect l="0" t="0" r="r" b="b"/>
              <a:pathLst>
                <a:path w="246" h="45">
                  <a:moveTo>
                    <a:pt x="24" y="0"/>
                  </a:moveTo>
                  <a:lnTo>
                    <a:pt x="224" y="0"/>
                  </a:lnTo>
                  <a:lnTo>
                    <a:pt x="224" y="0"/>
                  </a:lnTo>
                  <a:lnTo>
                    <a:pt x="229" y="1"/>
                  </a:lnTo>
                  <a:lnTo>
                    <a:pt x="233" y="2"/>
                  </a:lnTo>
                  <a:lnTo>
                    <a:pt x="236" y="5"/>
                  </a:lnTo>
                  <a:lnTo>
                    <a:pt x="240" y="7"/>
                  </a:lnTo>
                  <a:lnTo>
                    <a:pt x="242" y="11"/>
                  </a:lnTo>
                  <a:lnTo>
                    <a:pt x="245" y="14"/>
                  </a:lnTo>
                  <a:lnTo>
                    <a:pt x="246" y="18"/>
                  </a:lnTo>
                  <a:lnTo>
                    <a:pt x="246" y="23"/>
                  </a:lnTo>
                  <a:lnTo>
                    <a:pt x="246" y="23"/>
                  </a:lnTo>
                  <a:lnTo>
                    <a:pt x="246" y="23"/>
                  </a:lnTo>
                  <a:lnTo>
                    <a:pt x="246" y="28"/>
                  </a:lnTo>
                  <a:lnTo>
                    <a:pt x="245" y="32"/>
                  </a:lnTo>
                  <a:lnTo>
                    <a:pt x="242" y="36"/>
                  </a:lnTo>
                  <a:lnTo>
                    <a:pt x="240" y="39"/>
                  </a:lnTo>
                  <a:lnTo>
                    <a:pt x="236" y="42"/>
                  </a:lnTo>
                  <a:lnTo>
                    <a:pt x="233" y="44"/>
                  </a:lnTo>
                  <a:lnTo>
                    <a:pt x="229" y="45"/>
                  </a:lnTo>
                  <a:lnTo>
                    <a:pt x="224" y="45"/>
                  </a:lnTo>
                  <a:lnTo>
                    <a:pt x="24" y="45"/>
                  </a:lnTo>
                  <a:lnTo>
                    <a:pt x="24" y="45"/>
                  </a:lnTo>
                  <a:lnTo>
                    <a:pt x="19" y="45"/>
                  </a:lnTo>
                  <a:lnTo>
                    <a:pt x="14" y="44"/>
                  </a:lnTo>
                  <a:lnTo>
                    <a:pt x="10" y="42"/>
                  </a:lnTo>
                  <a:lnTo>
                    <a:pt x="6" y="39"/>
                  </a:lnTo>
                  <a:lnTo>
                    <a:pt x="4" y="36"/>
                  </a:lnTo>
                  <a:lnTo>
                    <a:pt x="3" y="32"/>
                  </a:lnTo>
                  <a:lnTo>
                    <a:pt x="0" y="28"/>
                  </a:lnTo>
                  <a:lnTo>
                    <a:pt x="0" y="23"/>
                  </a:lnTo>
                  <a:lnTo>
                    <a:pt x="0" y="23"/>
                  </a:lnTo>
                  <a:lnTo>
                    <a:pt x="0" y="23"/>
                  </a:lnTo>
                  <a:lnTo>
                    <a:pt x="0" y="18"/>
                  </a:lnTo>
                  <a:lnTo>
                    <a:pt x="3" y="14"/>
                  </a:lnTo>
                  <a:lnTo>
                    <a:pt x="4" y="11"/>
                  </a:lnTo>
                  <a:lnTo>
                    <a:pt x="6" y="7"/>
                  </a:lnTo>
                  <a:lnTo>
                    <a:pt x="10" y="5"/>
                  </a:lnTo>
                  <a:lnTo>
                    <a:pt x="14" y="2"/>
                  </a:lnTo>
                  <a:lnTo>
                    <a:pt x="19" y="1"/>
                  </a:lnTo>
                  <a:lnTo>
                    <a:pt x="24" y="0"/>
                  </a:lnTo>
                  <a:lnTo>
                    <a:pt x="24" y="0"/>
                  </a:lnTo>
                  <a:close/>
                </a:path>
              </a:pathLst>
            </a:custGeom>
            <a:grpFill/>
            <a:ln w="9525">
              <a:noFill/>
              <a:roun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cs typeface="Arial"/>
              </a:endParaRPr>
            </a:p>
          </p:txBody>
        </p:sp>
      </p:grpSp>
      <p:sp>
        <p:nvSpPr>
          <p:cNvPr id="29" name="矩形 28"/>
          <p:cNvSpPr/>
          <p:nvPr/>
        </p:nvSpPr>
        <p:spPr>
          <a:xfrm>
            <a:off x="306838" y="463483"/>
            <a:ext cx="1937385" cy="306705"/>
          </a:xfrm>
          <a:prstGeom prst="rect">
            <a:avLst/>
          </a:prstGeom>
        </p:spPr>
        <p:txBody>
          <a:bodyPr wrap="non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Calibri"/>
                <a:cs typeface="Arial"/>
              </a:rPr>
              <a:t>Order management App</a:t>
            </a:r>
            <a:endParaRPr kumimoji="0" lang="zh-CN" altLang="en-US" sz="1400" b="0" i="0" u="none" strike="noStrike" kern="0" cap="none" spc="0" normalizeH="0" baseline="0" noProof="0" dirty="0">
              <a:ln>
                <a:noFill/>
              </a:ln>
              <a:solidFill>
                <a:prstClr val="black"/>
              </a:solidFill>
              <a:effectLst/>
              <a:uLnTx/>
              <a:uFillTx/>
              <a:latin typeface="Calibri"/>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B015348-7012-473F-99E1-AAD2F16E62E7}"/>
              </a:ext>
            </a:extLst>
          </p:cNvPr>
          <p:cNvSpPr>
            <a:spLocks noGrp="1"/>
          </p:cNvSpPr>
          <p:nvPr>
            <p:ph type="title"/>
          </p:nvPr>
        </p:nvSpPr>
        <p:spPr bwMode="auto">
          <a:xfrm>
            <a:off x="179512" y="133841"/>
            <a:ext cx="8229600" cy="479970"/>
          </a:xfrm>
        </p:spPr>
        <p:txBody>
          <a:bodyPr>
            <a:noAutofit/>
          </a:bodyPr>
          <a:lstStyle/>
          <a:p>
            <a:pPr algn="l">
              <a:defRPr/>
            </a:pPr>
            <a:r>
              <a:rPr lang="en-US" altLang="zh-CN" sz="2400" dirty="0"/>
              <a:t>IPO Auditing Use Case and the Solution System Architecture</a:t>
            </a:r>
            <a:endParaRPr lang="en-US" sz="2400" dirty="0"/>
          </a:p>
        </p:txBody>
      </p:sp>
      <p:sp>
        <p:nvSpPr>
          <p:cNvPr id="5" name="矩形 4">
            <a:extLst>
              <a:ext uri="{FF2B5EF4-FFF2-40B4-BE49-F238E27FC236}">
                <a16:creationId xmlns:a16="http://schemas.microsoft.com/office/drawing/2014/main" id="{D71DC86E-0CF3-4DBC-AD4F-272F28BEA6A5}"/>
              </a:ext>
            </a:extLst>
          </p:cNvPr>
          <p:cNvSpPr/>
          <p:nvPr/>
        </p:nvSpPr>
        <p:spPr>
          <a:xfrm>
            <a:off x="133253" y="785080"/>
            <a:ext cx="2452947" cy="3954031"/>
          </a:xfrm>
          <a:prstGeom prst="rect">
            <a:avLst/>
          </a:prstGeom>
        </p:spPr>
        <p:txBody>
          <a:bodyPr wrap="square">
            <a:spAutoFit/>
          </a:bodyPr>
          <a:lstStyle/>
          <a:p>
            <a:pPr algn="ctr">
              <a:lnSpc>
                <a:spcPct val="130000"/>
              </a:lnSpc>
            </a:pPr>
            <a:r>
              <a:rPr lang="en-US" altLang="zh-CN" sz="1400" b="1" dirty="0">
                <a:solidFill>
                  <a:srgbClr val="222222"/>
                </a:solidFill>
                <a:latin typeface="Noto Sans"/>
              </a:rPr>
              <a:t>IPO auditing use case</a:t>
            </a:r>
          </a:p>
          <a:p>
            <a:pPr marL="177800" lvl="1" indent="-177800">
              <a:lnSpc>
                <a:spcPct val="130000"/>
              </a:lnSpc>
              <a:buFont typeface="Wingdings" panose="05000000000000000000" pitchFamily="2" charset="2"/>
              <a:buChar char="ü"/>
            </a:pPr>
            <a:r>
              <a:rPr lang="en-US" altLang="zh-CN" sz="1200" dirty="0">
                <a:solidFill>
                  <a:srgbClr val="222222"/>
                </a:solidFill>
                <a:latin typeface="Noto Sans"/>
              </a:rPr>
              <a:t>when a company applies for listing, underwriters and lawyers need to conduct a thorough review of the company's bank account transactions to verify the authenticity of its revenue and the compliance of its funds. </a:t>
            </a:r>
          </a:p>
          <a:p>
            <a:pPr marL="177800" lvl="1" indent="-177800">
              <a:lnSpc>
                <a:spcPct val="130000"/>
              </a:lnSpc>
              <a:buFont typeface="Wingdings" panose="05000000000000000000" pitchFamily="2" charset="2"/>
              <a:buChar char="ü"/>
            </a:pPr>
            <a:r>
              <a:rPr lang="en-US" altLang="zh-CN" sz="1200" dirty="0">
                <a:solidFill>
                  <a:srgbClr val="222222"/>
                </a:solidFill>
                <a:latin typeface="Noto Sans"/>
              </a:rPr>
              <a:t>Companies normally hold accounts in dozens of different banks, that the review process becomes extremely cumbersome. </a:t>
            </a:r>
          </a:p>
          <a:p>
            <a:pPr marL="177800" lvl="1" indent="-177800">
              <a:lnSpc>
                <a:spcPct val="130000"/>
              </a:lnSpc>
              <a:buFont typeface="Wingdings" panose="05000000000000000000" pitchFamily="2" charset="2"/>
              <a:buChar char="ü"/>
            </a:pPr>
            <a:r>
              <a:rPr lang="en-US" altLang="zh-CN" sz="1200" dirty="0">
                <a:solidFill>
                  <a:srgbClr val="222222"/>
                </a:solidFill>
                <a:latin typeface="Noto Sans"/>
              </a:rPr>
              <a:t>The digital interconnection system established by the banking alliance plays a critical role.</a:t>
            </a:r>
          </a:p>
        </p:txBody>
      </p:sp>
      <p:grpSp>
        <p:nvGrpSpPr>
          <p:cNvPr id="7" name="组合 6">
            <a:extLst>
              <a:ext uri="{FF2B5EF4-FFF2-40B4-BE49-F238E27FC236}">
                <a16:creationId xmlns:a16="http://schemas.microsoft.com/office/drawing/2014/main" id="{33ED626A-53ED-4D2B-AC76-C82CAE753328}"/>
              </a:ext>
            </a:extLst>
          </p:cNvPr>
          <p:cNvGrpSpPr/>
          <p:nvPr/>
        </p:nvGrpSpPr>
        <p:grpSpPr>
          <a:xfrm>
            <a:off x="3161585" y="1273035"/>
            <a:ext cx="5886248" cy="2808312"/>
            <a:chOff x="107504" y="555526"/>
            <a:chExt cx="8478536" cy="4145364"/>
          </a:xfrm>
        </p:grpSpPr>
        <p:sp>
          <p:nvSpPr>
            <p:cNvPr id="8" name="矩形: 圆角 7">
              <a:extLst>
                <a:ext uri="{FF2B5EF4-FFF2-40B4-BE49-F238E27FC236}">
                  <a16:creationId xmlns:a16="http://schemas.microsoft.com/office/drawing/2014/main" id="{2102C89D-8F87-49E7-9DB0-EF9B2E8EC0BE}"/>
                </a:ext>
              </a:extLst>
            </p:cNvPr>
            <p:cNvSpPr/>
            <p:nvPr/>
          </p:nvSpPr>
          <p:spPr>
            <a:xfrm>
              <a:off x="3599966" y="1322811"/>
              <a:ext cx="1779251" cy="1921120"/>
            </a:xfrm>
            <a:prstGeom prst="roundRect">
              <a:avLst/>
            </a:prstGeom>
            <a:solidFill>
              <a:srgbClr val="FFFFFF">
                <a:lumMod val="95000"/>
              </a:srgbClr>
            </a:solidFill>
            <a:ln w="28575" cap="flat" cmpd="sng" algn="ctr">
              <a:solidFill>
                <a:srgbClr val="151515"/>
              </a:solidFill>
              <a:prstDash val="sysDash"/>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666666"/>
                </a:solidFill>
                <a:effectLst/>
                <a:uLnTx/>
                <a:uFillTx/>
                <a:latin typeface="Arial" panose="020B0604020202020204"/>
                <a:ea typeface="微软雅黑"/>
                <a:cs typeface="+mn-cs"/>
              </a:endParaRPr>
            </a:p>
          </p:txBody>
        </p:sp>
        <p:cxnSp>
          <p:nvCxnSpPr>
            <p:cNvPr id="9" name="直接箭头连接符 8">
              <a:extLst>
                <a:ext uri="{FF2B5EF4-FFF2-40B4-BE49-F238E27FC236}">
                  <a16:creationId xmlns:a16="http://schemas.microsoft.com/office/drawing/2014/main" id="{17010FF3-01B7-4F97-9477-9672523CDCE2}"/>
                </a:ext>
              </a:extLst>
            </p:cNvPr>
            <p:cNvCxnSpPr>
              <a:cxnSpLocks/>
              <a:stCxn id="16" idx="3"/>
            </p:cNvCxnSpPr>
            <p:nvPr/>
          </p:nvCxnSpPr>
          <p:spPr>
            <a:xfrm>
              <a:off x="5068211" y="2120468"/>
              <a:ext cx="2032383" cy="2615"/>
            </a:xfrm>
            <a:prstGeom prst="straightConnector1">
              <a:avLst/>
            </a:prstGeom>
            <a:noFill/>
            <a:ln w="19050" cap="flat" cmpd="sng" algn="ctr">
              <a:solidFill>
                <a:srgbClr val="00B0F0"/>
              </a:solidFill>
              <a:prstDash val="sysDash"/>
              <a:miter lim="800000"/>
              <a:headEnd type="arrow" w="med" len="med"/>
              <a:tailEnd type="none" w="med" len="med"/>
            </a:ln>
            <a:effectLst/>
          </p:spPr>
        </p:cxnSp>
        <p:sp>
          <p:nvSpPr>
            <p:cNvPr id="10" name="文本框 9">
              <a:extLst>
                <a:ext uri="{FF2B5EF4-FFF2-40B4-BE49-F238E27FC236}">
                  <a16:creationId xmlns:a16="http://schemas.microsoft.com/office/drawing/2014/main" id="{BEC288C9-CE96-4F49-9E31-7C2C2D2124C8}"/>
                </a:ext>
              </a:extLst>
            </p:cNvPr>
            <p:cNvSpPr txBox="1"/>
            <p:nvPr/>
          </p:nvSpPr>
          <p:spPr>
            <a:xfrm>
              <a:off x="3597676" y="1393000"/>
              <a:ext cx="1779249" cy="522457"/>
            </a:xfrm>
            <a:prstGeom prst="rect">
              <a:avLst/>
            </a:prstGeom>
            <a:noFill/>
            <a:ln>
              <a:noFill/>
            </a:ln>
          </p:spPr>
          <p:txBody>
            <a:bodyPr vert="horz" wrap="square" rtlCol="0">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Agent Gateway</a:t>
              </a:r>
            </a:p>
            <a:p>
              <a:pPr lvl="0" algn="ctr" defTabSz="914478" rtl="0">
                <a:defRPr/>
              </a:pPr>
              <a:r>
                <a:rPr kumimoji="0" lang="zh-CN" altLang="en-US"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a:t>
              </a:r>
              <a:r>
                <a:rPr lang="en-US" altLang="zh-CN" sz="800" kern="1200" dirty="0">
                  <a:solidFill>
                    <a:srgbClr val="1D1D1A"/>
                  </a:solidFill>
                  <a:latin typeface="微软雅黑" panose="020B0503020204020204" pitchFamily="34" charset="-122"/>
                  <a:ea typeface="微软雅黑" panose="020B0503020204020204" pitchFamily="34" charset="-122"/>
                </a:rPr>
                <a:t>All-in-one Box</a:t>
              </a:r>
              <a:r>
                <a:rPr kumimoji="0" lang="zh-CN" altLang="en-US"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a:t>
              </a:r>
            </a:p>
          </p:txBody>
        </p:sp>
        <p:sp>
          <p:nvSpPr>
            <p:cNvPr id="11" name="矩形: 圆角 10">
              <a:extLst>
                <a:ext uri="{FF2B5EF4-FFF2-40B4-BE49-F238E27FC236}">
                  <a16:creationId xmlns:a16="http://schemas.microsoft.com/office/drawing/2014/main" id="{3CD66237-15D9-4EF2-AC44-C68489DE31FA}"/>
                </a:ext>
              </a:extLst>
            </p:cNvPr>
            <p:cNvSpPr/>
            <p:nvPr/>
          </p:nvSpPr>
          <p:spPr>
            <a:xfrm>
              <a:off x="7254491" y="1999316"/>
              <a:ext cx="1222300" cy="300103"/>
            </a:xfrm>
            <a:prstGeom prst="roundRect">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1D1D1A"/>
                  </a:solidFill>
                  <a:effectLst/>
                  <a:uLnTx/>
                  <a:uFillTx/>
                  <a:latin typeface="Arial" panose="020B0604020202020204"/>
                  <a:ea typeface="微软雅黑"/>
                  <a:cs typeface="+mn-cs"/>
                </a:rPr>
                <a:t>Wallet service</a:t>
              </a:r>
              <a:endParaRPr kumimoji="0" lang="zh-CN" altLang="en-US" sz="800" b="0" i="0" u="none" strike="noStrike" kern="1200" cap="none" spc="0" normalizeH="0" baseline="0" noProof="0" dirty="0">
                <a:ln>
                  <a:noFill/>
                </a:ln>
                <a:solidFill>
                  <a:srgbClr val="1D1D1A"/>
                </a:solidFill>
                <a:effectLst/>
                <a:uLnTx/>
                <a:uFillTx/>
                <a:latin typeface="Arial" panose="020B0604020202020204"/>
                <a:ea typeface="微软雅黑"/>
                <a:cs typeface="+mn-cs"/>
              </a:endParaRPr>
            </a:p>
          </p:txBody>
        </p:sp>
        <p:sp>
          <p:nvSpPr>
            <p:cNvPr id="12" name="矩形: 圆角 11">
              <a:extLst>
                <a:ext uri="{FF2B5EF4-FFF2-40B4-BE49-F238E27FC236}">
                  <a16:creationId xmlns:a16="http://schemas.microsoft.com/office/drawing/2014/main" id="{4A0690D5-CDC4-4635-A442-68B9D70B9524}"/>
                </a:ext>
              </a:extLst>
            </p:cNvPr>
            <p:cNvSpPr/>
            <p:nvPr/>
          </p:nvSpPr>
          <p:spPr>
            <a:xfrm>
              <a:off x="7100594" y="1822982"/>
              <a:ext cx="1485446" cy="1420949"/>
            </a:xfrm>
            <a:prstGeom prst="roundRect">
              <a:avLst/>
            </a:prstGeom>
            <a:noFill/>
            <a:ln w="19050" cap="flat" cmpd="sng" algn="ctr">
              <a:solidFill>
                <a:srgbClr val="151515"/>
              </a:solidFill>
              <a:prstDash val="sysDash"/>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666666"/>
                </a:solidFill>
                <a:effectLst/>
                <a:uLnTx/>
                <a:uFillTx/>
                <a:latin typeface="Arial" panose="020B0604020202020204"/>
                <a:ea typeface="微软雅黑"/>
                <a:cs typeface="+mn-cs"/>
              </a:endParaRPr>
            </a:p>
          </p:txBody>
        </p:sp>
        <p:sp>
          <p:nvSpPr>
            <p:cNvPr id="13" name="文本框 12">
              <a:extLst>
                <a:ext uri="{FF2B5EF4-FFF2-40B4-BE49-F238E27FC236}">
                  <a16:creationId xmlns:a16="http://schemas.microsoft.com/office/drawing/2014/main" id="{D5C82269-5D4E-4330-8F25-38487E22E9A2}"/>
                </a:ext>
              </a:extLst>
            </p:cNvPr>
            <p:cNvSpPr txBox="1"/>
            <p:nvPr/>
          </p:nvSpPr>
          <p:spPr>
            <a:xfrm>
              <a:off x="5376596" y="1882378"/>
              <a:ext cx="2040936" cy="681466"/>
            </a:xfrm>
            <a:prstGeom prst="rect">
              <a:avLst/>
            </a:prstGeom>
            <a:noFill/>
          </p:spPr>
          <p:txBody>
            <a:bodyPr vert="horz" wrap="square" rtlCol="0">
              <a:spAutoFit/>
            </a:bodyPr>
            <a:lstStyle/>
            <a:p>
              <a:pPr marL="285750" marR="0" lvl="0" indent="-285750"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MCP Server reg</a:t>
              </a:r>
            </a:p>
            <a:p>
              <a:pPr marL="285750" marR="0" lvl="0" indent="-285750"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Agent reg</a:t>
              </a:r>
            </a:p>
            <a:p>
              <a:pPr marL="285750" marR="0" lvl="0" indent="-285750" defTabSz="914478"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API reg</a:t>
              </a:r>
              <a:endParaRPr kumimoji="0" lang="zh-CN" altLang="en-US"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p:txBody>
        </p:sp>
        <p:sp>
          <p:nvSpPr>
            <p:cNvPr id="14" name="矩形: 圆角 13">
              <a:extLst>
                <a:ext uri="{FF2B5EF4-FFF2-40B4-BE49-F238E27FC236}">
                  <a16:creationId xmlns:a16="http://schemas.microsoft.com/office/drawing/2014/main" id="{69CC04EE-FB46-4C7A-98DF-483BDDC8DF03}"/>
                </a:ext>
              </a:extLst>
            </p:cNvPr>
            <p:cNvSpPr/>
            <p:nvPr/>
          </p:nvSpPr>
          <p:spPr>
            <a:xfrm>
              <a:off x="107504" y="2725712"/>
              <a:ext cx="654763" cy="357899"/>
            </a:xfrm>
            <a:prstGeom prst="roundRect">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1D1D1A"/>
                  </a:solidFill>
                  <a:effectLst/>
                  <a:uLnTx/>
                  <a:uFillTx/>
                  <a:latin typeface="Arial" panose="020B0604020202020204"/>
                  <a:ea typeface="微软雅黑"/>
                  <a:cs typeface="+mn-cs"/>
                </a:rPr>
                <a:t>User</a:t>
              </a:r>
              <a:endParaRPr kumimoji="0" lang="zh-CN" altLang="en-US" sz="900" b="0" i="0" u="none" strike="noStrike" kern="1200" cap="none" spc="0" normalizeH="0" baseline="0" noProof="0" dirty="0">
                <a:ln>
                  <a:noFill/>
                </a:ln>
                <a:solidFill>
                  <a:srgbClr val="1D1D1A"/>
                </a:solidFill>
                <a:effectLst/>
                <a:uLnTx/>
                <a:uFillTx/>
                <a:latin typeface="Arial" panose="020B0604020202020204"/>
                <a:ea typeface="微软雅黑"/>
                <a:cs typeface="+mn-cs"/>
              </a:endParaRPr>
            </a:p>
          </p:txBody>
        </p:sp>
        <p:sp>
          <p:nvSpPr>
            <p:cNvPr id="15" name="矩形: 圆角 14">
              <a:extLst>
                <a:ext uri="{FF2B5EF4-FFF2-40B4-BE49-F238E27FC236}">
                  <a16:creationId xmlns:a16="http://schemas.microsoft.com/office/drawing/2014/main" id="{309C3772-5E67-429E-87A5-F5FE99490BEE}"/>
                </a:ext>
              </a:extLst>
            </p:cNvPr>
            <p:cNvSpPr/>
            <p:nvPr/>
          </p:nvSpPr>
          <p:spPr>
            <a:xfrm>
              <a:off x="940290" y="2692510"/>
              <a:ext cx="1244724" cy="429094"/>
            </a:xfrm>
            <a:prstGeom prst="roundRect">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1D1D1A"/>
                  </a:solidFill>
                  <a:effectLst/>
                  <a:uLnTx/>
                  <a:uFillTx/>
                  <a:latin typeface="微软雅黑"/>
                  <a:ea typeface="微软雅黑"/>
                  <a:cs typeface="+mn-cs"/>
                </a:rPr>
                <a:t>Agent</a:t>
              </a:r>
              <a:endParaRPr kumimoji="0" lang="zh-CN" altLang="en-US" sz="900" b="0" i="0" u="none" strike="noStrike" kern="1200" cap="none" spc="0" normalizeH="0" baseline="0" noProof="0" dirty="0">
                <a:ln>
                  <a:noFill/>
                </a:ln>
                <a:solidFill>
                  <a:srgbClr val="1D1D1A"/>
                </a:solidFill>
                <a:effectLst/>
                <a:uLnTx/>
                <a:uFillTx/>
                <a:latin typeface="微软雅黑"/>
                <a:ea typeface="微软雅黑"/>
                <a:cs typeface="+mn-cs"/>
              </a:endParaRPr>
            </a:p>
          </p:txBody>
        </p:sp>
        <p:sp>
          <p:nvSpPr>
            <p:cNvPr id="16" name="矩形: 圆角 15">
              <a:extLst>
                <a:ext uri="{FF2B5EF4-FFF2-40B4-BE49-F238E27FC236}">
                  <a16:creationId xmlns:a16="http://schemas.microsoft.com/office/drawing/2014/main" id="{DEF2B9DF-EC75-4AEB-AAF0-9EF1C86639B6}"/>
                </a:ext>
              </a:extLst>
            </p:cNvPr>
            <p:cNvSpPr/>
            <p:nvPr/>
          </p:nvSpPr>
          <p:spPr>
            <a:xfrm>
              <a:off x="3862664" y="1941519"/>
              <a:ext cx="1205547" cy="357899"/>
            </a:xfrm>
            <a:prstGeom prst="roundRect">
              <a:avLst/>
            </a:prstGeom>
            <a:solidFill>
              <a:srgbClr val="CCFF99"/>
            </a:solid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1D1D1A"/>
                  </a:solidFill>
                  <a:effectLst/>
                  <a:uLnTx/>
                  <a:uFillTx/>
                  <a:latin typeface="微软雅黑"/>
                  <a:ea typeface="微软雅黑"/>
                  <a:cs typeface="+mn-cs"/>
                </a:rPr>
                <a:t>Registration</a:t>
              </a:r>
              <a:endPar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endParaRPr>
            </a:p>
          </p:txBody>
        </p:sp>
        <p:sp>
          <p:nvSpPr>
            <p:cNvPr id="17" name="矩形: 圆角 16">
              <a:extLst>
                <a:ext uri="{FF2B5EF4-FFF2-40B4-BE49-F238E27FC236}">
                  <a16:creationId xmlns:a16="http://schemas.microsoft.com/office/drawing/2014/main" id="{DC432AD4-4DE1-4E85-86BD-AD1BD7510A82}"/>
                </a:ext>
              </a:extLst>
            </p:cNvPr>
            <p:cNvSpPr/>
            <p:nvPr/>
          </p:nvSpPr>
          <p:spPr>
            <a:xfrm>
              <a:off x="3862664" y="2376283"/>
              <a:ext cx="1205547" cy="357899"/>
            </a:xfrm>
            <a:prstGeom prst="roundRect">
              <a:avLst/>
            </a:prstGeom>
            <a:solidFill>
              <a:srgbClr val="CCFF99"/>
            </a:solid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1D1D1A"/>
                  </a:solidFill>
                  <a:effectLst/>
                  <a:uLnTx/>
                  <a:uFillTx/>
                  <a:latin typeface="微软雅黑"/>
                  <a:ea typeface="微软雅黑"/>
                  <a:cs typeface="+mn-cs"/>
                </a:rPr>
                <a:t>I/O Mapping</a:t>
              </a:r>
              <a:endPar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endParaRPr>
            </a:p>
          </p:txBody>
        </p:sp>
        <p:sp>
          <p:nvSpPr>
            <p:cNvPr id="18" name="矩形: 圆角 17">
              <a:extLst>
                <a:ext uri="{FF2B5EF4-FFF2-40B4-BE49-F238E27FC236}">
                  <a16:creationId xmlns:a16="http://schemas.microsoft.com/office/drawing/2014/main" id="{7147E2CE-940B-4E32-9480-67A8D14C4267}"/>
                </a:ext>
              </a:extLst>
            </p:cNvPr>
            <p:cNvSpPr/>
            <p:nvPr/>
          </p:nvSpPr>
          <p:spPr>
            <a:xfrm>
              <a:off x="3854817" y="2821040"/>
              <a:ext cx="1205547" cy="357899"/>
            </a:xfrm>
            <a:prstGeom prst="roundRect">
              <a:avLst/>
            </a:prstGeom>
            <a:solidFill>
              <a:srgbClr val="CCFF99"/>
            </a:solid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1D1D1A"/>
                  </a:solidFill>
                  <a:effectLst/>
                  <a:uLnTx/>
                  <a:uFillTx/>
                  <a:latin typeface="微软雅黑"/>
                  <a:ea typeface="微软雅黑"/>
                  <a:cs typeface="+mn-cs"/>
                </a:rPr>
                <a:t>Compliance</a:t>
              </a:r>
              <a:endPar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endParaRPr>
            </a:p>
          </p:txBody>
        </p:sp>
        <p:sp>
          <p:nvSpPr>
            <p:cNvPr id="19" name="矩形: 圆角 18">
              <a:extLst>
                <a:ext uri="{FF2B5EF4-FFF2-40B4-BE49-F238E27FC236}">
                  <a16:creationId xmlns:a16="http://schemas.microsoft.com/office/drawing/2014/main" id="{37C9DA46-24C3-43AA-B923-BCDDDD3E7DA5}"/>
                </a:ext>
              </a:extLst>
            </p:cNvPr>
            <p:cNvSpPr/>
            <p:nvPr/>
          </p:nvSpPr>
          <p:spPr>
            <a:xfrm>
              <a:off x="2452360" y="555526"/>
              <a:ext cx="1615584" cy="357899"/>
            </a:xfrm>
            <a:prstGeom prst="roundRect">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1D1D1A"/>
                  </a:solidFill>
                  <a:effectLst/>
                  <a:uLnTx/>
                  <a:uFillTx/>
                  <a:latin typeface="微软雅黑"/>
                  <a:ea typeface="微软雅黑"/>
                  <a:cs typeface="+mn-cs"/>
                </a:rPr>
                <a:t>CA</a:t>
              </a:r>
              <a:endParaRPr kumimoji="0" lang="zh-CN" altLang="en-US" sz="900" b="0" i="0" u="none" strike="noStrike" kern="1200" cap="none" spc="0" normalizeH="0" baseline="0" noProof="0" dirty="0">
                <a:ln>
                  <a:noFill/>
                </a:ln>
                <a:solidFill>
                  <a:srgbClr val="1D1D1A"/>
                </a:solidFill>
                <a:effectLst/>
                <a:uLnTx/>
                <a:uFillTx/>
                <a:latin typeface="微软雅黑"/>
                <a:ea typeface="微软雅黑"/>
                <a:cs typeface="+mn-cs"/>
              </a:endParaRPr>
            </a:p>
          </p:txBody>
        </p:sp>
        <p:sp>
          <p:nvSpPr>
            <p:cNvPr id="20" name="矩形: 圆角 19">
              <a:extLst>
                <a:ext uri="{FF2B5EF4-FFF2-40B4-BE49-F238E27FC236}">
                  <a16:creationId xmlns:a16="http://schemas.microsoft.com/office/drawing/2014/main" id="{10B54A6E-C404-4275-BDBE-B89DF0442DAD}"/>
                </a:ext>
              </a:extLst>
            </p:cNvPr>
            <p:cNvSpPr/>
            <p:nvPr/>
          </p:nvSpPr>
          <p:spPr>
            <a:xfrm>
              <a:off x="4427985" y="555526"/>
              <a:ext cx="2232548" cy="357899"/>
            </a:xfrm>
            <a:prstGeom prst="roundRect">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1D1D1A"/>
                  </a:solidFill>
                  <a:effectLst/>
                  <a:uLnTx/>
                  <a:uFillTx/>
                  <a:latin typeface="微软雅黑"/>
                  <a:ea typeface="微软雅黑"/>
                  <a:cs typeface="+mn-cs"/>
                </a:rPr>
                <a:t>Identity Infrastructure</a:t>
              </a:r>
              <a:endParaRPr kumimoji="0" lang="zh-CN" altLang="en-US" sz="900" b="0" i="0" u="none" strike="noStrike" kern="1200" cap="none" spc="0" normalizeH="0" baseline="0" noProof="0" dirty="0">
                <a:ln>
                  <a:noFill/>
                </a:ln>
                <a:solidFill>
                  <a:srgbClr val="1D1D1A"/>
                </a:solidFill>
                <a:effectLst/>
                <a:uLnTx/>
                <a:uFillTx/>
                <a:latin typeface="微软雅黑"/>
                <a:ea typeface="微软雅黑"/>
                <a:cs typeface="+mn-cs"/>
              </a:endParaRPr>
            </a:p>
          </p:txBody>
        </p:sp>
        <p:sp>
          <p:nvSpPr>
            <p:cNvPr id="21" name="左大括号 20">
              <a:extLst>
                <a:ext uri="{FF2B5EF4-FFF2-40B4-BE49-F238E27FC236}">
                  <a16:creationId xmlns:a16="http://schemas.microsoft.com/office/drawing/2014/main" id="{07CA49DA-FC16-4BCD-B7D7-008BDBD9D48E}"/>
                </a:ext>
              </a:extLst>
            </p:cNvPr>
            <p:cNvSpPr/>
            <p:nvPr/>
          </p:nvSpPr>
          <p:spPr>
            <a:xfrm rot="16200000">
              <a:off x="4383129" y="-384739"/>
              <a:ext cx="228213" cy="2966155"/>
            </a:xfrm>
            <a:prstGeom prst="leftBrace">
              <a:avLst/>
            </a:prstGeom>
            <a:noFill/>
            <a:ln w="19050" cap="flat" cmpd="sng" algn="ctr">
              <a:solidFill>
                <a:srgbClr val="00B0F0"/>
              </a:solidFill>
              <a:prstDash val="solid"/>
              <a:miter lim="800000"/>
              <a:headEnd type="none" w="med" len="med"/>
              <a:tailEnd type="none" w="med" len="med"/>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1D1D1A"/>
                </a:solidFill>
                <a:effectLst/>
                <a:uLnTx/>
                <a:uFillTx/>
                <a:latin typeface="Arial" panose="020B0604020202020204"/>
                <a:ea typeface="微软雅黑"/>
                <a:cs typeface="+mn-cs"/>
              </a:endParaRPr>
            </a:p>
          </p:txBody>
        </p:sp>
        <p:sp>
          <p:nvSpPr>
            <p:cNvPr id="22" name="箭头: 上 21">
              <a:extLst>
                <a:ext uri="{FF2B5EF4-FFF2-40B4-BE49-F238E27FC236}">
                  <a16:creationId xmlns:a16="http://schemas.microsoft.com/office/drawing/2014/main" id="{3FB3FB5B-9E10-4439-ACCC-80EEA786AAB7}"/>
                </a:ext>
              </a:extLst>
            </p:cNvPr>
            <p:cNvSpPr/>
            <p:nvPr/>
          </p:nvSpPr>
          <p:spPr>
            <a:xfrm>
              <a:off x="7597894" y="2380304"/>
              <a:ext cx="490846" cy="355467"/>
            </a:xfrm>
            <a:prstGeom prst="upArrow">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666666"/>
                </a:solidFill>
                <a:effectLst/>
                <a:uLnTx/>
                <a:uFillTx/>
                <a:latin typeface="Arial" panose="020B0604020202020204"/>
                <a:ea typeface="微软雅黑"/>
                <a:cs typeface="+mn-cs"/>
              </a:endParaRPr>
            </a:p>
          </p:txBody>
        </p:sp>
        <p:sp>
          <p:nvSpPr>
            <p:cNvPr id="23" name="矩形: 圆角 22">
              <a:extLst>
                <a:ext uri="{FF2B5EF4-FFF2-40B4-BE49-F238E27FC236}">
                  <a16:creationId xmlns:a16="http://schemas.microsoft.com/office/drawing/2014/main" id="{01ABAF7F-1F48-492A-97A3-9EA5713A1692}"/>
                </a:ext>
              </a:extLst>
            </p:cNvPr>
            <p:cNvSpPr/>
            <p:nvPr/>
          </p:nvSpPr>
          <p:spPr>
            <a:xfrm>
              <a:off x="3346968" y="4305079"/>
              <a:ext cx="2593184" cy="300103"/>
            </a:xfrm>
            <a:prstGeom prst="roundRect">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srgbClr val="1D1D1A"/>
                  </a:solidFill>
                  <a:effectLst/>
                  <a:uLnTx/>
                  <a:uFillTx/>
                  <a:latin typeface="Arial" panose="020B0604020202020204"/>
                  <a:ea typeface="微软雅黑"/>
                  <a:cs typeface="+mn-cs"/>
                </a:rPr>
                <a:t>General Models</a:t>
              </a:r>
              <a:endParaRPr kumimoji="0" lang="zh-CN" altLang="en-US" sz="700" b="0" i="0" u="none" strike="noStrike" kern="1200" cap="none" spc="0" normalizeH="0" baseline="0" noProof="0" dirty="0">
                <a:ln>
                  <a:noFill/>
                </a:ln>
                <a:solidFill>
                  <a:srgbClr val="1D1D1A"/>
                </a:solidFill>
                <a:effectLst/>
                <a:uLnTx/>
                <a:uFillTx/>
                <a:latin typeface="Arial" panose="020B0604020202020204"/>
                <a:ea typeface="微软雅黑"/>
                <a:cs typeface="+mn-cs"/>
              </a:endParaRPr>
            </a:p>
          </p:txBody>
        </p:sp>
        <p:sp>
          <p:nvSpPr>
            <p:cNvPr id="24" name="矩形: 圆角 23">
              <a:extLst>
                <a:ext uri="{FF2B5EF4-FFF2-40B4-BE49-F238E27FC236}">
                  <a16:creationId xmlns:a16="http://schemas.microsoft.com/office/drawing/2014/main" id="{1A546CEC-B2F0-4FC0-92B3-D202A6775BA3}"/>
                </a:ext>
              </a:extLst>
            </p:cNvPr>
            <p:cNvSpPr/>
            <p:nvPr/>
          </p:nvSpPr>
          <p:spPr>
            <a:xfrm>
              <a:off x="3347275" y="3895198"/>
              <a:ext cx="1231395" cy="346045"/>
            </a:xfrm>
            <a:prstGeom prst="roundRect">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srgbClr val="1D1D1A"/>
                  </a:solidFill>
                  <a:effectLst/>
                  <a:uLnTx/>
                  <a:uFillTx/>
                  <a:latin typeface="Arial" panose="020B0604020202020204"/>
                  <a:ea typeface="微软雅黑"/>
                  <a:cs typeface="+mn-cs"/>
                </a:rPr>
                <a:t>Domain Specific Models</a:t>
              </a:r>
              <a:endParaRPr kumimoji="0" lang="zh-CN" altLang="en-US" sz="700" b="0" i="0" u="none" strike="noStrike" kern="1200" cap="none" spc="0" normalizeH="0" baseline="0" noProof="0" dirty="0">
                <a:ln>
                  <a:noFill/>
                </a:ln>
                <a:solidFill>
                  <a:srgbClr val="1D1D1A"/>
                </a:solidFill>
                <a:effectLst/>
                <a:uLnTx/>
                <a:uFillTx/>
                <a:latin typeface="Arial" panose="020B0604020202020204"/>
                <a:ea typeface="微软雅黑"/>
                <a:cs typeface="+mn-cs"/>
              </a:endParaRPr>
            </a:p>
          </p:txBody>
        </p:sp>
        <p:sp>
          <p:nvSpPr>
            <p:cNvPr id="25" name="矩形: 圆角 24">
              <a:extLst>
                <a:ext uri="{FF2B5EF4-FFF2-40B4-BE49-F238E27FC236}">
                  <a16:creationId xmlns:a16="http://schemas.microsoft.com/office/drawing/2014/main" id="{4C0B31A0-AC60-40CB-9E38-799C72836022}"/>
                </a:ext>
              </a:extLst>
            </p:cNvPr>
            <p:cNvSpPr/>
            <p:nvPr/>
          </p:nvSpPr>
          <p:spPr>
            <a:xfrm>
              <a:off x="4685043" y="3894530"/>
              <a:ext cx="1231395" cy="346713"/>
            </a:xfrm>
            <a:prstGeom prst="roundRect">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1D1D1A"/>
                  </a:solidFill>
                  <a:effectLst/>
                  <a:uLnTx/>
                  <a:uFillTx/>
                  <a:latin typeface="Arial" panose="020B0604020202020204"/>
                  <a:ea typeface="微软雅黑"/>
                  <a:cs typeface="+mn-cs"/>
                </a:rPr>
                <a:t>Private Models</a:t>
              </a:r>
              <a:endParaRPr kumimoji="0" lang="zh-CN" altLang="en-US" sz="800" b="0" i="0" u="none" strike="noStrike" kern="1200" cap="none" spc="0" normalizeH="0" baseline="0" noProof="0" dirty="0">
                <a:ln>
                  <a:noFill/>
                </a:ln>
                <a:solidFill>
                  <a:srgbClr val="1D1D1A"/>
                </a:solidFill>
                <a:effectLst/>
                <a:uLnTx/>
                <a:uFillTx/>
                <a:latin typeface="Arial" panose="020B0604020202020204"/>
                <a:ea typeface="微软雅黑"/>
                <a:cs typeface="+mn-cs"/>
              </a:endParaRPr>
            </a:p>
          </p:txBody>
        </p:sp>
        <p:sp>
          <p:nvSpPr>
            <p:cNvPr id="26" name="文本框 25">
              <a:extLst>
                <a:ext uri="{FF2B5EF4-FFF2-40B4-BE49-F238E27FC236}">
                  <a16:creationId xmlns:a16="http://schemas.microsoft.com/office/drawing/2014/main" id="{C10CC9F4-5B40-4BD4-AC6B-B2242E60B0A6}"/>
                </a:ext>
              </a:extLst>
            </p:cNvPr>
            <p:cNvSpPr txBox="1"/>
            <p:nvPr/>
          </p:nvSpPr>
          <p:spPr>
            <a:xfrm>
              <a:off x="2915020" y="3980841"/>
              <a:ext cx="500323" cy="545173"/>
            </a:xfrm>
            <a:prstGeom prst="rect">
              <a:avLst/>
            </a:prstGeom>
            <a:noFill/>
            <a:ln>
              <a:noFill/>
            </a:ln>
          </p:spPr>
          <p:txBody>
            <a:bodyPr vert="horz" wrap="square" rtlCol="0">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LLM</a:t>
              </a:r>
              <a:endParaRPr kumimoji="0" lang="zh-CN" altLang="en-US" sz="9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p:txBody>
        </p:sp>
        <p:sp>
          <p:nvSpPr>
            <p:cNvPr id="27" name="矩形: 圆角 26">
              <a:extLst>
                <a:ext uri="{FF2B5EF4-FFF2-40B4-BE49-F238E27FC236}">
                  <a16:creationId xmlns:a16="http://schemas.microsoft.com/office/drawing/2014/main" id="{788D7AD5-A366-4660-BFDA-A9E5B2698844}"/>
                </a:ext>
              </a:extLst>
            </p:cNvPr>
            <p:cNvSpPr/>
            <p:nvPr/>
          </p:nvSpPr>
          <p:spPr>
            <a:xfrm>
              <a:off x="2915020" y="3831361"/>
              <a:ext cx="3190403" cy="869529"/>
            </a:xfrm>
            <a:prstGeom prst="roundRect">
              <a:avLst/>
            </a:prstGeom>
            <a:noFill/>
            <a:ln w="19050" cap="flat" cmpd="sng" algn="ctr">
              <a:solidFill>
                <a:srgbClr val="151515"/>
              </a:solidFill>
              <a:prstDash val="sysDash"/>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666666"/>
                </a:solidFill>
                <a:effectLst/>
                <a:uLnTx/>
                <a:uFillTx/>
                <a:latin typeface="Arial" panose="020B0604020202020204"/>
                <a:ea typeface="微软雅黑"/>
                <a:cs typeface="+mn-cs"/>
              </a:endParaRPr>
            </a:p>
          </p:txBody>
        </p:sp>
        <p:cxnSp>
          <p:nvCxnSpPr>
            <p:cNvPr id="28" name="连接符: 肘形 27">
              <a:extLst>
                <a:ext uri="{FF2B5EF4-FFF2-40B4-BE49-F238E27FC236}">
                  <a16:creationId xmlns:a16="http://schemas.microsoft.com/office/drawing/2014/main" id="{EFE01795-91C7-43AB-957A-47C5CE3F2B4E}"/>
                </a:ext>
              </a:extLst>
            </p:cNvPr>
            <p:cNvCxnSpPr>
              <a:stCxn id="15" idx="0"/>
              <a:endCxn id="16" idx="1"/>
            </p:cNvCxnSpPr>
            <p:nvPr/>
          </p:nvCxnSpPr>
          <p:spPr>
            <a:xfrm rot="5400000" flipH="1" flipV="1">
              <a:off x="2426637" y="1256483"/>
              <a:ext cx="572041" cy="2300012"/>
            </a:xfrm>
            <a:prstGeom prst="bentConnector2">
              <a:avLst/>
            </a:prstGeom>
            <a:noFill/>
            <a:ln w="19050" cap="flat" cmpd="sng" algn="ctr">
              <a:solidFill>
                <a:srgbClr val="00B0F0"/>
              </a:solidFill>
              <a:prstDash val="sysDash"/>
              <a:miter lim="800000"/>
              <a:headEnd type="none" w="med" len="med"/>
              <a:tailEnd type="arrow" w="med" len="med"/>
            </a:ln>
            <a:effectLst/>
          </p:spPr>
        </p:cxnSp>
        <p:sp>
          <p:nvSpPr>
            <p:cNvPr id="29" name="文本框 28">
              <a:extLst>
                <a:ext uri="{FF2B5EF4-FFF2-40B4-BE49-F238E27FC236}">
                  <a16:creationId xmlns:a16="http://schemas.microsoft.com/office/drawing/2014/main" id="{5F96D9F6-C4EE-47C2-A927-04D8C89E14B7}"/>
                </a:ext>
              </a:extLst>
            </p:cNvPr>
            <p:cNvSpPr txBox="1"/>
            <p:nvPr/>
          </p:nvSpPr>
          <p:spPr>
            <a:xfrm>
              <a:off x="1901734" y="1889842"/>
              <a:ext cx="1110178" cy="454311"/>
            </a:xfrm>
            <a:prstGeom prst="rect">
              <a:avLst/>
            </a:prstGeom>
            <a:noFill/>
            <a:ln>
              <a:noFill/>
            </a:ln>
          </p:spPr>
          <p:txBody>
            <a:bodyPr vert="horz" wrap="square" rtlCol="0">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Acquiring service list</a:t>
              </a:r>
              <a:endParaRPr kumimoji="0" lang="zh-CN" altLang="en-US" sz="7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p:txBody>
        </p:sp>
        <p:cxnSp>
          <p:nvCxnSpPr>
            <p:cNvPr id="30" name="直接箭头连接符 29">
              <a:extLst>
                <a:ext uri="{FF2B5EF4-FFF2-40B4-BE49-F238E27FC236}">
                  <a16:creationId xmlns:a16="http://schemas.microsoft.com/office/drawing/2014/main" id="{73EA2F03-1715-4192-B66F-FED017EF3444}"/>
                </a:ext>
              </a:extLst>
            </p:cNvPr>
            <p:cNvCxnSpPr>
              <a:stCxn id="15" idx="3"/>
            </p:cNvCxnSpPr>
            <p:nvPr/>
          </p:nvCxnSpPr>
          <p:spPr>
            <a:xfrm>
              <a:off x="2185014" y="2907057"/>
              <a:ext cx="1414952" cy="0"/>
            </a:xfrm>
            <a:prstGeom prst="straightConnector1">
              <a:avLst/>
            </a:prstGeom>
            <a:noFill/>
            <a:ln w="19050" cap="flat" cmpd="sng" algn="ctr">
              <a:solidFill>
                <a:srgbClr val="00B0F0"/>
              </a:solidFill>
              <a:prstDash val="solid"/>
              <a:miter lim="800000"/>
              <a:headEnd type="none" w="med" len="med"/>
              <a:tailEnd type="arrow" w="med" len="med"/>
            </a:ln>
            <a:effectLst/>
          </p:spPr>
        </p:cxnSp>
        <p:sp>
          <p:nvSpPr>
            <p:cNvPr id="31" name="文本框 30">
              <a:extLst>
                <a:ext uri="{FF2B5EF4-FFF2-40B4-BE49-F238E27FC236}">
                  <a16:creationId xmlns:a16="http://schemas.microsoft.com/office/drawing/2014/main" id="{AE34D803-ED14-4806-87B3-CDE9455B0521}"/>
                </a:ext>
              </a:extLst>
            </p:cNvPr>
            <p:cNvSpPr txBox="1"/>
            <p:nvPr/>
          </p:nvSpPr>
          <p:spPr>
            <a:xfrm>
              <a:off x="2137106" y="2685823"/>
              <a:ext cx="1501022" cy="408880"/>
            </a:xfrm>
            <a:prstGeom prst="rect">
              <a:avLst/>
            </a:prstGeom>
            <a:noFill/>
          </p:spPr>
          <p:txBody>
            <a:bodyPr vert="horz" wrap="square" rtlCol="0">
              <a:spAutoFit/>
            </a:bodyPr>
            <a:lstStyle/>
            <a:p>
              <a:pPr marL="171450" marR="0" lvl="0" indent="-171450"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6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Compliance </a:t>
              </a:r>
              <a:r>
                <a:rPr kumimoji="0" lang="en-US" altLang="zh-CN" sz="600" b="0" i="0" u="none" strike="noStrike" kern="120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rPr>
                <a:t>reqs</a:t>
              </a:r>
              <a:endParaRPr kumimoji="0" lang="en-US" altLang="zh-CN" sz="6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a:p>
              <a:pPr marL="171450" marR="0" lvl="0" indent="-171450"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6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Inter-orgs </a:t>
              </a:r>
              <a:r>
                <a:rPr kumimoji="0" lang="en-US" altLang="zh-CN" sz="600" b="0" i="0" u="none" strike="noStrike" kern="120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rPr>
                <a:t>reqs</a:t>
              </a:r>
              <a:endParaRPr kumimoji="0" lang="zh-CN" altLang="en-US"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p:txBody>
        </p:sp>
        <p:cxnSp>
          <p:nvCxnSpPr>
            <p:cNvPr id="32" name="直接箭头连接符 31">
              <a:extLst>
                <a:ext uri="{FF2B5EF4-FFF2-40B4-BE49-F238E27FC236}">
                  <a16:creationId xmlns:a16="http://schemas.microsoft.com/office/drawing/2014/main" id="{AF2E2218-2E79-4B24-B948-7902DB34B94F}"/>
                </a:ext>
              </a:extLst>
            </p:cNvPr>
            <p:cNvCxnSpPr>
              <a:cxnSpLocks/>
            </p:cNvCxnSpPr>
            <p:nvPr/>
          </p:nvCxnSpPr>
          <p:spPr>
            <a:xfrm>
              <a:off x="5376925" y="2907057"/>
              <a:ext cx="1723668" cy="0"/>
            </a:xfrm>
            <a:prstGeom prst="straightConnector1">
              <a:avLst/>
            </a:prstGeom>
            <a:noFill/>
            <a:ln w="19050" cap="flat" cmpd="sng" algn="ctr">
              <a:solidFill>
                <a:srgbClr val="00B0F0"/>
              </a:solidFill>
              <a:prstDash val="solid"/>
              <a:miter lim="800000"/>
              <a:headEnd type="none" w="med" len="med"/>
              <a:tailEnd type="arrow" w="med" len="med"/>
            </a:ln>
            <a:effectLst/>
          </p:spPr>
        </p:cxnSp>
        <p:cxnSp>
          <p:nvCxnSpPr>
            <p:cNvPr id="33" name="连接符: 肘形 32">
              <a:extLst>
                <a:ext uri="{FF2B5EF4-FFF2-40B4-BE49-F238E27FC236}">
                  <a16:creationId xmlns:a16="http://schemas.microsoft.com/office/drawing/2014/main" id="{76F800C2-FCBC-4D09-9EA2-B7F3A933F27E}"/>
                </a:ext>
              </a:extLst>
            </p:cNvPr>
            <p:cNvCxnSpPr>
              <a:cxnSpLocks/>
              <a:stCxn id="15" idx="2"/>
              <a:endCxn id="12" idx="2"/>
            </p:cNvCxnSpPr>
            <p:nvPr/>
          </p:nvCxnSpPr>
          <p:spPr>
            <a:xfrm rot="16200000" flipH="1">
              <a:off x="4641821" y="42434"/>
              <a:ext cx="122327" cy="6280665"/>
            </a:xfrm>
            <a:prstGeom prst="bentConnector3">
              <a:avLst>
                <a:gd name="adj1" fmla="val 326456"/>
              </a:avLst>
            </a:prstGeom>
            <a:noFill/>
            <a:ln w="19050" cap="flat" cmpd="sng" algn="ctr">
              <a:solidFill>
                <a:srgbClr val="1D1D1A"/>
              </a:solidFill>
              <a:prstDash val="sysDash"/>
              <a:miter lim="800000"/>
              <a:tailEnd type="triangle"/>
            </a:ln>
            <a:effectLst/>
          </p:spPr>
        </p:cxnSp>
        <p:sp>
          <p:nvSpPr>
            <p:cNvPr id="34" name="箭头: 上 33">
              <a:extLst>
                <a:ext uri="{FF2B5EF4-FFF2-40B4-BE49-F238E27FC236}">
                  <a16:creationId xmlns:a16="http://schemas.microsoft.com/office/drawing/2014/main" id="{8E625DFF-7079-4773-9C23-4A96602AABEE}"/>
                </a:ext>
              </a:extLst>
            </p:cNvPr>
            <p:cNvSpPr/>
            <p:nvPr/>
          </p:nvSpPr>
          <p:spPr>
            <a:xfrm>
              <a:off x="4685043" y="3278855"/>
              <a:ext cx="490846" cy="531499"/>
            </a:xfrm>
            <a:prstGeom prst="upArrow">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666666"/>
                </a:solidFill>
                <a:effectLst/>
                <a:uLnTx/>
                <a:uFillTx/>
                <a:latin typeface="Arial" panose="020B0604020202020204"/>
                <a:ea typeface="微软雅黑"/>
                <a:cs typeface="+mn-cs"/>
              </a:endParaRPr>
            </a:p>
          </p:txBody>
        </p:sp>
        <p:sp>
          <p:nvSpPr>
            <p:cNvPr id="35" name="箭头: 上 34">
              <a:extLst>
                <a:ext uri="{FF2B5EF4-FFF2-40B4-BE49-F238E27FC236}">
                  <a16:creationId xmlns:a16="http://schemas.microsoft.com/office/drawing/2014/main" id="{188725ED-3934-47C8-8E18-372573F4F78F}"/>
                </a:ext>
              </a:extLst>
            </p:cNvPr>
            <p:cNvSpPr/>
            <p:nvPr/>
          </p:nvSpPr>
          <p:spPr>
            <a:xfrm rot="10800000">
              <a:off x="3711597" y="3278855"/>
              <a:ext cx="490846" cy="531499"/>
            </a:xfrm>
            <a:prstGeom prst="upArrow">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666666"/>
                </a:solidFill>
                <a:effectLst/>
                <a:uLnTx/>
                <a:uFillTx/>
                <a:latin typeface="Arial" panose="020B0604020202020204"/>
                <a:ea typeface="微软雅黑"/>
                <a:cs typeface="+mn-cs"/>
              </a:endParaRPr>
            </a:p>
          </p:txBody>
        </p:sp>
        <p:sp>
          <p:nvSpPr>
            <p:cNvPr id="36" name="文本框 35">
              <a:extLst>
                <a:ext uri="{FF2B5EF4-FFF2-40B4-BE49-F238E27FC236}">
                  <a16:creationId xmlns:a16="http://schemas.microsoft.com/office/drawing/2014/main" id="{344E43A5-5D03-4150-8975-5B7CDC488A6C}"/>
                </a:ext>
              </a:extLst>
            </p:cNvPr>
            <p:cNvSpPr txBox="1"/>
            <p:nvPr/>
          </p:nvSpPr>
          <p:spPr>
            <a:xfrm>
              <a:off x="1761532" y="3301978"/>
              <a:ext cx="1381657" cy="454311"/>
            </a:xfrm>
            <a:prstGeom prst="rect">
              <a:avLst/>
            </a:prstGeom>
            <a:noFill/>
            <a:ln>
              <a:noFill/>
            </a:ln>
          </p:spPr>
          <p:txBody>
            <a:bodyPr vert="horz" wrap="square" rtlCol="0">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Point-to-Point</a:t>
              </a:r>
            </a:p>
            <a:p>
              <a:pPr marL="0" marR="0" lvl="0" indent="0" algn="ctr" defTabSz="914478" rtl="0" eaLnBrk="1" fontAlgn="auto" latinLnBrk="0" hangingPunct="1">
                <a:lnSpc>
                  <a:spcPct val="100000"/>
                </a:lnSpc>
                <a:spcBef>
                  <a:spcPts val="0"/>
                </a:spcBef>
                <a:spcAft>
                  <a:spcPts val="0"/>
                </a:spcAft>
                <a:buClrTx/>
                <a:buSzTx/>
                <a:buFontTx/>
                <a:buNone/>
                <a:tabLst/>
                <a:defRPr/>
              </a:pPr>
              <a:r>
                <a:rPr lang="en-US" altLang="zh-CN" sz="700" kern="1200" dirty="0">
                  <a:solidFill>
                    <a:srgbClr val="1D1D1A"/>
                  </a:solidFill>
                  <a:latin typeface="微软雅黑" panose="020B0503020204020204" pitchFamily="34" charset="-122"/>
                  <a:ea typeface="微软雅黑" panose="020B0503020204020204" pitchFamily="34" charset="-122"/>
                </a:rPr>
                <a:t>direct interaction</a:t>
              </a:r>
              <a:endParaRPr kumimoji="0" lang="zh-CN" altLang="en-US" sz="7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B1A9D19B-68E2-4416-B763-C27FBDF11EFF}"/>
                </a:ext>
              </a:extLst>
            </p:cNvPr>
            <p:cNvSpPr txBox="1"/>
            <p:nvPr/>
          </p:nvSpPr>
          <p:spPr>
            <a:xfrm>
              <a:off x="3583626" y="3488079"/>
              <a:ext cx="746784" cy="295302"/>
            </a:xfrm>
            <a:prstGeom prst="rect">
              <a:avLst/>
            </a:prstGeom>
            <a:noFill/>
            <a:ln>
              <a:noFill/>
            </a:ln>
          </p:spPr>
          <p:txBody>
            <a:bodyPr vert="horz" wrap="square" rtlCol="0">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prompt</a:t>
              </a:r>
              <a:endParaRPr kumimoji="0" lang="zh-CN" altLang="en-US" sz="7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CB4CA585-7AC0-4AA9-A0D6-90DAF73CA642}"/>
                </a:ext>
              </a:extLst>
            </p:cNvPr>
            <p:cNvSpPr txBox="1"/>
            <p:nvPr/>
          </p:nvSpPr>
          <p:spPr>
            <a:xfrm>
              <a:off x="4544487" y="3476878"/>
              <a:ext cx="815032" cy="295302"/>
            </a:xfrm>
            <a:prstGeom prst="rect">
              <a:avLst/>
            </a:prstGeom>
            <a:noFill/>
            <a:ln>
              <a:noFill/>
            </a:ln>
          </p:spPr>
          <p:txBody>
            <a:bodyPr vert="horz" wrap="square" rtlCol="0">
              <a:spAutoFit/>
            </a:bodyP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tokens</a:t>
              </a:r>
              <a:endParaRPr kumimoji="0" lang="zh-CN" altLang="en-US" sz="7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p:txBody>
        </p:sp>
        <p:cxnSp>
          <p:nvCxnSpPr>
            <p:cNvPr id="39" name="直接箭头连接符 38">
              <a:extLst>
                <a:ext uri="{FF2B5EF4-FFF2-40B4-BE49-F238E27FC236}">
                  <a16:creationId xmlns:a16="http://schemas.microsoft.com/office/drawing/2014/main" id="{F7FCA221-4781-4CE0-B1DF-21E8FE4C1EB5}"/>
                </a:ext>
              </a:extLst>
            </p:cNvPr>
            <p:cNvCxnSpPr>
              <a:stCxn id="14" idx="3"/>
              <a:endCxn id="15" idx="1"/>
            </p:cNvCxnSpPr>
            <p:nvPr/>
          </p:nvCxnSpPr>
          <p:spPr>
            <a:xfrm>
              <a:off x="762267" y="2904662"/>
              <a:ext cx="178023" cy="2395"/>
            </a:xfrm>
            <a:prstGeom prst="straightConnector1">
              <a:avLst/>
            </a:prstGeom>
            <a:noFill/>
            <a:ln w="6350" cap="flat" cmpd="sng" algn="ctr">
              <a:solidFill>
                <a:srgbClr val="DDDDDD">
                  <a:lumMod val="75000"/>
                </a:srgbClr>
              </a:solidFill>
              <a:prstDash val="solid"/>
              <a:miter lim="800000"/>
              <a:tailEnd type="triangle"/>
            </a:ln>
            <a:effectLst/>
          </p:spPr>
        </p:cxnSp>
        <p:sp>
          <p:nvSpPr>
            <p:cNvPr id="40" name="矩形: 圆角 39">
              <a:extLst>
                <a:ext uri="{FF2B5EF4-FFF2-40B4-BE49-F238E27FC236}">
                  <a16:creationId xmlns:a16="http://schemas.microsoft.com/office/drawing/2014/main" id="{73FD0B22-3A11-4333-91C4-7D86F6DE2601}"/>
                </a:ext>
              </a:extLst>
            </p:cNvPr>
            <p:cNvSpPr/>
            <p:nvPr/>
          </p:nvSpPr>
          <p:spPr>
            <a:xfrm>
              <a:off x="7185046" y="2816655"/>
              <a:ext cx="1361187" cy="300103"/>
            </a:xfrm>
            <a:prstGeom prst="roundRect">
              <a:avLst/>
            </a:prstGeom>
            <a:noFill/>
            <a:ln w="12700" cap="flat" cmpd="sng" algn="ctr">
              <a:solidFill>
                <a:srgbClr val="151515"/>
              </a:solidFill>
              <a:prstDash val="solid"/>
              <a:miter lim="800000"/>
            </a:ln>
            <a:effectLst/>
          </p:spPr>
          <p:txBody>
            <a:bodyPr rtlCol="0" anchor="ctr"/>
            <a:lstStyle/>
            <a:p>
              <a:pPr marL="0" marR="0" lvl="0" indent="0" algn="ctr" defTabSz="914478"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srgbClr val="1D1D1A"/>
                  </a:solidFill>
                  <a:effectLst/>
                  <a:uLnTx/>
                  <a:uFillTx/>
                  <a:latin typeface="Arial" panose="020B0604020202020204"/>
                  <a:ea typeface="微软雅黑"/>
                  <a:cs typeface="+mn-cs"/>
                </a:rPr>
                <a:t>Account service</a:t>
              </a:r>
              <a:endParaRPr kumimoji="0" lang="zh-CN" altLang="en-US" sz="800" b="0" i="0" u="none" strike="noStrike" kern="1200" cap="none" spc="0" normalizeH="0" baseline="0" noProof="0" dirty="0">
                <a:ln>
                  <a:noFill/>
                </a:ln>
                <a:solidFill>
                  <a:srgbClr val="1D1D1A"/>
                </a:solidFill>
                <a:effectLst/>
                <a:uLnTx/>
                <a:uFillTx/>
                <a:latin typeface="Arial" panose="020B0604020202020204"/>
                <a:ea typeface="微软雅黑"/>
                <a:cs typeface="+mn-cs"/>
              </a:endParaRPr>
            </a:p>
          </p:txBody>
        </p:sp>
        <p:sp>
          <p:nvSpPr>
            <p:cNvPr id="41" name="文本框 40">
              <a:extLst>
                <a:ext uri="{FF2B5EF4-FFF2-40B4-BE49-F238E27FC236}">
                  <a16:creationId xmlns:a16="http://schemas.microsoft.com/office/drawing/2014/main" id="{711ADC73-0D58-4870-9186-9510D451B687}"/>
                </a:ext>
              </a:extLst>
            </p:cNvPr>
            <p:cNvSpPr txBox="1"/>
            <p:nvPr/>
          </p:nvSpPr>
          <p:spPr>
            <a:xfrm>
              <a:off x="5503476" y="2680906"/>
              <a:ext cx="1501022" cy="408880"/>
            </a:xfrm>
            <a:prstGeom prst="rect">
              <a:avLst/>
            </a:prstGeom>
            <a:noFill/>
          </p:spPr>
          <p:txBody>
            <a:bodyPr vert="horz" wrap="square" rtlCol="0">
              <a:spAutoFit/>
            </a:bodyPr>
            <a:lstStyle/>
            <a:p>
              <a:pPr marL="171450" marR="0" lvl="0" indent="-171450"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6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Compliance </a:t>
              </a:r>
              <a:r>
                <a:rPr kumimoji="0" lang="en-US" altLang="zh-CN" sz="600" b="0" i="0" u="none" strike="noStrike" kern="120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rPr>
                <a:t>reqs</a:t>
              </a:r>
              <a:endParaRPr kumimoji="0" lang="en-US" altLang="zh-CN" sz="6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a:p>
              <a:pPr marL="171450" marR="0" lvl="0" indent="-171450" defTabSz="91447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6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rPr>
                <a:t>Inter-orgs </a:t>
              </a:r>
              <a:r>
                <a:rPr kumimoji="0" lang="en-US" altLang="zh-CN" sz="600" b="0" i="0" u="none" strike="noStrike" kern="120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rPr>
                <a:t>reqs</a:t>
              </a:r>
              <a:endParaRPr kumimoji="0" lang="zh-CN" altLang="en-US" sz="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endParaRPr>
            </a:p>
          </p:txBody>
        </p:sp>
      </p:grpSp>
      <p:sp>
        <p:nvSpPr>
          <p:cNvPr id="42" name="箭头: 右 41">
            <a:extLst>
              <a:ext uri="{FF2B5EF4-FFF2-40B4-BE49-F238E27FC236}">
                <a16:creationId xmlns:a16="http://schemas.microsoft.com/office/drawing/2014/main" id="{C8BF2C71-54CC-4BE1-8F4D-9E8DC1FB7740}"/>
              </a:ext>
            </a:extLst>
          </p:cNvPr>
          <p:cNvSpPr/>
          <p:nvPr/>
        </p:nvSpPr>
        <p:spPr>
          <a:xfrm>
            <a:off x="2644831" y="2236808"/>
            <a:ext cx="320038" cy="876119"/>
          </a:xfrm>
          <a:prstGeom prst="rightArrow">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F61D5CDB-25F2-47FF-A2AF-86B25AE68EDF}"/>
              </a:ext>
            </a:extLst>
          </p:cNvPr>
          <p:cNvSpPr/>
          <p:nvPr/>
        </p:nvSpPr>
        <p:spPr>
          <a:xfrm>
            <a:off x="3352736" y="4252622"/>
            <a:ext cx="5730895" cy="646331"/>
          </a:xfrm>
          <a:prstGeom prst="rect">
            <a:avLst/>
          </a:prstGeom>
        </p:spPr>
        <p:txBody>
          <a:bodyPr wrap="square">
            <a:spAutoFit/>
          </a:bodyPr>
          <a:lstStyle/>
          <a:p>
            <a:pPr marL="171450" lvl="1" indent="-171450">
              <a:buFont typeface="Arial" panose="020B0604020202020204" pitchFamily="34" charset="0"/>
              <a:buChar char="•"/>
            </a:pPr>
            <a:r>
              <a:rPr lang="en-US" altLang="zh-CN" sz="1200" dirty="0">
                <a:solidFill>
                  <a:srgbClr val="222222"/>
                </a:solidFill>
                <a:latin typeface="Noto Sans"/>
              </a:rPr>
              <a:t>Designed based on the IPO auditing use case, but also has some degree of versality</a:t>
            </a:r>
          </a:p>
          <a:p>
            <a:pPr marL="171450" lvl="1" indent="-171450">
              <a:buFont typeface="Arial" panose="020B0604020202020204" pitchFamily="34" charset="0"/>
              <a:buChar char="•"/>
            </a:pPr>
            <a:r>
              <a:rPr lang="en-US" altLang="zh-CN" sz="1200" dirty="0">
                <a:solidFill>
                  <a:srgbClr val="222222"/>
                </a:solidFill>
                <a:latin typeface="Noto Sans"/>
              </a:rPr>
              <a:t>Agent Gateway as the core components, providing all-in-one service including networking/computing/security</a:t>
            </a:r>
          </a:p>
        </p:txBody>
      </p:sp>
      <p:sp>
        <p:nvSpPr>
          <p:cNvPr id="44" name="矩形 43">
            <a:extLst>
              <a:ext uri="{FF2B5EF4-FFF2-40B4-BE49-F238E27FC236}">
                <a16:creationId xmlns:a16="http://schemas.microsoft.com/office/drawing/2014/main" id="{51216479-E0F6-4CD5-BE1A-14F25B826946}"/>
              </a:ext>
            </a:extLst>
          </p:cNvPr>
          <p:cNvSpPr/>
          <p:nvPr/>
        </p:nvSpPr>
        <p:spPr>
          <a:xfrm>
            <a:off x="3594006" y="785080"/>
            <a:ext cx="4926081" cy="349776"/>
          </a:xfrm>
          <a:prstGeom prst="rect">
            <a:avLst/>
          </a:prstGeom>
        </p:spPr>
        <p:txBody>
          <a:bodyPr wrap="square">
            <a:spAutoFit/>
          </a:bodyPr>
          <a:lstStyle/>
          <a:p>
            <a:pPr algn="ctr">
              <a:lnSpc>
                <a:spcPct val="130000"/>
              </a:lnSpc>
            </a:pPr>
            <a:r>
              <a:rPr lang="en-US" altLang="zh-CN" sz="1400" b="1" dirty="0" err="1">
                <a:solidFill>
                  <a:srgbClr val="222222"/>
                </a:solidFill>
                <a:latin typeface="Noto Sans"/>
              </a:rPr>
              <a:t>PoC</a:t>
            </a:r>
            <a:r>
              <a:rPr lang="en-US" altLang="zh-CN" sz="1400" b="1" dirty="0">
                <a:solidFill>
                  <a:srgbClr val="222222"/>
                </a:solidFill>
                <a:latin typeface="Noto Sans"/>
              </a:rPr>
              <a:t> System Architecture</a:t>
            </a:r>
          </a:p>
        </p:txBody>
      </p:sp>
    </p:spTree>
    <p:extLst>
      <p:ext uri="{BB962C8B-B14F-4D97-AF65-F5344CB8AC3E}">
        <p14:creationId xmlns:p14="http://schemas.microsoft.com/office/powerpoint/2010/main" val="1801734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8" name="矩形: 圆角 1057">
            <a:extLst>
              <a:ext uri="{FF2B5EF4-FFF2-40B4-BE49-F238E27FC236}">
                <a16:creationId xmlns:a16="http://schemas.microsoft.com/office/drawing/2014/main" id="{C4C8E36A-DBD7-45AA-A40C-A5B789D4DC55}"/>
              </a:ext>
            </a:extLst>
          </p:cNvPr>
          <p:cNvSpPr/>
          <p:nvPr/>
        </p:nvSpPr>
        <p:spPr>
          <a:xfrm>
            <a:off x="1016553" y="1088848"/>
            <a:ext cx="404064" cy="354916"/>
          </a:xfrm>
          <a:prstGeom prst="roundRect">
            <a:avLst>
              <a:gd name="adj" fmla="val 14591"/>
            </a:avLst>
          </a:prstGeom>
          <a:solidFill>
            <a:srgbClr val="FCC800">
              <a:lumMod val="20000"/>
              <a:lumOff val="80000"/>
            </a:srgbClr>
          </a:solidFill>
          <a:ln w="12700" cap="flat" cmpd="sng" algn="ctr">
            <a:solidFill>
              <a:srgbClr val="0070C0"/>
            </a:solidFill>
            <a:prstDash val="dash"/>
            <a:miter lim="800000"/>
          </a:ln>
          <a:effectLst/>
        </p:spPr>
        <p:txBody>
          <a:bodyPr rtlCol="0" anchor="ctr"/>
          <a:lstStyle/>
          <a:p>
            <a:pPr algn="ctr" defTabSz="685050">
              <a:defRPr/>
            </a:pPr>
            <a:endParaRPr lang="zh-CN" altLang="en-US" sz="1050">
              <a:solidFill>
                <a:prstClr val="white"/>
              </a:solidFill>
              <a:latin typeface="微软雅黑" panose="020B0503020204020204" pitchFamily="34" charset="-122"/>
              <a:ea typeface="微软雅黑" panose="020B0503020204020204" pitchFamily="34" charset="-122"/>
              <a:cs typeface="+mn-ea"/>
              <a:sym typeface="+mn-lt"/>
            </a:endParaRPr>
          </a:p>
        </p:txBody>
      </p:sp>
      <p:grpSp>
        <p:nvGrpSpPr>
          <p:cNvPr id="760" name="组合 759">
            <a:extLst>
              <a:ext uri="{FF2B5EF4-FFF2-40B4-BE49-F238E27FC236}">
                <a16:creationId xmlns:a16="http://schemas.microsoft.com/office/drawing/2014/main" id="{5E4E9BAF-0118-4B2A-9358-00F45B6A022A}"/>
              </a:ext>
            </a:extLst>
          </p:cNvPr>
          <p:cNvGrpSpPr/>
          <p:nvPr/>
        </p:nvGrpSpPr>
        <p:grpSpPr>
          <a:xfrm>
            <a:off x="482888" y="2145156"/>
            <a:ext cx="199332" cy="159756"/>
            <a:chOff x="1211382" y="2197035"/>
            <a:chExt cx="548794" cy="421503"/>
          </a:xfrm>
        </p:grpSpPr>
        <p:sp>
          <p:nvSpPr>
            <p:cNvPr id="761" name="Freeform 534">
              <a:extLst>
                <a:ext uri="{FF2B5EF4-FFF2-40B4-BE49-F238E27FC236}">
                  <a16:creationId xmlns:a16="http://schemas.microsoft.com/office/drawing/2014/main" id="{DBA9A7B4-2364-44A4-B255-E92ABE900BB3}"/>
                </a:ext>
              </a:extLst>
            </p:cNvPr>
            <p:cNvSpPr>
              <a:spLocks/>
            </p:cNvSpPr>
            <p:nvPr/>
          </p:nvSpPr>
          <p:spPr bwMode="auto">
            <a:xfrm>
              <a:off x="1211382" y="2359006"/>
              <a:ext cx="548794" cy="259532"/>
            </a:xfrm>
            <a:custGeom>
              <a:avLst/>
              <a:gdLst>
                <a:gd name="T0" fmla="*/ 82 w 126"/>
                <a:gd name="T1" fmla="*/ 0 h 113"/>
                <a:gd name="T2" fmla="*/ 63 w 126"/>
                <a:gd name="T3" fmla="*/ 7 h 113"/>
                <a:gd name="T4" fmla="*/ 78 w 126"/>
                <a:gd name="T5" fmla="*/ 62 h 113"/>
                <a:gd name="T6" fmla="*/ 63 w 126"/>
                <a:gd name="T7" fmla="*/ 83 h 113"/>
                <a:gd name="T8" fmla="*/ 48 w 126"/>
                <a:gd name="T9" fmla="*/ 62 h 113"/>
                <a:gd name="T10" fmla="*/ 63 w 126"/>
                <a:gd name="T11" fmla="*/ 7 h 113"/>
                <a:gd name="T12" fmla="*/ 44 w 126"/>
                <a:gd name="T13" fmla="*/ 0 h 113"/>
                <a:gd name="T14" fmla="*/ 0 w 126"/>
                <a:gd name="T15" fmla="*/ 44 h 113"/>
                <a:gd name="T16" fmla="*/ 0 w 126"/>
                <a:gd name="T17" fmla="*/ 92 h 113"/>
                <a:gd name="T18" fmla="*/ 57 w 126"/>
                <a:gd name="T19" fmla="*/ 113 h 113"/>
                <a:gd name="T20" fmla="*/ 69 w 126"/>
                <a:gd name="T21" fmla="*/ 113 h 113"/>
                <a:gd name="T22" fmla="*/ 126 w 126"/>
                <a:gd name="T23" fmla="*/ 92 h 113"/>
                <a:gd name="T24" fmla="*/ 126 w 126"/>
                <a:gd name="T25" fmla="*/ 44 h 113"/>
                <a:gd name="T26" fmla="*/ 82 w 126"/>
                <a:gd name="T27"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113">
                  <a:moveTo>
                    <a:pt x="82" y="0"/>
                  </a:moveTo>
                  <a:cubicBezTo>
                    <a:pt x="63" y="7"/>
                    <a:pt x="63" y="7"/>
                    <a:pt x="63" y="7"/>
                  </a:cubicBezTo>
                  <a:cubicBezTo>
                    <a:pt x="78" y="62"/>
                    <a:pt x="78" y="62"/>
                    <a:pt x="78" y="62"/>
                  </a:cubicBezTo>
                  <a:cubicBezTo>
                    <a:pt x="63" y="83"/>
                    <a:pt x="63" y="83"/>
                    <a:pt x="63" y="83"/>
                  </a:cubicBezTo>
                  <a:cubicBezTo>
                    <a:pt x="48" y="62"/>
                    <a:pt x="48" y="62"/>
                    <a:pt x="48" y="62"/>
                  </a:cubicBezTo>
                  <a:cubicBezTo>
                    <a:pt x="63" y="7"/>
                    <a:pt x="63" y="7"/>
                    <a:pt x="63" y="7"/>
                  </a:cubicBezTo>
                  <a:cubicBezTo>
                    <a:pt x="44" y="0"/>
                    <a:pt x="44" y="0"/>
                    <a:pt x="44" y="0"/>
                  </a:cubicBezTo>
                  <a:cubicBezTo>
                    <a:pt x="27" y="5"/>
                    <a:pt x="0" y="16"/>
                    <a:pt x="0" y="44"/>
                  </a:cubicBezTo>
                  <a:cubicBezTo>
                    <a:pt x="0" y="85"/>
                    <a:pt x="0" y="92"/>
                    <a:pt x="0" y="92"/>
                  </a:cubicBezTo>
                  <a:cubicBezTo>
                    <a:pt x="0" y="92"/>
                    <a:pt x="2" y="113"/>
                    <a:pt x="57" y="113"/>
                  </a:cubicBezTo>
                  <a:cubicBezTo>
                    <a:pt x="69" y="113"/>
                    <a:pt x="69" y="113"/>
                    <a:pt x="69" y="113"/>
                  </a:cubicBezTo>
                  <a:cubicBezTo>
                    <a:pt x="124" y="113"/>
                    <a:pt x="126" y="92"/>
                    <a:pt x="126" y="92"/>
                  </a:cubicBezTo>
                  <a:cubicBezTo>
                    <a:pt x="126" y="92"/>
                    <a:pt x="126" y="85"/>
                    <a:pt x="126" y="44"/>
                  </a:cubicBezTo>
                  <a:cubicBezTo>
                    <a:pt x="126" y="16"/>
                    <a:pt x="99" y="5"/>
                    <a:pt x="82" y="0"/>
                  </a:cubicBezTo>
                  <a:close/>
                </a:path>
              </a:pathLst>
            </a:custGeom>
            <a:solidFill>
              <a:srgbClr val="5859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35" tIns="34268" rIns="68535" bIns="34268" numCol="1" anchor="t" anchorCtr="0" compatLnSpc="1">
              <a:prstTxWarp prst="textNoShape">
                <a:avLst/>
              </a:prstTxWarp>
            </a:bodyPr>
            <a:lstStyle/>
            <a:p>
              <a:pPr defTabSz="685457">
                <a:defRPr/>
              </a:pPr>
              <a:endParaRPr lang="zh-CN" altLang="en-US" sz="1349"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762" name="Oval 535">
              <a:extLst>
                <a:ext uri="{FF2B5EF4-FFF2-40B4-BE49-F238E27FC236}">
                  <a16:creationId xmlns:a16="http://schemas.microsoft.com/office/drawing/2014/main" id="{2D47297C-6796-4323-8B08-6220B3BAE05F}"/>
                </a:ext>
              </a:extLst>
            </p:cNvPr>
            <p:cNvSpPr>
              <a:spLocks noChangeArrowheads="1"/>
            </p:cNvSpPr>
            <p:nvPr/>
          </p:nvSpPr>
          <p:spPr bwMode="auto">
            <a:xfrm>
              <a:off x="1348051" y="2197035"/>
              <a:ext cx="278080" cy="170105"/>
            </a:xfrm>
            <a:prstGeom prst="ellipse">
              <a:avLst/>
            </a:prstGeom>
            <a:solidFill>
              <a:srgbClr val="5859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35" tIns="34268" rIns="68535" bIns="34268" numCol="1" anchor="t" anchorCtr="0" compatLnSpc="1">
              <a:prstTxWarp prst="textNoShape">
                <a:avLst/>
              </a:prstTxWarp>
            </a:bodyPr>
            <a:lstStyle/>
            <a:p>
              <a:pPr defTabSz="685457">
                <a:defRPr/>
              </a:pPr>
              <a:endParaRPr lang="zh-CN" altLang="en-US" sz="1349">
                <a:solidFill>
                  <a:prstClr val="black"/>
                </a:solidFill>
                <a:latin typeface="微软雅黑" panose="020B0503020204020204" pitchFamily="34" charset="-122"/>
                <a:ea typeface="微软雅黑" panose="020B0503020204020204" pitchFamily="34" charset="-122"/>
                <a:cs typeface="+mn-ea"/>
                <a:sym typeface="+mn-lt"/>
              </a:endParaRPr>
            </a:p>
          </p:txBody>
        </p:sp>
      </p:grpSp>
      <p:sp>
        <p:nvSpPr>
          <p:cNvPr id="764" name="矩形 763">
            <a:extLst>
              <a:ext uri="{FF2B5EF4-FFF2-40B4-BE49-F238E27FC236}">
                <a16:creationId xmlns:a16="http://schemas.microsoft.com/office/drawing/2014/main" id="{866BF9A1-DDC1-4912-B380-A71FFB9EEC3F}"/>
              </a:ext>
            </a:extLst>
          </p:cNvPr>
          <p:cNvSpPr/>
          <p:nvPr/>
        </p:nvSpPr>
        <p:spPr>
          <a:xfrm>
            <a:off x="2369840" y="688651"/>
            <a:ext cx="3040796" cy="2281402"/>
          </a:xfrm>
          <a:prstGeom prst="rect">
            <a:avLst/>
          </a:prstGeom>
          <a:solidFill>
            <a:srgbClr val="FFFFFF">
              <a:lumMod val="95000"/>
            </a:srgbClr>
          </a:solidFill>
          <a:ln w="12700" cap="flat" cmpd="sng" algn="ctr">
            <a:solidFill>
              <a:srgbClr val="DDDDDD">
                <a:lumMod val="90000"/>
              </a:srgbClr>
            </a:solidFill>
            <a:prstDash val="solid"/>
            <a:miter lim="800000"/>
          </a:ln>
          <a:effectLst/>
        </p:spPr>
        <p:txBody>
          <a:bodyPr rot="0" spcFirstLastPara="0" vertOverflow="overflow" horzOverflow="overflow" vert="horz" wrap="square" lIns="68553" tIns="34277" rIns="68553" bIns="34277" numCol="1" spcCol="0" rtlCol="0" fromWordArt="0" anchor="ctr" anchorCtr="0" forceAA="0" compatLnSpc="1">
            <a:prstTxWarp prst="textNoShape">
              <a:avLst/>
            </a:prstTxWarp>
            <a:noAutofit/>
          </a:bodyPr>
          <a:lstStyle/>
          <a:p>
            <a:pPr algn="ctr" defTabSz="685526">
              <a:defRPr/>
            </a:pPr>
            <a:endParaRPr lang="zh-CN" altLang="en-US" sz="1349">
              <a:solidFill>
                <a:srgbClr val="666666"/>
              </a:solidFill>
              <a:latin typeface="微软雅黑" panose="020B0503020204020204" pitchFamily="34" charset="-122"/>
              <a:ea typeface="微软雅黑" panose="020B0503020204020204" pitchFamily="34" charset="-122"/>
            </a:endParaRPr>
          </a:p>
        </p:txBody>
      </p:sp>
      <p:sp>
        <p:nvSpPr>
          <p:cNvPr id="765" name="矩形: 圆角 764">
            <a:extLst>
              <a:ext uri="{FF2B5EF4-FFF2-40B4-BE49-F238E27FC236}">
                <a16:creationId xmlns:a16="http://schemas.microsoft.com/office/drawing/2014/main" id="{370680B8-0530-45EF-8A37-76A25A0AB3E8}"/>
              </a:ext>
            </a:extLst>
          </p:cNvPr>
          <p:cNvSpPr/>
          <p:nvPr/>
        </p:nvSpPr>
        <p:spPr>
          <a:xfrm>
            <a:off x="3235286" y="2141980"/>
            <a:ext cx="514112" cy="547566"/>
          </a:xfrm>
          <a:prstGeom prst="roundRect">
            <a:avLst>
              <a:gd name="adj" fmla="val 14591"/>
            </a:avLst>
          </a:prstGeom>
          <a:solidFill>
            <a:srgbClr val="FCC800">
              <a:lumMod val="20000"/>
              <a:lumOff val="80000"/>
            </a:srgbClr>
          </a:solidFill>
          <a:ln w="12700" cap="flat" cmpd="sng" algn="ctr">
            <a:solidFill>
              <a:srgbClr val="0070C0"/>
            </a:solidFill>
            <a:prstDash val="dash"/>
            <a:miter lim="800000"/>
          </a:ln>
          <a:effectLst/>
        </p:spPr>
        <p:txBody>
          <a:bodyPr rtlCol="0" anchor="ctr"/>
          <a:lstStyle/>
          <a:p>
            <a:pPr algn="ctr" defTabSz="685050">
              <a:defRPr/>
            </a:pPr>
            <a:endParaRPr lang="zh-CN" altLang="en-US" sz="105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766" name="圆角矩形 836">
            <a:extLst>
              <a:ext uri="{FF2B5EF4-FFF2-40B4-BE49-F238E27FC236}">
                <a16:creationId xmlns:a16="http://schemas.microsoft.com/office/drawing/2014/main" id="{C195ADAD-05E6-4E90-ADB1-90A2906D9716}"/>
              </a:ext>
            </a:extLst>
          </p:cNvPr>
          <p:cNvSpPr/>
          <p:nvPr/>
        </p:nvSpPr>
        <p:spPr bwMode="auto">
          <a:xfrm>
            <a:off x="4129177" y="1600479"/>
            <a:ext cx="1158897" cy="1109699"/>
          </a:xfrm>
          <a:prstGeom prst="roundRect">
            <a:avLst>
              <a:gd name="adj" fmla="val 6400"/>
            </a:avLst>
          </a:prstGeom>
          <a:noFill/>
          <a:ln>
            <a:solidFill>
              <a:srgbClr val="1D1D1A"/>
            </a:solidFill>
            <a:prstDash val="dash"/>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1050">
              <a:solidFill>
                <a:prstClr val="black"/>
              </a:solidFill>
              <a:latin typeface="微软雅黑" panose="020B0503020204020204" pitchFamily="34" charset="-122"/>
              <a:ea typeface="微软雅黑" panose="020B0503020204020204" pitchFamily="34" charset="-122"/>
            </a:endParaRPr>
          </a:p>
        </p:txBody>
      </p:sp>
      <p:pic>
        <p:nvPicPr>
          <p:cNvPr id="768" name="图片 767" descr="CE12800交换机-蓝.png">
            <a:extLst>
              <a:ext uri="{FF2B5EF4-FFF2-40B4-BE49-F238E27FC236}">
                <a16:creationId xmlns:a16="http://schemas.microsoft.com/office/drawing/2014/main" id="{67EFCECD-774D-4C2C-9B1C-76F5FE7D3659}"/>
              </a:ext>
            </a:extLst>
          </p:cNvPr>
          <p:cNvPicPr>
            <a:picLocks noChangeAspect="1"/>
          </p:cNvPicPr>
          <p:nvPr/>
        </p:nvPicPr>
        <p:blipFill>
          <a:blip r:embed="rId3" cstate="print"/>
          <a:stretch>
            <a:fillRect/>
          </a:stretch>
        </p:blipFill>
        <p:spPr>
          <a:xfrm>
            <a:off x="3535312" y="1109640"/>
            <a:ext cx="228823" cy="163231"/>
          </a:xfrm>
          <a:prstGeom prst="rect">
            <a:avLst/>
          </a:prstGeom>
        </p:spPr>
      </p:pic>
      <p:cxnSp>
        <p:nvCxnSpPr>
          <p:cNvPr id="771" name="直接连接符 770">
            <a:extLst>
              <a:ext uri="{FF2B5EF4-FFF2-40B4-BE49-F238E27FC236}">
                <a16:creationId xmlns:a16="http://schemas.microsoft.com/office/drawing/2014/main" id="{C5FBF2C2-7F31-4892-B1B7-B72BB604D826}"/>
              </a:ext>
            </a:extLst>
          </p:cNvPr>
          <p:cNvCxnSpPr>
            <a:stCxn id="775" idx="0"/>
            <a:endCxn id="768" idx="2"/>
          </p:cNvCxnSpPr>
          <p:nvPr/>
        </p:nvCxnSpPr>
        <p:spPr bwMode="auto">
          <a:xfrm flipV="1">
            <a:off x="2817171" y="1272871"/>
            <a:ext cx="832553" cy="421112"/>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2" name="直接连接符 771">
            <a:extLst>
              <a:ext uri="{FF2B5EF4-FFF2-40B4-BE49-F238E27FC236}">
                <a16:creationId xmlns:a16="http://schemas.microsoft.com/office/drawing/2014/main" id="{CEEF0221-B610-4926-AA8C-96D068E72511}"/>
              </a:ext>
            </a:extLst>
          </p:cNvPr>
          <p:cNvCxnSpPr>
            <a:stCxn id="778" idx="0"/>
            <a:endCxn id="768" idx="2"/>
          </p:cNvCxnSpPr>
          <p:nvPr/>
        </p:nvCxnSpPr>
        <p:spPr bwMode="auto">
          <a:xfrm flipV="1">
            <a:off x="3454841" y="1272871"/>
            <a:ext cx="194883" cy="421112"/>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3" name="椭圆 772">
            <a:extLst>
              <a:ext uri="{FF2B5EF4-FFF2-40B4-BE49-F238E27FC236}">
                <a16:creationId xmlns:a16="http://schemas.microsoft.com/office/drawing/2014/main" id="{ABFEF6E5-42F3-48DD-8C84-DF4449CD8A6B}"/>
              </a:ext>
            </a:extLst>
          </p:cNvPr>
          <p:cNvSpPr/>
          <p:nvPr/>
        </p:nvSpPr>
        <p:spPr bwMode="auto">
          <a:xfrm>
            <a:off x="2743827" y="1748822"/>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sp>
        <p:nvSpPr>
          <p:cNvPr id="774" name="椭圆 773">
            <a:extLst>
              <a:ext uri="{FF2B5EF4-FFF2-40B4-BE49-F238E27FC236}">
                <a16:creationId xmlns:a16="http://schemas.microsoft.com/office/drawing/2014/main" id="{F20A9466-9884-4C09-BAF0-6F007C38178E}"/>
              </a:ext>
            </a:extLst>
          </p:cNvPr>
          <p:cNvSpPr/>
          <p:nvPr/>
        </p:nvSpPr>
        <p:spPr bwMode="auto">
          <a:xfrm>
            <a:off x="2833077" y="1748822"/>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pic>
        <p:nvPicPr>
          <p:cNvPr id="775" name="图片 774">
            <a:extLst>
              <a:ext uri="{FF2B5EF4-FFF2-40B4-BE49-F238E27FC236}">
                <a16:creationId xmlns:a16="http://schemas.microsoft.com/office/drawing/2014/main" id="{C744EABF-443D-4125-9659-0F6BF44D54D8}"/>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702759" y="1693983"/>
            <a:ext cx="228823" cy="150881"/>
          </a:xfrm>
          <a:prstGeom prst="rect">
            <a:avLst/>
          </a:prstGeom>
        </p:spPr>
      </p:pic>
      <p:sp>
        <p:nvSpPr>
          <p:cNvPr id="776" name="椭圆 775">
            <a:extLst>
              <a:ext uri="{FF2B5EF4-FFF2-40B4-BE49-F238E27FC236}">
                <a16:creationId xmlns:a16="http://schemas.microsoft.com/office/drawing/2014/main" id="{F1632EFD-8A35-4817-8D8B-85BB24EB46D9}"/>
              </a:ext>
            </a:extLst>
          </p:cNvPr>
          <p:cNvSpPr/>
          <p:nvPr/>
        </p:nvSpPr>
        <p:spPr bwMode="auto">
          <a:xfrm>
            <a:off x="3381497" y="1748822"/>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sp>
        <p:nvSpPr>
          <p:cNvPr id="777" name="椭圆 776">
            <a:extLst>
              <a:ext uri="{FF2B5EF4-FFF2-40B4-BE49-F238E27FC236}">
                <a16:creationId xmlns:a16="http://schemas.microsoft.com/office/drawing/2014/main" id="{C33D8EA8-389B-4B55-BDB1-014038CDB3CE}"/>
              </a:ext>
            </a:extLst>
          </p:cNvPr>
          <p:cNvSpPr/>
          <p:nvPr/>
        </p:nvSpPr>
        <p:spPr bwMode="auto">
          <a:xfrm>
            <a:off x="3470746" y="1748822"/>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pic>
        <p:nvPicPr>
          <p:cNvPr id="778" name="图片 777">
            <a:extLst>
              <a:ext uri="{FF2B5EF4-FFF2-40B4-BE49-F238E27FC236}">
                <a16:creationId xmlns:a16="http://schemas.microsoft.com/office/drawing/2014/main" id="{E93EFC70-B9F4-4ED9-8BB0-0920E4510597}"/>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340429" y="1693983"/>
            <a:ext cx="228823" cy="150881"/>
          </a:xfrm>
          <a:prstGeom prst="rect">
            <a:avLst/>
          </a:prstGeom>
        </p:spPr>
      </p:pic>
      <p:cxnSp>
        <p:nvCxnSpPr>
          <p:cNvPr id="779" name="直接连接符 778">
            <a:extLst>
              <a:ext uri="{FF2B5EF4-FFF2-40B4-BE49-F238E27FC236}">
                <a16:creationId xmlns:a16="http://schemas.microsoft.com/office/drawing/2014/main" id="{21CA19AE-2394-4413-AB63-476729B078FD}"/>
              </a:ext>
            </a:extLst>
          </p:cNvPr>
          <p:cNvCxnSpPr>
            <a:cxnSpLocks/>
            <a:stCxn id="807" idx="0"/>
            <a:endCxn id="805" idx="2"/>
          </p:cNvCxnSpPr>
          <p:nvPr/>
        </p:nvCxnSpPr>
        <p:spPr bwMode="auto">
          <a:xfrm flipV="1">
            <a:off x="4447635" y="1848881"/>
            <a:ext cx="485364" cy="437105"/>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0" name="直接连接符 779">
            <a:extLst>
              <a:ext uri="{FF2B5EF4-FFF2-40B4-BE49-F238E27FC236}">
                <a16:creationId xmlns:a16="http://schemas.microsoft.com/office/drawing/2014/main" id="{E4598EE9-2F45-4DCF-8A40-00AEA8405818}"/>
              </a:ext>
            </a:extLst>
          </p:cNvPr>
          <p:cNvCxnSpPr>
            <a:cxnSpLocks/>
            <a:stCxn id="807" idx="0"/>
            <a:endCxn id="802" idx="5"/>
          </p:cNvCxnSpPr>
          <p:nvPr/>
        </p:nvCxnSpPr>
        <p:spPr bwMode="auto">
          <a:xfrm flipV="1">
            <a:off x="4447635" y="1788010"/>
            <a:ext cx="114797" cy="497977"/>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2" name="圆角矩形 836">
            <a:extLst>
              <a:ext uri="{FF2B5EF4-FFF2-40B4-BE49-F238E27FC236}">
                <a16:creationId xmlns:a16="http://schemas.microsoft.com/office/drawing/2014/main" id="{4B39AA8B-2709-48E2-BB45-3B4061729B23}"/>
              </a:ext>
            </a:extLst>
          </p:cNvPr>
          <p:cNvSpPr/>
          <p:nvPr/>
        </p:nvSpPr>
        <p:spPr bwMode="auto">
          <a:xfrm>
            <a:off x="2488577" y="1596461"/>
            <a:ext cx="1300010" cy="1154671"/>
          </a:xfrm>
          <a:prstGeom prst="roundRect">
            <a:avLst>
              <a:gd name="adj" fmla="val 6400"/>
            </a:avLst>
          </a:prstGeom>
          <a:noFill/>
          <a:ln>
            <a:solidFill>
              <a:srgbClr val="1D1D1A"/>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1050">
              <a:solidFill>
                <a:prstClr val="black"/>
              </a:solidFill>
              <a:latin typeface="微软雅黑" panose="020B0503020204020204" pitchFamily="34" charset="-122"/>
              <a:ea typeface="微软雅黑" panose="020B0503020204020204" pitchFamily="34" charset="-122"/>
            </a:endParaRPr>
          </a:p>
        </p:txBody>
      </p:sp>
      <p:sp>
        <p:nvSpPr>
          <p:cNvPr id="796" name="文本框 795">
            <a:extLst>
              <a:ext uri="{FF2B5EF4-FFF2-40B4-BE49-F238E27FC236}">
                <a16:creationId xmlns:a16="http://schemas.microsoft.com/office/drawing/2014/main" id="{F4C2EF32-D422-4E08-975E-0D54ED1A8FB3}"/>
              </a:ext>
            </a:extLst>
          </p:cNvPr>
          <p:cNvSpPr txBox="1"/>
          <p:nvPr/>
        </p:nvSpPr>
        <p:spPr>
          <a:xfrm flipH="1">
            <a:off x="4323211" y="1070322"/>
            <a:ext cx="943881" cy="219291"/>
          </a:xfrm>
          <a:prstGeom prst="rect">
            <a:avLst/>
          </a:prstGeom>
          <a:noFill/>
        </p:spPr>
        <p:txBody>
          <a:bodyPr wrap="square" rtlCol="0" anchor="ctr">
            <a:spAutoFit/>
          </a:bodyPr>
          <a:lstStyle/>
          <a:p>
            <a:pPr defTabSz="685526">
              <a:spcBef>
                <a:spcPct val="0"/>
              </a:spcBef>
              <a:spcAft>
                <a:spcPct val="0"/>
              </a:spcAft>
              <a:defRPr/>
            </a:pPr>
            <a:r>
              <a:rPr lang="en-US" altLang="zh-CN" sz="825" dirty="0">
                <a:solidFill>
                  <a:prstClr val="black"/>
                </a:solidFill>
                <a:latin typeface="微软雅黑" panose="020B0503020204020204" pitchFamily="34" charset="-122"/>
                <a:ea typeface="微软雅黑" panose="020B0503020204020204" pitchFamily="34" charset="-122"/>
              </a:rPr>
              <a:t>Spine</a:t>
            </a:r>
            <a:endParaRPr lang="en-US" sz="825" dirty="0">
              <a:solidFill>
                <a:srgbClr val="C00000"/>
              </a:solidFill>
              <a:latin typeface="微软雅黑" panose="020B0503020204020204" pitchFamily="34" charset="-122"/>
              <a:ea typeface="微软雅黑" panose="020B0503020204020204" pitchFamily="34" charset="-122"/>
            </a:endParaRPr>
          </a:p>
        </p:txBody>
      </p:sp>
      <p:sp>
        <p:nvSpPr>
          <p:cNvPr id="799" name="矩形 798">
            <a:extLst>
              <a:ext uri="{FF2B5EF4-FFF2-40B4-BE49-F238E27FC236}">
                <a16:creationId xmlns:a16="http://schemas.microsoft.com/office/drawing/2014/main" id="{3C60F13C-0678-4C4D-8E01-ED787843290C}"/>
              </a:ext>
            </a:extLst>
          </p:cNvPr>
          <p:cNvSpPr/>
          <p:nvPr/>
        </p:nvSpPr>
        <p:spPr>
          <a:xfrm>
            <a:off x="2847325" y="1703442"/>
            <a:ext cx="564182" cy="276999"/>
          </a:xfrm>
          <a:prstGeom prst="rect">
            <a:avLst/>
          </a:prstGeom>
        </p:spPr>
        <p:txBody>
          <a:bodyPr wrap="square">
            <a:spAutoFit/>
          </a:bodyPr>
          <a:lstStyle/>
          <a:p>
            <a:pPr algn="ctr" defTabSz="685526">
              <a:spcBef>
                <a:spcPct val="0"/>
              </a:spcBef>
              <a:spcAft>
                <a:spcPct val="0"/>
              </a:spcAft>
              <a:defRPr/>
            </a:pPr>
            <a:r>
              <a:rPr lang="en-US" altLang="zh-CN" sz="600" dirty="0">
                <a:solidFill>
                  <a:prstClr val="black"/>
                </a:solidFill>
                <a:latin typeface="微软雅黑" panose="020B0503020204020204" pitchFamily="34" charset="-122"/>
                <a:ea typeface="微软雅黑" panose="020B0503020204020204" pitchFamily="34" charset="-122"/>
              </a:rPr>
              <a:t>Network</a:t>
            </a:r>
          </a:p>
          <a:p>
            <a:pPr algn="ctr" defTabSz="685526">
              <a:spcBef>
                <a:spcPct val="0"/>
              </a:spcBef>
              <a:spcAft>
                <a:spcPct val="0"/>
              </a:spcAft>
              <a:defRPr/>
            </a:pPr>
            <a:r>
              <a:rPr lang="en-US" altLang="zh-CN" sz="600" dirty="0">
                <a:solidFill>
                  <a:prstClr val="black"/>
                </a:solidFill>
                <a:latin typeface="微软雅黑" panose="020B0503020204020204" pitchFamily="34" charset="-122"/>
                <a:ea typeface="微软雅黑" panose="020B0503020204020204" pitchFamily="34" charset="-122"/>
              </a:rPr>
              <a:t>Leaf</a:t>
            </a:r>
            <a:endParaRPr lang="en-US" sz="600" dirty="0">
              <a:solidFill>
                <a:srgbClr val="C00000"/>
              </a:solidFill>
              <a:latin typeface="微软雅黑" panose="020B0503020204020204" pitchFamily="34" charset="-122"/>
              <a:ea typeface="微软雅黑" panose="020B0503020204020204" pitchFamily="34" charset="-122"/>
            </a:endParaRPr>
          </a:p>
        </p:txBody>
      </p:sp>
      <p:sp>
        <p:nvSpPr>
          <p:cNvPr id="802" name="椭圆 801">
            <a:extLst>
              <a:ext uri="{FF2B5EF4-FFF2-40B4-BE49-F238E27FC236}">
                <a16:creationId xmlns:a16="http://schemas.microsoft.com/office/drawing/2014/main" id="{55DD7D5D-DE2E-4DB0-B086-DE7F666DC550}"/>
              </a:ext>
            </a:extLst>
          </p:cNvPr>
          <p:cNvSpPr/>
          <p:nvPr/>
        </p:nvSpPr>
        <p:spPr bwMode="auto">
          <a:xfrm>
            <a:off x="4518694" y="1752840"/>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sp>
        <p:nvSpPr>
          <p:cNvPr id="803" name="椭圆 802">
            <a:extLst>
              <a:ext uri="{FF2B5EF4-FFF2-40B4-BE49-F238E27FC236}">
                <a16:creationId xmlns:a16="http://schemas.microsoft.com/office/drawing/2014/main" id="{FCA80D89-4B3B-4853-928D-5F01F9076CE9}"/>
              </a:ext>
            </a:extLst>
          </p:cNvPr>
          <p:cNvSpPr/>
          <p:nvPr/>
        </p:nvSpPr>
        <p:spPr bwMode="auto">
          <a:xfrm>
            <a:off x="4607945" y="1752840"/>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pic>
        <p:nvPicPr>
          <p:cNvPr id="804" name="图片 803">
            <a:extLst>
              <a:ext uri="{FF2B5EF4-FFF2-40B4-BE49-F238E27FC236}">
                <a16:creationId xmlns:a16="http://schemas.microsoft.com/office/drawing/2014/main" id="{5621FB04-DA97-4355-AA43-AA31958742DA}"/>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458888" y="1698001"/>
            <a:ext cx="228823" cy="150881"/>
          </a:xfrm>
          <a:prstGeom prst="rect">
            <a:avLst/>
          </a:prstGeom>
        </p:spPr>
      </p:pic>
      <p:pic>
        <p:nvPicPr>
          <p:cNvPr id="805" name="图片 804">
            <a:extLst>
              <a:ext uri="{FF2B5EF4-FFF2-40B4-BE49-F238E27FC236}">
                <a16:creationId xmlns:a16="http://schemas.microsoft.com/office/drawing/2014/main" id="{B1F41461-A32D-4703-B8FD-4BF2A134E63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818587" y="1698001"/>
            <a:ext cx="228823" cy="150881"/>
          </a:xfrm>
          <a:prstGeom prst="rect">
            <a:avLst/>
          </a:prstGeom>
        </p:spPr>
      </p:pic>
      <p:sp>
        <p:nvSpPr>
          <p:cNvPr id="806" name="矩形 805">
            <a:extLst>
              <a:ext uri="{FF2B5EF4-FFF2-40B4-BE49-F238E27FC236}">
                <a16:creationId xmlns:a16="http://schemas.microsoft.com/office/drawing/2014/main" id="{12559802-7D4A-4D2B-8FE7-56EBEEB24F12}"/>
              </a:ext>
            </a:extLst>
          </p:cNvPr>
          <p:cNvSpPr/>
          <p:nvPr/>
        </p:nvSpPr>
        <p:spPr>
          <a:xfrm>
            <a:off x="4045384" y="1853116"/>
            <a:ext cx="617618" cy="276999"/>
          </a:xfrm>
          <a:prstGeom prst="rect">
            <a:avLst/>
          </a:prstGeom>
        </p:spPr>
        <p:txBody>
          <a:bodyPr wrap="square">
            <a:spAutoFit/>
          </a:bodyPr>
          <a:lstStyle/>
          <a:p>
            <a:pPr algn="ctr" defTabSz="685526">
              <a:spcBef>
                <a:spcPct val="0"/>
              </a:spcBef>
              <a:spcAft>
                <a:spcPct val="0"/>
              </a:spcAft>
              <a:defRPr/>
            </a:pPr>
            <a:r>
              <a:rPr lang="en-US" altLang="zh-CN" sz="600" dirty="0">
                <a:solidFill>
                  <a:prstClr val="black"/>
                </a:solidFill>
                <a:latin typeface="微软雅黑" panose="020B0503020204020204" pitchFamily="34" charset="-122"/>
                <a:ea typeface="微软雅黑" panose="020B0503020204020204" pitchFamily="34" charset="-122"/>
              </a:rPr>
              <a:t>Computing Leaf</a:t>
            </a:r>
            <a:endParaRPr lang="en-US" sz="600" dirty="0">
              <a:solidFill>
                <a:srgbClr val="C00000"/>
              </a:solidFill>
              <a:latin typeface="微软雅黑" panose="020B0503020204020204" pitchFamily="34" charset="-122"/>
              <a:ea typeface="微软雅黑" panose="020B0503020204020204" pitchFamily="34" charset="-122"/>
            </a:endParaRPr>
          </a:p>
        </p:txBody>
      </p:sp>
      <p:pic>
        <p:nvPicPr>
          <p:cNvPr id="807" name="图片 806" descr="VSwitch+VM 1蓝.png">
            <a:extLst>
              <a:ext uri="{FF2B5EF4-FFF2-40B4-BE49-F238E27FC236}">
                <a16:creationId xmlns:a16="http://schemas.microsoft.com/office/drawing/2014/main" id="{3D5EC9D6-5D9E-4C74-B9C3-AF7E4C74BB05}"/>
              </a:ext>
            </a:extLst>
          </p:cNvPr>
          <p:cNvPicPr>
            <a:picLocks noChangeAspect="1"/>
          </p:cNvPicPr>
          <p:nvPr/>
        </p:nvPicPr>
        <p:blipFill>
          <a:blip r:embed="rId5" cstate="print"/>
          <a:stretch>
            <a:fillRect/>
          </a:stretch>
        </p:blipFill>
        <p:spPr>
          <a:xfrm>
            <a:off x="4329279" y="2285987"/>
            <a:ext cx="236712" cy="204222"/>
          </a:xfrm>
          <a:prstGeom prst="rect">
            <a:avLst/>
          </a:prstGeom>
        </p:spPr>
      </p:pic>
      <p:sp>
        <p:nvSpPr>
          <p:cNvPr id="808" name="TextBox 125">
            <a:extLst>
              <a:ext uri="{FF2B5EF4-FFF2-40B4-BE49-F238E27FC236}">
                <a16:creationId xmlns:a16="http://schemas.microsoft.com/office/drawing/2014/main" id="{0C445552-9FDF-4460-ACD5-AFE2C445B83B}"/>
              </a:ext>
            </a:extLst>
          </p:cNvPr>
          <p:cNvSpPr txBox="1"/>
          <p:nvPr/>
        </p:nvSpPr>
        <p:spPr>
          <a:xfrm>
            <a:off x="4113785" y="2468495"/>
            <a:ext cx="642957" cy="276999"/>
          </a:xfrm>
          <a:prstGeom prst="rect">
            <a:avLst/>
          </a:prstGeom>
          <a:noFill/>
        </p:spPr>
        <p:txBody>
          <a:bodyPr wrap="square" lIns="0" rIns="0" rtlCol="0" anchor="ctr">
            <a:spAutoFit/>
          </a:bodyPr>
          <a:lstStyle/>
          <a:p>
            <a:pPr algn="ctr" defTabSz="685388" fontAlgn="base">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a:t>
            </a:r>
          </a:p>
          <a:p>
            <a:pPr algn="ctr" defTabSz="685388" fontAlgn="base">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Node</a:t>
            </a:r>
          </a:p>
        </p:txBody>
      </p:sp>
      <p:cxnSp>
        <p:nvCxnSpPr>
          <p:cNvPr id="809" name="直接连接符 808">
            <a:extLst>
              <a:ext uri="{FF2B5EF4-FFF2-40B4-BE49-F238E27FC236}">
                <a16:creationId xmlns:a16="http://schemas.microsoft.com/office/drawing/2014/main" id="{B9E81FFC-FAE9-4369-84AB-707B56445988}"/>
              </a:ext>
            </a:extLst>
          </p:cNvPr>
          <p:cNvCxnSpPr>
            <a:cxnSpLocks/>
            <a:stCxn id="768" idx="0"/>
            <a:endCxn id="810" idx="2"/>
          </p:cNvCxnSpPr>
          <p:nvPr/>
        </p:nvCxnSpPr>
        <p:spPr bwMode="auto">
          <a:xfrm flipV="1">
            <a:off x="3649724" y="950097"/>
            <a:ext cx="6989" cy="159544"/>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10" name="图片 809" descr="CE12800交换机-蓝.png">
            <a:extLst>
              <a:ext uri="{FF2B5EF4-FFF2-40B4-BE49-F238E27FC236}">
                <a16:creationId xmlns:a16="http://schemas.microsoft.com/office/drawing/2014/main" id="{272A585E-8766-4919-A1D9-398F5C5D56C1}"/>
              </a:ext>
            </a:extLst>
          </p:cNvPr>
          <p:cNvPicPr>
            <a:picLocks noChangeAspect="1"/>
          </p:cNvPicPr>
          <p:nvPr/>
        </p:nvPicPr>
        <p:blipFill>
          <a:blip r:embed="rId3" cstate="print"/>
          <a:stretch>
            <a:fillRect/>
          </a:stretch>
        </p:blipFill>
        <p:spPr>
          <a:xfrm>
            <a:off x="3535313" y="759028"/>
            <a:ext cx="242799" cy="191067"/>
          </a:xfrm>
          <a:prstGeom prst="rect">
            <a:avLst/>
          </a:prstGeom>
        </p:spPr>
      </p:pic>
      <p:pic>
        <p:nvPicPr>
          <p:cNvPr id="811" name="图片 810" descr="CE12800交换机-蓝.png">
            <a:extLst>
              <a:ext uri="{FF2B5EF4-FFF2-40B4-BE49-F238E27FC236}">
                <a16:creationId xmlns:a16="http://schemas.microsoft.com/office/drawing/2014/main" id="{DB8FF6A3-432F-4A80-9A8B-4EA231F92020}"/>
              </a:ext>
            </a:extLst>
          </p:cNvPr>
          <p:cNvPicPr>
            <a:picLocks noChangeAspect="1"/>
          </p:cNvPicPr>
          <p:nvPr/>
        </p:nvPicPr>
        <p:blipFill>
          <a:blip r:embed="rId3" cstate="print"/>
          <a:stretch>
            <a:fillRect/>
          </a:stretch>
        </p:blipFill>
        <p:spPr>
          <a:xfrm>
            <a:off x="4015796" y="758214"/>
            <a:ext cx="242799" cy="191067"/>
          </a:xfrm>
          <a:prstGeom prst="rect">
            <a:avLst/>
          </a:prstGeom>
        </p:spPr>
      </p:pic>
      <p:pic>
        <p:nvPicPr>
          <p:cNvPr id="812" name="图片 811" descr="CE12800交换机-蓝.png">
            <a:extLst>
              <a:ext uri="{FF2B5EF4-FFF2-40B4-BE49-F238E27FC236}">
                <a16:creationId xmlns:a16="http://schemas.microsoft.com/office/drawing/2014/main" id="{1B19FF8A-4608-4910-B5E4-C0B5D09E20DB}"/>
              </a:ext>
            </a:extLst>
          </p:cNvPr>
          <p:cNvPicPr>
            <a:picLocks noChangeAspect="1"/>
          </p:cNvPicPr>
          <p:nvPr/>
        </p:nvPicPr>
        <p:blipFill>
          <a:blip r:embed="rId3" cstate="print"/>
          <a:stretch>
            <a:fillRect/>
          </a:stretch>
        </p:blipFill>
        <p:spPr>
          <a:xfrm>
            <a:off x="4015795" y="1112986"/>
            <a:ext cx="228823" cy="163231"/>
          </a:xfrm>
          <a:prstGeom prst="rect">
            <a:avLst/>
          </a:prstGeom>
        </p:spPr>
      </p:pic>
      <p:cxnSp>
        <p:nvCxnSpPr>
          <p:cNvPr id="815" name="直接连接符 814">
            <a:extLst>
              <a:ext uri="{FF2B5EF4-FFF2-40B4-BE49-F238E27FC236}">
                <a16:creationId xmlns:a16="http://schemas.microsoft.com/office/drawing/2014/main" id="{75517C36-0558-4425-9265-AA2B3A4450B8}"/>
              </a:ext>
            </a:extLst>
          </p:cNvPr>
          <p:cNvCxnSpPr>
            <a:cxnSpLocks/>
            <a:stCxn id="775" idx="0"/>
            <a:endCxn id="812" idx="2"/>
          </p:cNvCxnSpPr>
          <p:nvPr/>
        </p:nvCxnSpPr>
        <p:spPr bwMode="auto">
          <a:xfrm flipV="1">
            <a:off x="2817171" y="1276217"/>
            <a:ext cx="1313036" cy="417766"/>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6" name="直接连接符 815">
            <a:extLst>
              <a:ext uri="{FF2B5EF4-FFF2-40B4-BE49-F238E27FC236}">
                <a16:creationId xmlns:a16="http://schemas.microsoft.com/office/drawing/2014/main" id="{820614DE-9DDC-4119-BD13-B83A9CCD7C85}"/>
              </a:ext>
            </a:extLst>
          </p:cNvPr>
          <p:cNvCxnSpPr>
            <a:cxnSpLocks/>
            <a:stCxn id="778" idx="0"/>
            <a:endCxn id="812" idx="2"/>
          </p:cNvCxnSpPr>
          <p:nvPr/>
        </p:nvCxnSpPr>
        <p:spPr bwMode="auto">
          <a:xfrm flipV="1">
            <a:off x="3454840" y="1276217"/>
            <a:ext cx="675366" cy="417766"/>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7" name="直接连接符 816">
            <a:extLst>
              <a:ext uri="{FF2B5EF4-FFF2-40B4-BE49-F238E27FC236}">
                <a16:creationId xmlns:a16="http://schemas.microsoft.com/office/drawing/2014/main" id="{BCA34AF2-FDAE-46BD-8319-A6CDF4ABF04B}"/>
              </a:ext>
            </a:extLst>
          </p:cNvPr>
          <p:cNvCxnSpPr>
            <a:cxnSpLocks/>
            <a:stCxn id="804" idx="0"/>
            <a:endCxn id="768" idx="2"/>
          </p:cNvCxnSpPr>
          <p:nvPr/>
        </p:nvCxnSpPr>
        <p:spPr bwMode="auto">
          <a:xfrm flipH="1" flipV="1">
            <a:off x="3649724" y="1272871"/>
            <a:ext cx="923575" cy="425130"/>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8" name="直接连接符 817">
            <a:extLst>
              <a:ext uri="{FF2B5EF4-FFF2-40B4-BE49-F238E27FC236}">
                <a16:creationId xmlns:a16="http://schemas.microsoft.com/office/drawing/2014/main" id="{AC422AC7-99E4-43CB-8D58-1F31A64537DA}"/>
              </a:ext>
            </a:extLst>
          </p:cNvPr>
          <p:cNvCxnSpPr>
            <a:cxnSpLocks/>
            <a:stCxn id="804" idx="0"/>
            <a:endCxn id="812" idx="2"/>
          </p:cNvCxnSpPr>
          <p:nvPr/>
        </p:nvCxnSpPr>
        <p:spPr bwMode="auto">
          <a:xfrm flipH="1" flipV="1">
            <a:off x="4130207" y="1276217"/>
            <a:ext cx="443093" cy="421784"/>
          </a:xfrm>
          <a:prstGeom prst="line">
            <a:avLst/>
          </a:prstGeom>
          <a:noFill/>
          <a:ln w="9525">
            <a:solidFill>
              <a:srgbClr val="666666">
                <a:lumMod val="75000"/>
              </a:srgbClr>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 name="直接连接符 818">
            <a:extLst>
              <a:ext uri="{FF2B5EF4-FFF2-40B4-BE49-F238E27FC236}">
                <a16:creationId xmlns:a16="http://schemas.microsoft.com/office/drawing/2014/main" id="{2FA2D3E5-4896-4F13-A1E3-0168815129F0}"/>
              </a:ext>
            </a:extLst>
          </p:cNvPr>
          <p:cNvCxnSpPr>
            <a:cxnSpLocks/>
            <a:stCxn id="805" idx="0"/>
            <a:endCxn id="768" idx="2"/>
          </p:cNvCxnSpPr>
          <p:nvPr/>
        </p:nvCxnSpPr>
        <p:spPr bwMode="auto">
          <a:xfrm flipH="1" flipV="1">
            <a:off x="3649724" y="1272871"/>
            <a:ext cx="1283275" cy="425130"/>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 name="直接连接符 819">
            <a:extLst>
              <a:ext uri="{FF2B5EF4-FFF2-40B4-BE49-F238E27FC236}">
                <a16:creationId xmlns:a16="http://schemas.microsoft.com/office/drawing/2014/main" id="{439DF504-FA87-45F7-B2B6-437FD412C83C}"/>
              </a:ext>
            </a:extLst>
          </p:cNvPr>
          <p:cNvCxnSpPr>
            <a:cxnSpLocks/>
            <a:stCxn id="805" idx="0"/>
            <a:endCxn id="812" idx="2"/>
          </p:cNvCxnSpPr>
          <p:nvPr/>
        </p:nvCxnSpPr>
        <p:spPr bwMode="auto">
          <a:xfrm flipH="1" flipV="1">
            <a:off x="4130207" y="1276217"/>
            <a:ext cx="802792" cy="421784"/>
          </a:xfrm>
          <a:prstGeom prst="line">
            <a:avLst/>
          </a:prstGeom>
          <a:noFill/>
          <a:ln w="9525">
            <a:solidFill>
              <a:srgbClr val="666666">
                <a:lumMod val="75000"/>
              </a:srgbClr>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 name="直接连接符 820">
            <a:extLst>
              <a:ext uri="{FF2B5EF4-FFF2-40B4-BE49-F238E27FC236}">
                <a16:creationId xmlns:a16="http://schemas.microsoft.com/office/drawing/2014/main" id="{31212577-60E1-4E96-8390-8061FE6B6A99}"/>
              </a:ext>
            </a:extLst>
          </p:cNvPr>
          <p:cNvCxnSpPr>
            <a:cxnSpLocks/>
            <a:stCxn id="812" idx="0"/>
            <a:endCxn id="810" idx="2"/>
          </p:cNvCxnSpPr>
          <p:nvPr/>
        </p:nvCxnSpPr>
        <p:spPr bwMode="auto">
          <a:xfrm flipH="1" flipV="1">
            <a:off x="3656713" y="950096"/>
            <a:ext cx="473494" cy="162890"/>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2" name="直接连接符 821">
            <a:extLst>
              <a:ext uri="{FF2B5EF4-FFF2-40B4-BE49-F238E27FC236}">
                <a16:creationId xmlns:a16="http://schemas.microsoft.com/office/drawing/2014/main" id="{078384E5-5AF6-41E2-A7C0-20E5A2F9E086}"/>
              </a:ext>
            </a:extLst>
          </p:cNvPr>
          <p:cNvCxnSpPr>
            <a:cxnSpLocks/>
            <a:stCxn id="768" idx="0"/>
            <a:endCxn id="811" idx="2"/>
          </p:cNvCxnSpPr>
          <p:nvPr/>
        </p:nvCxnSpPr>
        <p:spPr bwMode="auto">
          <a:xfrm flipV="1">
            <a:off x="3649725" y="949281"/>
            <a:ext cx="487471" cy="160359"/>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3" name="直接连接符 822">
            <a:extLst>
              <a:ext uri="{FF2B5EF4-FFF2-40B4-BE49-F238E27FC236}">
                <a16:creationId xmlns:a16="http://schemas.microsoft.com/office/drawing/2014/main" id="{218D4150-54B2-4D38-9753-D008ECB58EA0}"/>
              </a:ext>
            </a:extLst>
          </p:cNvPr>
          <p:cNvCxnSpPr>
            <a:cxnSpLocks/>
            <a:stCxn id="812" idx="0"/>
            <a:endCxn id="811" idx="2"/>
          </p:cNvCxnSpPr>
          <p:nvPr/>
        </p:nvCxnSpPr>
        <p:spPr bwMode="auto">
          <a:xfrm flipV="1">
            <a:off x="4130206" y="949281"/>
            <a:ext cx="6989" cy="163705"/>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4" name="文本框 823">
            <a:extLst>
              <a:ext uri="{FF2B5EF4-FFF2-40B4-BE49-F238E27FC236}">
                <a16:creationId xmlns:a16="http://schemas.microsoft.com/office/drawing/2014/main" id="{F96A9990-086F-40CC-B42D-4488A1A3289A}"/>
              </a:ext>
            </a:extLst>
          </p:cNvPr>
          <p:cNvSpPr txBox="1"/>
          <p:nvPr/>
        </p:nvSpPr>
        <p:spPr>
          <a:xfrm>
            <a:off x="4199633" y="2745169"/>
            <a:ext cx="1045158" cy="196208"/>
          </a:xfrm>
          <a:prstGeom prst="rect">
            <a:avLst/>
          </a:prstGeom>
          <a:noFill/>
        </p:spPr>
        <p:txBody>
          <a:bodyPr wrap="square" rtlCol="0" anchor="ctr">
            <a:spAutoFit/>
          </a:bodyPr>
          <a:lstStyle>
            <a:defPPr>
              <a:defRPr lang="zh-CN"/>
            </a:defPPr>
            <a:lvl1pPr marR="0" lvl="0" indent="0" algn="ctr" defTabSz="913765" fontAlgn="auto">
              <a:lnSpc>
                <a:spcPct val="100000"/>
              </a:lnSpc>
              <a:spcBef>
                <a:spcPts val="0"/>
              </a:spcBef>
              <a:spcAft>
                <a:spcPts val="0"/>
              </a:spcAft>
              <a:buClrTx/>
              <a:buSzTx/>
              <a:buFontTx/>
              <a:buNone/>
              <a:tabLst/>
              <a:defRPr kumimoji="0" sz="1200" b="1" i="0" u="none" strike="noStrike" kern="0" cap="none" spc="0" normalizeH="0" baseline="0">
                <a:ln>
                  <a:noFill/>
                </a:ln>
                <a:solidFill>
                  <a:srgbClr val="C00000"/>
                </a:solidFill>
                <a:effectLst/>
                <a:uLnTx/>
                <a:uFillTx/>
                <a:latin typeface="Calibri" panose="020F0502020204030204"/>
                <a:ea typeface="等线" panose="02010600030101010101" pitchFamily="2" charset="-122"/>
                <a:cs typeface="+mn-ea"/>
              </a:defRPr>
            </a:lvl1pPr>
          </a:lstStyle>
          <a:p>
            <a:pPr defTabSz="685050">
              <a:defRPr/>
            </a:pPr>
            <a:r>
              <a:rPr lang="en-US" altLang="zh-CN" sz="675" dirty="0">
                <a:solidFill>
                  <a:srgbClr val="1D1D1A"/>
                </a:solidFill>
                <a:latin typeface="微软雅黑" panose="020B0503020204020204" pitchFamily="34" charset="-122"/>
                <a:ea typeface="微软雅黑" panose="020B0503020204020204" pitchFamily="34" charset="-122"/>
                <a:sym typeface="+mn-lt"/>
              </a:rPr>
              <a:t>Computing Area</a:t>
            </a:r>
            <a:endParaRPr lang="en-US" sz="675" dirty="0">
              <a:solidFill>
                <a:srgbClr val="1D1D1A"/>
              </a:solidFill>
              <a:latin typeface="微软雅黑" panose="020B0503020204020204" pitchFamily="34" charset="-122"/>
              <a:ea typeface="微软雅黑" panose="020B0503020204020204" pitchFamily="34" charset="-122"/>
              <a:sym typeface="+mn-lt"/>
            </a:endParaRPr>
          </a:p>
        </p:txBody>
      </p:sp>
      <p:sp>
        <p:nvSpPr>
          <p:cNvPr id="825" name="文本框 824">
            <a:extLst>
              <a:ext uri="{FF2B5EF4-FFF2-40B4-BE49-F238E27FC236}">
                <a16:creationId xmlns:a16="http://schemas.microsoft.com/office/drawing/2014/main" id="{AE0A0674-41C1-4821-A8DF-69C585F69500}"/>
              </a:ext>
            </a:extLst>
          </p:cNvPr>
          <p:cNvSpPr txBox="1"/>
          <p:nvPr/>
        </p:nvSpPr>
        <p:spPr>
          <a:xfrm>
            <a:off x="2649565" y="2745169"/>
            <a:ext cx="1077452" cy="196208"/>
          </a:xfrm>
          <a:prstGeom prst="rect">
            <a:avLst/>
          </a:prstGeom>
          <a:noFill/>
        </p:spPr>
        <p:txBody>
          <a:bodyPr wrap="square" rtlCol="0" anchor="ctr">
            <a:spAutoFit/>
          </a:bodyPr>
          <a:lstStyle>
            <a:defPPr>
              <a:defRPr lang="zh-CN"/>
            </a:defPPr>
            <a:lvl1pPr marR="0" lvl="0" indent="0" algn="ctr" defTabSz="913765" fontAlgn="auto">
              <a:lnSpc>
                <a:spcPct val="100000"/>
              </a:lnSpc>
              <a:spcBef>
                <a:spcPts val="0"/>
              </a:spcBef>
              <a:spcAft>
                <a:spcPts val="0"/>
              </a:spcAft>
              <a:buClrTx/>
              <a:buSzTx/>
              <a:buFontTx/>
              <a:buNone/>
              <a:tabLst/>
              <a:defRPr kumimoji="0" sz="1200" b="1" i="0" u="none" strike="noStrike" kern="0" cap="none" spc="0" normalizeH="0" baseline="0">
                <a:ln>
                  <a:noFill/>
                </a:ln>
                <a:solidFill>
                  <a:srgbClr val="C00000"/>
                </a:solidFill>
                <a:effectLst/>
                <a:uLnTx/>
                <a:uFillTx/>
                <a:latin typeface="Calibri" panose="020F0502020204030204"/>
                <a:ea typeface="等线" panose="02010600030101010101" pitchFamily="2" charset="-122"/>
                <a:cs typeface="+mn-ea"/>
              </a:defRPr>
            </a:lvl1pPr>
          </a:lstStyle>
          <a:p>
            <a:pPr defTabSz="685050">
              <a:defRPr/>
            </a:pPr>
            <a:r>
              <a:rPr lang="en-US" altLang="zh-CN" sz="675" dirty="0">
                <a:solidFill>
                  <a:srgbClr val="1D1D1A"/>
                </a:solidFill>
                <a:latin typeface="微软雅黑" panose="020B0503020204020204" pitchFamily="34" charset="-122"/>
                <a:ea typeface="微软雅黑" panose="020B0503020204020204" pitchFamily="34" charset="-122"/>
                <a:sym typeface="+mn-lt"/>
              </a:rPr>
              <a:t>Network Area</a:t>
            </a:r>
            <a:endParaRPr lang="en-US" sz="675" dirty="0">
              <a:solidFill>
                <a:srgbClr val="1D1D1A"/>
              </a:solidFill>
              <a:latin typeface="微软雅黑" panose="020B0503020204020204" pitchFamily="34" charset="-122"/>
              <a:ea typeface="微软雅黑" panose="020B0503020204020204" pitchFamily="34" charset="-122"/>
              <a:sym typeface="+mn-lt"/>
            </a:endParaRPr>
          </a:p>
        </p:txBody>
      </p:sp>
      <p:sp>
        <p:nvSpPr>
          <p:cNvPr id="826" name="矩形 825">
            <a:extLst>
              <a:ext uri="{FF2B5EF4-FFF2-40B4-BE49-F238E27FC236}">
                <a16:creationId xmlns:a16="http://schemas.microsoft.com/office/drawing/2014/main" id="{D7160659-7D22-4D99-9632-01048CF9D201}"/>
              </a:ext>
            </a:extLst>
          </p:cNvPr>
          <p:cNvSpPr/>
          <p:nvPr/>
        </p:nvSpPr>
        <p:spPr>
          <a:xfrm>
            <a:off x="4292662" y="763198"/>
            <a:ext cx="1010007" cy="219291"/>
          </a:xfrm>
          <a:prstGeom prst="rect">
            <a:avLst/>
          </a:prstGeom>
        </p:spPr>
        <p:txBody>
          <a:bodyPr wrap="square" anchor="ctr">
            <a:spAutoFit/>
          </a:bodyPr>
          <a:lstStyle/>
          <a:p>
            <a:pPr defTabSz="685526">
              <a:defRPr/>
            </a:pPr>
            <a:r>
              <a:rPr lang="en-US" altLang="zh-CN" sz="825" dirty="0">
                <a:solidFill>
                  <a:prstClr val="black"/>
                </a:solidFill>
                <a:latin typeface="微软雅黑" panose="020B0503020204020204" pitchFamily="34" charset="-122"/>
                <a:ea typeface="微软雅黑" panose="020B0503020204020204" pitchFamily="34" charset="-122"/>
              </a:rPr>
              <a:t>Border Leaf</a:t>
            </a:r>
            <a:endParaRPr lang="en-US" sz="825" dirty="0">
              <a:solidFill>
                <a:prstClr val="black"/>
              </a:solidFill>
              <a:latin typeface="微软雅黑" panose="020B0503020204020204" pitchFamily="34" charset="-122"/>
              <a:ea typeface="微软雅黑" panose="020B0503020204020204" pitchFamily="34" charset="-122"/>
            </a:endParaRPr>
          </a:p>
        </p:txBody>
      </p:sp>
      <p:cxnSp>
        <p:nvCxnSpPr>
          <p:cNvPr id="827" name="直接连接符 826">
            <a:extLst>
              <a:ext uri="{FF2B5EF4-FFF2-40B4-BE49-F238E27FC236}">
                <a16:creationId xmlns:a16="http://schemas.microsoft.com/office/drawing/2014/main" id="{AB709F14-DD5F-487A-8010-29C50EF28F3F}"/>
              </a:ext>
            </a:extLst>
          </p:cNvPr>
          <p:cNvCxnSpPr>
            <a:cxnSpLocks/>
            <a:stCxn id="775" idx="2"/>
            <a:endCxn id="829" idx="0"/>
          </p:cNvCxnSpPr>
          <p:nvPr/>
        </p:nvCxnSpPr>
        <p:spPr bwMode="auto">
          <a:xfrm>
            <a:off x="2817172" y="1844864"/>
            <a:ext cx="684762" cy="429331"/>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8" name="直接连接符 827">
            <a:extLst>
              <a:ext uri="{FF2B5EF4-FFF2-40B4-BE49-F238E27FC236}">
                <a16:creationId xmlns:a16="http://schemas.microsoft.com/office/drawing/2014/main" id="{85F2F339-F8E6-42D2-A131-DB4D4DDB7598}"/>
              </a:ext>
            </a:extLst>
          </p:cNvPr>
          <p:cNvCxnSpPr>
            <a:cxnSpLocks/>
            <a:stCxn id="778" idx="2"/>
            <a:endCxn id="829" idx="0"/>
          </p:cNvCxnSpPr>
          <p:nvPr/>
        </p:nvCxnSpPr>
        <p:spPr bwMode="auto">
          <a:xfrm>
            <a:off x="3454841" y="1844864"/>
            <a:ext cx="47093" cy="429331"/>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9" name="矩形 828">
            <a:extLst>
              <a:ext uri="{FF2B5EF4-FFF2-40B4-BE49-F238E27FC236}">
                <a16:creationId xmlns:a16="http://schemas.microsoft.com/office/drawing/2014/main" id="{D598EF6F-FC4D-407E-8CA9-FE2C3DA1C020}"/>
              </a:ext>
            </a:extLst>
          </p:cNvPr>
          <p:cNvSpPr/>
          <p:nvPr/>
        </p:nvSpPr>
        <p:spPr>
          <a:xfrm>
            <a:off x="3359104" y="2274195"/>
            <a:ext cx="285658" cy="211528"/>
          </a:xfrm>
          <a:prstGeom prst="rect">
            <a:avLst/>
          </a:prstGeom>
          <a:ln w="15875">
            <a:solidFill>
              <a:sysClr val="window" lastClr="FFFFFF">
                <a:lumMod val="75000"/>
              </a:sysClr>
            </a:solidFill>
          </a:ln>
        </p:spPr>
        <p:txBody>
          <a:bodyPr wrap="square" rtlCol="0" anchor="ctr">
            <a:noAutofit/>
          </a:bodyPr>
          <a:lstStyle/>
          <a:p>
            <a:pPr defTabSz="685173">
              <a:defRPr/>
            </a:pPr>
            <a:endParaRPr lang="zh-CN" altLang="en-US" sz="900" b="1"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830" name="Freeform 99">
            <a:extLst>
              <a:ext uri="{FF2B5EF4-FFF2-40B4-BE49-F238E27FC236}">
                <a16:creationId xmlns:a16="http://schemas.microsoft.com/office/drawing/2014/main" id="{B8CA3F15-E47A-461F-B7A0-EE0E03B5B3EA}"/>
              </a:ext>
            </a:extLst>
          </p:cNvPr>
          <p:cNvSpPr>
            <a:spLocks noEditPoints="1"/>
          </p:cNvSpPr>
          <p:nvPr/>
        </p:nvSpPr>
        <p:spPr bwMode="auto">
          <a:xfrm>
            <a:off x="3395319" y="2298868"/>
            <a:ext cx="215896" cy="170427"/>
          </a:xfrm>
          <a:custGeom>
            <a:avLst/>
            <a:gdLst>
              <a:gd name="T0" fmla="*/ 21 w 170"/>
              <a:gd name="T1" fmla="*/ 134 h 170"/>
              <a:gd name="T2" fmla="*/ 10 w 170"/>
              <a:gd name="T3" fmla="*/ 100 h 170"/>
              <a:gd name="T4" fmla="*/ 0 w 170"/>
              <a:gd name="T5" fmla="*/ 159 h 170"/>
              <a:gd name="T6" fmla="*/ 0 w 170"/>
              <a:gd name="T7" fmla="*/ 162 h 170"/>
              <a:gd name="T8" fmla="*/ 1 w 170"/>
              <a:gd name="T9" fmla="*/ 164 h 170"/>
              <a:gd name="T10" fmla="*/ 5 w 170"/>
              <a:gd name="T11" fmla="*/ 168 h 170"/>
              <a:gd name="T12" fmla="*/ 6 w 170"/>
              <a:gd name="T13" fmla="*/ 169 h 170"/>
              <a:gd name="T14" fmla="*/ 8 w 170"/>
              <a:gd name="T15" fmla="*/ 169 h 170"/>
              <a:gd name="T16" fmla="*/ 59 w 170"/>
              <a:gd name="T17" fmla="*/ 170 h 170"/>
              <a:gd name="T18" fmla="*/ 59 w 170"/>
              <a:gd name="T19" fmla="*/ 149 h 170"/>
              <a:gd name="T20" fmla="*/ 76 w 170"/>
              <a:gd name="T21" fmla="*/ 109 h 170"/>
              <a:gd name="T22" fmla="*/ 61 w 170"/>
              <a:gd name="T23" fmla="*/ 94 h 170"/>
              <a:gd name="T24" fmla="*/ 21 w 170"/>
              <a:gd name="T25" fmla="*/ 58 h 170"/>
              <a:gd name="T26" fmla="*/ 61 w 170"/>
              <a:gd name="T27" fmla="*/ 75 h 170"/>
              <a:gd name="T28" fmla="*/ 76 w 170"/>
              <a:gd name="T29" fmla="*/ 75 h 170"/>
              <a:gd name="T30" fmla="*/ 36 w 170"/>
              <a:gd name="T31" fmla="*/ 21 h 170"/>
              <a:gd name="T32" fmla="*/ 69 w 170"/>
              <a:gd name="T33" fmla="*/ 10 h 170"/>
              <a:gd name="T34" fmla="*/ 10 w 170"/>
              <a:gd name="T35" fmla="*/ 0 h 170"/>
              <a:gd name="T36" fmla="*/ 7 w 170"/>
              <a:gd name="T37" fmla="*/ 0 h 170"/>
              <a:gd name="T38" fmla="*/ 5 w 170"/>
              <a:gd name="T39" fmla="*/ 1 h 170"/>
              <a:gd name="T40" fmla="*/ 2 w 170"/>
              <a:gd name="T41" fmla="*/ 4 h 170"/>
              <a:gd name="T42" fmla="*/ 1 w 170"/>
              <a:gd name="T43" fmla="*/ 6 h 170"/>
              <a:gd name="T44" fmla="*/ 0 w 170"/>
              <a:gd name="T45" fmla="*/ 8 h 170"/>
              <a:gd name="T46" fmla="*/ 0 w 170"/>
              <a:gd name="T47" fmla="*/ 58 h 170"/>
              <a:gd name="T48" fmla="*/ 102 w 170"/>
              <a:gd name="T49" fmla="*/ 78 h 170"/>
              <a:gd name="T50" fmla="*/ 149 w 170"/>
              <a:gd name="T51" fmla="*/ 35 h 170"/>
              <a:gd name="T52" fmla="*/ 160 w 170"/>
              <a:gd name="T53" fmla="*/ 69 h 170"/>
              <a:gd name="T54" fmla="*/ 170 w 170"/>
              <a:gd name="T55" fmla="*/ 10 h 170"/>
              <a:gd name="T56" fmla="*/ 170 w 170"/>
              <a:gd name="T57" fmla="*/ 7 h 170"/>
              <a:gd name="T58" fmla="*/ 169 w 170"/>
              <a:gd name="T59" fmla="*/ 5 h 170"/>
              <a:gd name="T60" fmla="*/ 165 w 170"/>
              <a:gd name="T61" fmla="*/ 1 h 170"/>
              <a:gd name="T62" fmla="*/ 164 w 170"/>
              <a:gd name="T63" fmla="*/ 0 h 170"/>
              <a:gd name="T64" fmla="*/ 162 w 170"/>
              <a:gd name="T65" fmla="*/ 0 h 170"/>
              <a:gd name="T66" fmla="*/ 111 w 170"/>
              <a:gd name="T67" fmla="*/ 0 h 170"/>
              <a:gd name="T68" fmla="*/ 111 w 170"/>
              <a:gd name="T69" fmla="*/ 21 h 170"/>
              <a:gd name="T70" fmla="*/ 94 w 170"/>
              <a:gd name="T71" fmla="*/ 61 h 170"/>
              <a:gd name="T72" fmla="*/ 102 w 170"/>
              <a:gd name="T73" fmla="*/ 78 h 170"/>
              <a:gd name="T74" fmla="*/ 149 w 170"/>
              <a:gd name="T75" fmla="*/ 112 h 170"/>
              <a:gd name="T76" fmla="*/ 110 w 170"/>
              <a:gd name="T77" fmla="*/ 95 h 170"/>
              <a:gd name="T78" fmla="*/ 95 w 170"/>
              <a:gd name="T79" fmla="*/ 95 h 170"/>
              <a:gd name="T80" fmla="*/ 135 w 170"/>
              <a:gd name="T81" fmla="*/ 149 h 170"/>
              <a:gd name="T82" fmla="*/ 102 w 170"/>
              <a:gd name="T83" fmla="*/ 159 h 170"/>
              <a:gd name="T84" fmla="*/ 160 w 170"/>
              <a:gd name="T85" fmla="*/ 170 h 170"/>
              <a:gd name="T86" fmla="*/ 163 w 170"/>
              <a:gd name="T87" fmla="*/ 169 h 170"/>
              <a:gd name="T88" fmla="*/ 165 w 170"/>
              <a:gd name="T89" fmla="*/ 168 h 170"/>
              <a:gd name="T90" fmla="*/ 168 w 170"/>
              <a:gd name="T91" fmla="*/ 165 h 170"/>
              <a:gd name="T92" fmla="*/ 169 w 170"/>
              <a:gd name="T93" fmla="*/ 163 h 170"/>
              <a:gd name="T94" fmla="*/ 170 w 170"/>
              <a:gd name="T95" fmla="*/ 161 h 170"/>
              <a:gd name="T96" fmla="*/ 170 w 170"/>
              <a:gd name="T97" fmla="*/ 1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70">
                <a:moveTo>
                  <a:pt x="61" y="94"/>
                </a:moveTo>
                <a:cubicBezTo>
                  <a:pt x="21" y="134"/>
                  <a:pt x="21" y="134"/>
                  <a:pt x="21" y="134"/>
                </a:cubicBezTo>
                <a:cubicBezTo>
                  <a:pt x="21" y="111"/>
                  <a:pt x="21" y="111"/>
                  <a:pt x="21" y="111"/>
                </a:cubicBezTo>
                <a:cubicBezTo>
                  <a:pt x="21" y="105"/>
                  <a:pt x="16" y="100"/>
                  <a:pt x="10" y="100"/>
                </a:cubicBezTo>
                <a:cubicBezTo>
                  <a:pt x="5" y="100"/>
                  <a:pt x="0" y="105"/>
                  <a:pt x="0" y="111"/>
                </a:cubicBezTo>
                <a:cubicBezTo>
                  <a:pt x="0" y="159"/>
                  <a:pt x="0" y="159"/>
                  <a:pt x="0" y="159"/>
                </a:cubicBezTo>
                <a:cubicBezTo>
                  <a:pt x="0" y="160"/>
                  <a:pt x="0" y="161"/>
                  <a:pt x="0" y="161"/>
                </a:cubicBezTo>
                <a:cubicBezTo>
                  <a:pt x="0" y="162"/>
                  <a:pt x="0" y="162"/>
                  <a:pt x="0" y="162"/>
                </a:cubicBezTo>
                <a:cubicBezTo>
                  <a:pt x="1" y="163"/>
                  <a:pt x="1" y="163"/>
                  <a:pt x="1" y="163"/>
                </a:cubicBezTo>
                <a:cubicBezTo>
                  <a:pt x="1" y="164"/>
                  <a:pt x="1" y="164"/>
                  <a:pt x="1" y="164"/>
                </a:cubicBezTo>
                <a:cubicBezTo>
                  <a:pt x="2" y="165"/>
                  <a:pt x="2" y="165"/>
                  <a:pt x="2" y="165"/>
                </a:cubicBezTo>
                <a:cubicBezTo>
                  <a:pt x="2" y="166"/>
                  <a:pt x="3" y="167"/>
                  <a:pt x="5" y="168"/>
                </a:cubicBezTo>
                <a:cubicBezTo>
                  <a:pt x="5" y="168"/>
                  <a:pt x="5" y="168"/>
                  <a:pt x="5" y="168"/>
                </a:cubicBezTo>
                <a:cubicBezTo>
                  <a:pt x="6" y="169"/>
                  <a:pt x="6" y="169"/>
                  <a:pt x="6" y="169"/>
                </a:cubicBezTo>
                <a:cubicBezTo>
                  <a:pt x="7" y="169"/>
                  <a:pt x="7" y="169"/>
                  <a:pt x="7" y="169"/>
                </a:cubicBezTo>
                <a:cubicBezTo>
                  <a:pt x="8" y="169"/>
                  <a:pt x="8" y="169"/>
                  <a:pt x="8" y="169"/>
                </a:cubicBezTo>
                <a:cubicBezTo>
                  <a:pt x="9" y="170"/>
                  <a:pt x="10" y="170"/>
                  <a:pt x="10" y="170"/>
                </a:cubicBezTo>
                <a:cubicBezTo>
                  <a:pt x="59" y="170"/>
                  <a:pt x="59" y="170"/>
                  <a:pt x="59" y="170"/>
                </a:cubicBezTo>
                <a:cubicBezTo>
                  <a:pt x="65" y="170"/>
                  <a:pt x="69" y="165"/>
                  <a:pt x="69" y="159"/>
                </a:cubicBezTo>
                <a:cubicBezTo>
                  <a:pt x="69" y="153"/>
                  <a:pt x="65" y="149"/>
                  <a:pt x="59" y="149"/>
                </a:cubicBezTo>
                <a:cubicBezTo>
                  <a:pt x="36" y="149"/>
                  <a:pt x="36" y="149"/>
                  <a:pt x="36" y="149"/>
                </a:cubicBezTo>
                <a:cubicBezTo>
                  <a:pt x="76" y="109"/>
                  <a:pt x="76" y="109"/>
                  <a:pt x="76" y="109"/>
                </a:cubicBezTo>
                <a:cubicBezTo>
                  <a:pt x="80" y="105"/>
                  <a:pt x="80" y="98"/>
                  <a:pt x="76" y="94"/>
                </a:cubicBezTo>
                <a:cubicBezTo>
                  <a:pt x="72" y="90"/>
                  <a:pt x="65" y="90"/>
                  <a:pt x="61" y="94"/>
                </a:cubicBezTo>
                <a:close/>
                <a:moveTo>
                  <a:pt x="10" y="69"/>
                </a:moveTo>
                <a:cubicBezTo>
                  <a:pt x="16" y="69"/>
                  <a:pt x="21" y="64"/>
                  <a:pt x="21" y="58"/>
                </a:cubicBezTo>
                <a:cubicBezTo>
                  <a:pt x="21" y="35"/>
                  <a:pt x="21" y="35"/>
                  <a:pt x="21" y="35"/>
                </a:cubicBezTo>
                <a:cubicBezTo>
                  <a:pt x="61" y="75"/>
                  <a:pt x="61" y="75"/>
                  <a:pt x="61" y="75"/>
                </a:cubicBezTo>
                <a:cubicBezTo>
                  <a:pt x="63" y="77"/>
                  <a:pt x="66" y="78"/>
                  <a:pt x="68" y="78"/>
                </a:cubicBezTo>
                <a:cubicBezTo>
                  <a:pt x="71" y="78"/>
                  <a:pt x="74" y="77"/>
                  <a:pt x="76" y="75"/>
                </a:cubicBezTo>
                <a:cubicBezTo>
                  <a:pt x="80" y="71"/>
                  <a:pt x="80" y="65"/>
                  <a:pt x="76" y="61"/>
                </a:cubicBezTo>
                <a:cubicBezTo>
                  <a:pt x="36" y="21"/>
                  <a:pt x="36" y="21"/>
                  <a:pt x="36" y="21"/>
                </a:cubicBezTo>
                <a:cubicBezTo>
                  <a:pt x="59" y="21"/>
                  <a:pt x="59" y="21"/>
                  <a:pt x="59" y="21"/>
                </a:cubicBezTo>
                <a:cubicBezTo>
                  <a:pt x="65" y="21"/>
                  <a:pt x="69" y="16"/>
                  <a:pt x="69" y="10"/>
                </a:cubicBezTo>
                <a:cubicBezTo>
                  <a:pt x="69" y="4"/>
                  <a:pt x="65" y="0"/>
                  <a:pt x="59" y="0"/>
                </a:cubicBezTo>
                <a:cubicBezTo>
                  <a:pt x="10" y="0"/>
                  <a:pt x="10" y="0"/>
                  <a:pt x="10" y="0"/>
                </a:cubicBezTo>
                <a:cubicBezTo>
                  <a:pt x="10" y="0"/>
                  <a:pt x="9" y="0"/>
                  <a:pt x="8" y="0"/>
                </a:cubicBezTo>
                <a:cubicBezTo>
                  <a:pt x="7" y="0"/>
                  <a:pt x="7" y="0"/>
                  <a:pt x="7" y="0"/>
                </a:cubicBezTo>
                <a:cubicBezTo>
                  <a:pt x="6" y="0"/>
                  <a:pt x="6" y="0"/>
                  <a:pt x="6" y="0"/>
                </a:cubicBezTo>
                <a:cubicBezTo>
                  <a:pt x="6" y="1"/>
                  <a:pt x="6" y="1"/>
                  <a:pt x="5" y="1"/>
                </a:cubicBezTo>
                <a:cubicBezTo>
                  <a:pt x="5" y="1"/>
                  <a:pt x="5" y="1"/>
                  <a:pt x="5" y="1"/>
                </a:cubicBezTo>
                <a:cubicBezTo>
                  <a:pt x="3" y="2"/>
                  <a:pt x="2" y="3"/>
                  <a:pt x="2" y="4"/>
                </a:cubicBezTo>
                <a:cubicBezTo>
                  <a:pt x="1" y="5"/>
                  <a:pt x="1" y="5"/>
                  <a:pt x="1" y="5"/>
                </a:cubicBezTo>
                <a:cubicBezTo>
                  <a:pt x="1" y="6"/>
                  <a:pt x="1" y="6"/>
                  <a:pt x="1" y="6"/>
                </a:cubicBezTo>
                <a:cubicBezTo>
                  <a:pt x="0" y="7"/>
                  <a:pt x="0" y="7"/>
                  <a:pt x="0" y="7"/>
                </a:cubicBezTo>
                <a:cubicBezTo>
                  <a:pt x="0" y="8"/>
                  <a:pt x="0" y="8"/>
                  <a:pt x="0" y="8"/>
                </a:cubicBezTo>
                <a:cubicBezTo>
                  <a:pt x="0" y="9"/>
                  <a:pt x="0" y="9"/>
                  <a:pt x="0" y="10"/>
                </a:cubicBezTo>
                <a:cubicBezTo>
                  <a:pt x="0" y="58"/>
                  <a:pt x="0" y="58"/>
                  <a:pt x="0" y="58"/>
                </a:cubicBezTo>
                <a:cubicBezTo>
                  <a:pt x="0" y="64"/>
                  <a:pt x="5" y="69"/>
                  <a:pt x="10" y="69"/>
                </a:cubicBezTo>
                <a:close/>
                <a:moveTo>
                  <a:pt x="102" y="78"/>
                </a:moveTo>
                <a:cubicBezTo>
                  <a:pt x="104" y="78"/>
                  <a:pt x="107" y="77"/>
                  <a:pt x="109" y="75"/>
                </a:cubicBezTo>
                <a:cubicBezTo>
                  <a:pt x="149" y="35"/>
                  <a:pt x="149" y="35"/>
                  <a:pt x="149" y="35"/>
                </a:cubicBezTo>
                <a:cubicBezTo>
                  <a:pt x="149" y="58"/>
                  <a:pt x="149" y="58"/>
                  <a:pt x="149" y="58"/>
                </a:cubicBezTo>
                <a:cubicBezTo>
                  <a:pt x="149" y="64"/>
                  <a:pt x="154" y="69"/>
                  <a:pt x="160" y="69"/>
                </a:cubicBezTo>
                <a:cubicBezTo>
                  <a:pt x="165" y="69"/>
                  <a:pt x="170" y="64"/>
                  <a:pt x="170" y="58"/>
                </a:cubicBezTo>
                <a:cubicBezTo>
                  <a:pt x="170" y="10"/>
                  <a:pt x="170" y="10"/>
                  <a:pt x="170" y="10"/>
                </a:cubicBezTo>
                <a:cubicBezTo>
                  <a:pt x="170" y="9"/>
                  <a:pt x="170" y="9"/>
                  <a:pt x="170" y="8"/>
                </a:cubicBezTo>
                <a:cubicBezTo>
                  <a:pt x="170" y="7"/>
                  <a:pt x="170" y="7"/>
                  <a:pt x="170" y="7"/>
                </a:cubicBezTo>
                <a:cubicBezTo>
                  <a:pt x="169" y="6"/>
                  <a:pt x="169" y="6"/>
                  <a:pt x="169" y="6"/>
                </a:cubicBezTo>
                <a:cubicBezTo>
                  <a:pt x="169" y="6"/>
                  <a:pt x="169" y="5"/>
                  <a:pt x="169" y="5"/>
                </a:cubicBezTo>
                <a:cubicBezTo>
                  <a:pt x="168" y="4"/>
                  <a:pt x="168" y="4"/>
                  <a:pt x="168" y="4"/>
                </a:cubicBezTo>
                <a:cubicBezTo>
                  <a:pt x="167" y="3"/>
                  <a:pt x="166" y="2"/>
                  <a:pt x="165" y="1"/>
                </a:cubicBezTo>
                <a:cubicBezTo>
                  <a:pt x="165" y="1"/>
                  <a:pt x="165" y="1"/>
                  <a:pt x="165" y="1"/>
                </a:cubicBezTo>
                <a:cubicBezTo>
                  <a:pt x="164" y="0"/>
                  <a:pt x="164" y="0"/>
                  <a:pt x="164" y="0"/>
                </a:cubicBezTo>
                <a:cubicBezTo>
                  <a:pt x="162" y="0"/>
                  <a:pt x="162" y="0"/>
                  <a:pt x="162" y="0"/>
                </a:cubicBezTo>
                <a:cubicBezTo>
                  <a:pt x="162" y="0"/>
                  <a:pt x="162" y="0"/>
                  <a:pt x="162" y="0"/>
                </a:cubicBezTo>
                <a:cubicBezTo>
                  <a:pt x="161" y="0"/>
                  <a:pt x="160" y="0"/>
                  <a:pt x="160" y="0"/>
                </a:cubicBezTo>
                <a:cubicBezTo>
                  <a:pt x="111" y="0"/>
                  <a:pt x="111" y="0"/>
                  <a:pt x="111" y="0"/>
                </a:cubicBezTo>
                <a:cubicBezTo>
                  <a:pt x="105" y="0"/>
                  <a:pt x="101" y="4"/>
                  <a:pt x="101" y="10"/>
                </a:cubicBezTo>
                <a:cubicBezTo>
                  <a:pt x="101" y="16"/>
                  <a:pt x="105" y="21"/>
                  <a:pt x="111" y="21"/>
                </a:cubicBezTo>
                <a:cubicBezTo>
                  <a:pt x="134" y="21"/>
                  <a:pt x="134" y="21"/>
                  <a:pt x="134" y="21"/>
                </a:cubicBezTo>
                <a:cubicBezTo>
                  <a:pt x="94" y="61"/>
                  <a:pt x="94" y="61"/>
                  <a:pt x="94" y="61"/>
                </a:cubicBezTo>
                <a:cubicBezTo>
                  <a:pt x="90" y="65"/>
                  <a:pt x="90" y="71"/>
                  <a:pt x="94" y="75"/>
                </a:cubicBezTo>
                <a:cubicBezTo>
                  <a:pt x="96" y="77"/>
                  <a:pt x="99" y="78"/>
                  <a:pt x="102" y="78"/>
                </a:cubicBezTo>
                <a:close/>
                <a:moveTo>
                  <a:pt x="160" y="101"/>
                </a:moveTo>
                <a:cubicBezTo>
                  <a:pt x="154" y="101"/>
                  <a:pt x="149" y="106"/>
                  <a:pt x="149" y="112"/>
                </a:cubicBezTo>
                <a:cubicBezTo>
                  <a:pt x="149" y="134"/>
                  <a:pt x="149" y="134"/>
                  <a:pt x="149" y="134"/>
                </a:cubicBezTo>
                <a:cubicBezTo>
                  <a:pt x="110" y="95"/>
                  <a:pt x="110" y="95"/>
                  <a:pt x="110" y="95"/>
                </a:cubicBezTo>
                <a:cubicBezTo>
                  <a:pt x="108" y="93"/>
                  <a:pt x="105" y="92"/>
                  <a:pt x="102" y="92"/>
                </a:cubicBezTo>
                <a:cubicBezTo>
                  <a:pt x="100" y="92"/>
                  <a:pt x="97" y="93"/>
                  <a:pt x="95" y="95"/>
                </a:cubicBezTo>
                <a:cubicBezTo>
                  <a:pt x="91" y="99"/>
                  <a:pt x="91" y="105"/>
                  <a:pt x="95" y="109"/>
                </a:cubicBezTo>
                <a:cubicBezTo>
                  <a:pt x="135" y="149"/>
                  <a:pt x="135" y="149"/>
                  <a:pt x="135" y="149"/>
                </a:cubicBezTo>
                <a:cubicBezTo>
                  <a:pt x="112" y="149"/>
                  <a:pt x="112" y="149"/>
                  <a:pt x="112" y="149"/>
                </a:cubicBezTo>
                <a:cubicBezTo>
                  <a:pt x="106" y="149"/>
                  <a:pt x="102" y="154"/>
                  <a:pt x="102" y="159"/>
                </a:cubicBezTo>
                <a:cubicBezTo>
                  <a:pt x="102" y="165"/>
                  <a:pt x="106" y="170"/>
                  <a:pt x="112" y="170"/>
                </a:cubicBezTo>
                <a:cubicBezTo>
                  <a:pt x="160" y="170"/>
                  <a:pt x="160" y="170"/>
                  <a:pt x="160" y="170"/>
                </a:cubicBezTo>
                <a:cubicBezTo>
                  <a:pt x="160" y="170"/>
                  <a:pt x="161" y="170"/>
                  <a:pt x="162" y="169"/>
                </a:cubicBezTo>
                <a:cubicBezTo>
                  <a:pt x="163" y="169"/>
                  <a:pt x="163" y="169"/>
                  <a:pt x="163" y="169"/>
                </a:cubicBezTo>
                <a:cubicBezTo>
                  <a:pt x="164" y="169"/>
                  <a:pt x="164" y="169"/>
                  <a:pt x="164" y="169"/>
                </a:cubicBezTo>
                <a:cubicBezTo>
                  <a:pt x="165" y="168"/>
                  <a:pt x="165" y="168"/>
                  <a:pt x="165" y="168"/>
                </a:cubicBezTo>
                <a:cubicBezTo>
                  <a:pt x="165" y="168"/>
                  <a:pt x="165" y="168"/>
                  <a:pt x="165" y="168"/>
                </a:cubicBezTo>
                <a:cubicBezTo>
                  <a:pt x="167" y="167"/>
                  <a:pt x="168" y="166"/>
                  <a:pt x="168" y="165"/>
                </a:cubicBezTo>
                <a:cubicBezTo>
                  <a:pt x="169" y="164"/>
                  <a:pt x="169" y="164"/>
                  <a:pt x="169" y="164"/>
                </a:cubicBezTo>
                <a:cubicBezTo>
                  <a:pt x="169" y="163"/>
                  <a:pt x="169" y="163"/>
                  <a:pt x="169" y="163"/>
                </a:cubicBezTo>
                <a:cubicBezTo>
                  <a:pt x="170" y="162"/>
                  <a:pt x="170" y="162"/>
                  <a:pt x="170" y="162"/>
                </a:cubicBezTo>
                <a:cubicBezTo>
                  <a:pt x="170" y="161"/>
                  <a:pt x="170" y="161"/>
                  <a:pt x="170" y="161"/>
                </a:cubicBezTo>
                <a:cubicBezTo>
                  <a:pt x="170" y="161"/>
                  <a:pt x="170" y="160"/>
                  <a:pt x="170" y="159"/>
                </a:cubicBezTo>
                <a:cubicBezTo>
                  <a:pt x="170" y="112"/>
                  <a:pt x="170" y="112"/>
                  <a:pt x="170" y="112"/>
                </a:cubicBezTo>
                <a:cubicBezTo>
                  <a:pt x="170" y="106"/>
                  <a:pt x="165" y="101"/>
                  <a:pt x="160" y="101"/>
                </a:cubicBezTo>
                <a:close/>
              </a:path>
            </a:pathLst>
          </a:custGeom>
          <a:solidFill>
            <a:srgbClr val="C00000"/>
          </a:solidFill>
          <a:ln w="12700" cap="flat" cmpd="sng" algn="ctr">
            <a:solidFill>
              <a:srgbClr val="E7E6E6">
                <a:lumMod val="75000"/>
              </a:srgbClr>
            </a:solidFill>
            <a:prstDash val="solid"/>
            <a:miter lim="800000"/>
          </a:ln>
          <a:effectLst/>
        </p:spPr>
        <p:txBody>
          <a:bodyPr rot="0" spcFirstLastPara="0" vertOverflow="overflow" horzOverflow="overflow" vert="horz" wrap="square" lIns="68510" tIns="34255" rIns="68510" bIns="34255" numCol="1" spcCol="0" rtlCol="0" fromWordArt="0" anchor="ctr" anchorCtr="0" forceAA="0" compatLnSpc="1">
            <a:prstTxWarp prst="textNoShape">
              <a:avLst/>
            </a:prstTxWarp>
            <a:noAutofit/>
          </a:bodyPr>
          <a:lstStyle/>
          <a:p>
            <a:pPr algn="ctr" defTabSz="685173">
              <a:defRPr/>
            </a:pPr>
            <a:endParaRPr lang="zh-CN" altLang="en-US" sz="600" b="1">
              <a:solidFill>
                <a:srgbClr val="666666"/>
              </a:solidFill>
              <a:latin typeface="微软雅黑" panose="020B0503020204020204" pitchFamily="34" charset="-122"/>
              <a:ea typeface="微软雅黑" panose="020B0503020204020204" pitchFamily="34" charset="-122"/>
              <a:cs typeface="+mn-ea"/>
            </a:endParaRPr>
          </a:p>
        </p:txBody>
      </p:sp>
      <p:sp>
        <p:nvSpPr>
          <p:cNvPr id="831" name="矩形 830">
            <a:extLst>
              <a:ext uri="{FF2B5EF4-FFF2-40B4-BE49-F238E27FC236}">
                <a16:creationId xmlns:a16="http://schemas.microsoft.com/office/drawing/2014/main" id="{EC9D99EA-5749-4940-BEC6-690FF440B5A2}"/>
              </a:ext>
            </a:extLst>
          </p:cNvPr>
          <p:cNvSpPr/>
          <p:nvPr/>
        </p:nvSpPr>
        <p:spPr>
          <a:xfrm>
            <a:off x="2586793" y="975383"/>
            <a:ext cx="874715" cy="369332"/>
          </a:xfrm>
          <a:prstGeom prst="rect">
            <a:avLst/>
          </a:prstGeom>
        </p:spPr>
        <p:txBody>
          <a:bodyPr wrap="square">
            <a:spAutoFit/>
          </a:bodyPr>
          <a:lstStyle/>
          <a:p>
            <a:pPr algn="ctr" defTabSz="685526">
              <a:defRPr/>
            </a:pPr>
            <a:r>
              <a:rPr lang="en-US" altLang="zh-CN" sz="900" b="1" dirty="0">
                <a:solidFill>
                  <a:prstClr val="black"/>
                </a:solidFill>
                <a:latin typeface="微软雅黑" panose="020B0503020204020204" pitchFamily="34" charset="-122"/>
                <a:ea typeface="微软雅黑" panose="020B0503020204020204" pitchFamily="34" charset="-122"/>
              </a:rPr>
              <a:t>UnionPay</a:t>
            </a:r>
          </a:p>
          <a:p>
            <a:pPr algn="ctr" defTabSz="685526">
              <a:defRPr/>
            </a:pPr>
            <a:r>
              <a:rPr lang="en-US" altLang="zh-CN" sz="900" b="1" dirty="0">
                <a:solidFill>
                  <a:prstClr val="black"/>
                </a:solidFill>
                <a:latin typeface="微软雅黑" panose="020B0503020204020204" pitchFamily="34" charset="-122"/>
                <a:ea typeface="微软雅黑" panose="020B0503020204020204" pitchFamily="34" charset="-122"/>
              </a:rPr>
              <a:t>Data Center</a:t>
            </a:r>
            <a:endParaRPr lang="en-US" sz="900" b="1" dirty="0">
              <a:solidFill>
                <a:prstClr val="black"/>
              </a:solidFill>
              <a:latin typeface="微软雅黑" panose="020B0503020204020204" pitchFamily="34" charset="-122"/>
              <a:ea typeface="微软雅黑" panose="020B0503020204020204" pitchFamily="34" charset="-122"/>
            </a:endParaRPr>
          </a:p>
        </p:txBody>
      </p:sp>
      <p:pic>
        <p:nvPicPr>
          <p:cNvPr id="832" name="图片 831" descr="VSwitch+VM 1蓝.png">
            <a:extLst>
              <a:ext uri="{FF2B5EF4-FFF2-40B4-BE49-F238E27FC236}">
                <a16:creationId xmlns:a16="http://schemas.microsoft.com/office/drawing/2014/main" id="{D7305EEB-88CC-43B2-8A67-CD3C32A5F288}"/>
              </a:ext>
            </a:extLst>
          </p:cNvPr>
          <p:cNvPicPr>
            <a:picLocks noChangeAspect="1"/>
          </p:cNvPicPr>
          <p:nvPr/>
        </p:nvPicPr>
        <p:blipFill>
          <a:blip r:embed="rId5" cstate="print"/>
          <a:stretch>
            <a:fillRect/>
          </a:stretch>
        </p:blipFill>
        <p:spPr>
          <a:xfrm>
            <a:off x="4901288" y="2285987"/>
            <a:ext cx="236712" cy="204222"/>
          </a:xfrm>
          <a:prstGeom prst="rect">
            <a:avLst/>
          </a:prstGeom>
        </p:spPr>
      </p:pic>
      <p:sp>
        <p:nvSpPr>
          <p:cNvPr id="833" name="TextBox 125">
            <a:extLst>
              <a:ext uri="{FF2B5EF4-FFF2-40B4-BE49-F238E27FC236}">
                <a16:creationId xmlns:a16="http://schemas.microsoft.com/office/drawing/2014/main" id="{F382756B-F46D-4585-9BFA-8E439CF72081}"/>
              </a:ext>
            </a:extLst>
          </p:cNvPr>
          <p:cNvSpPr txBox="1"/>
          <p:nvPr/>
        </p:nvSpPr>
        <p:spPr>
          <a:xfrm>
            <a:off x="4774211" y="2474133"/>
            <a:ext cx="503963" cy="276999"/>
          </a:xfrm>
          <a:prstGeom prst="rect">
            <a:avLst/>
          </a:prstGeom>
          <a:noFill/>
        </p:spPr>
        <p:txBody>
          <a:bodyPr wrap="square" lIns="0" rIns="0" rtlCol="0" anchor="ctr">
            <a:spAutoFit/>
          </a:bodyPr>
          <a:lstStyle/>
          <a:p>
            <a:pPr algn="ctr" defTabSz="685388" fontAlgn="base">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a:t>
            </a:r>
          </a:p>
          <a:p>
            <a:pPr algn="ctr" defTabSz="685388" fontAlgn="base">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Node</a:t>
            </a:r>
          </a:p>
        </p:txBody>
      </p:sp>
      <p:cxnSp>
        <p:nvCxnSpPr>
          <p:cNvPr id="834" name="直接连接符 833">
            <a:extLst>
              <a:ext uri="{FF2B5EF4-FFF2-40B4-BE49-F238E27FC236}">
                <a16:creationId xmlns:a16="http://schemas.microsoft.com/office/drawing/2014/main" id="{CED9F6B1-7704-45E3-857D-9A49CBCC642B}"/>
              </a:ext>
            </a:extLst>
          </p:cNvPr>
          <p:cNvCxnSpPr>
            <a:cxnSpLocks/>
            <a:stCxn id="832" idx="0"/>
            <a:endCxn id="805" idx="2"/>
          </p:cNvCxnSpPr>
          <p:nvPr/>
        </p:nvCxnSpPr>
        <p:spPr bwMode="auto">
          <a:xfrm flipH="1" flipV="1">
            <a:off x="4933000" y="1848881"/>
            <a:ext cx="86644" cy="437105"/>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5" name="直接连接符 834">
            <a:extLst>
              <a:ext uri="{FF2B5EF4-FFF2-40B4-BE49-F238E27FC236}">
                <a16:creationId xmlns:a16="http://schemas.microsoft.com/office/drawing/2014/main" id="{767029F9-6DA0-4AEA-8266-AD4B67125CA9}"/>
              </a:ext>
            </a:extLst>
          </p:cNvPr>
          <p:cNvCxnSpPr>
            <a:cxnSpLocks/>
            <a:stCxn id="832" idx="0"/>
            <a:endCxn id="804" idx="2"/>
          </p:cNvCxnSpPr>
          <p:nvPr/>
        </p:nvCxnSpPr>
        <p:spPr bwMode="auto">
          <a:xfrm flipH="1" flipV="1">
            <a:off x="4573300" y="1848881"/>
            <a:ext cx="446344" cy="437105"/>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6" name="矩形: 圆角 835">
            <a:extLst>
              <a:ext uri="{FF2B5EF4-FFF2-40B4-BE49-F238E27FC236}">
                <a16:creationId xmlns:a16="http://schemas.microsoft.com/office/drawing/2014/main" id="{225681FF-703A-45EC-BC18-40852DA45C68}"/>
              </a:ext>
            </a:extLst>
          </p:cNvPr>
          <p:cNvSpPr/>
          <p:nvPr/>
        </p:nvSpPr>
        <p:spPr>
          <a:xfrm>
            <a:off x="2546196" y="2164880"/>
            <a:ext cx="514112" cy="525210"/>
          </a:xfrm>
          <a:prstGeom prst="roundRect">
            <a:avLst>
              <a:gd name="adj" fmla="val 14591"/>
            </a:avLst>
          </a:prstGeom>
          <a:solidFill>
            <a:srgbClr val="FCC800">
              <a:lumMod val="20000"/>
              <a:lumOff val="80000"/>
            </a:srgbClr>
          </a:solidFill>
          <a:ln w="12700" cap="flat" cmpd="sng" algn="ctr">
            <a:solidFill>
              <a:srgbClr val="0070C0"/>
            </a:solidFill>
            <a:prstDash val="dash"/>
            <a:miter lim="800000"/>
          </a:ln>
          <a:effectLst/>
        </p:spPr>
        <p:txBody>
          <a:bodyPr rtlCol="0" anchor="ctr"/>
          <a:lstStyle/>
          <a:p>
            <a:pPr algn="ctr" defTabSz="685050">
              <a:defRPr/>
            </a:pPr>
            <a:endParaRPr lang="zh-CN" altLang="en-US" sz="105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837" name="TextBox 125">
            <a:extLst>
              <a:ext uri="{FF2B5EF4-FFF2-40B4-BE49-F238E27FC236}">
                <a16:creationId xmlns:a16="http://schemas.microsoft.com/office/drawing/2014/main" id="{D07E4D04-7C63-4C00-A16A-DBFB523F7225}"/>
              </a:ext>
            </a:extLst>
          </p:cNvPr>
          <p:cNvSpPr txBox="1"/>
          <p:nvPr/>
        </p:nvSpPr>
        <p:spPr>
          <a:xfrm>
            <a:off x="2497728" y="2436495"/>
            <a:ext cx="608125" cy="276999"/>
          </a:xfrm>
          <a:prstGeom prst="rect">
            <a:avLst/>
          </a:prstGeom>
          <a:noFill/>
        </p:spPr>
        <p:txBody>
          <a:bodyPr wrap="square" lIns="0" rIns="0" rtlCol="0">
            <a:spAutoFit/>
          </a:bodyPr>
          <a:lstStyle/>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a:t>
            </a:r>
            <a:r>
              <a:rPr lang="zh-CN" altLang="en-US" sz="600" b="1" dirty="0">
                <a:solidFill>
                  <a:srgbClr val="C00000"/>
                </a:solidFill>
                <a:latin typeface="微软雅黑" panose="020B0503020204020204" pitchFamily="34" charset="-122"/>
                <a:ea typeface="微软雅黑" panose="020B0503020204020204" pitchFamily="34" charset="-122"/>
              </a:rPr>
              <a:t> </a:t>
            </a:r>
            <a:endParaRPr lang="en-US" altLang="zh-CN" sz="600" b="1" dirty="0">
              <a:solidFill>
                <a:srgbClr val="C00000"/>
              </a:solidFill>
              <a:latin typeface="微软雅黑" panose="020B0503020204020204" pitchFamily="34" charset="-122"/>
              <a:ea typeface="微软雅黑" panose="020B0503020204020204" pitchFamily="34" charset="-122"/>
            </a:endParaRPr>
          </a:p>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Gateway</a:t>
            </a:r>
          </a:p>
        </p:txBody>
      </p:sp>
      <p:sp>
        <p:nvSpPr>
          <p:cNvPr id="838" name="矩形 837">
            <a:extLst>
              <a:ext uri="{FF2B5EF4-FFF2-40B4-BE49-F238E27FC236}">
                <a16:creationId xmlns:a16="http://schemas.microsoft.com/office/drawing/2014/main" id="{396F82A5-714D-4F87-A995-ABD8DD08EBE8}"/>
              </a:ext>
            </a:extLst>
          </p:cNvPr>
          <p:cNvSpPr/>
          <p:nvPr/>
        </p:nvSpPr>
        <p:spPr>
          <a:xfrm>
            <a:off x="2665558" y="2274195"/>
            <a:ext cx="285658" cy="211528"/>
          </a:xfrm>
          <a:prstGeom prst="rect">
            <a:avLst/>
          </a:prstGeom>
          <a:ln w="15875">
            <a:solidFill>
              <a:sysClr val="window" lastClr="FFFFFF">
                <a:lumMod val="75000"/>
              </a:sysClr>
            </a:solidFill>
          </a:ln>
        </p:spPr>
        <p:txBody>
          <a:bodyPr wrap="square" rtlCol="0" anchor="ctr">
            <a:noAutofit/>
          </a:bodyPr>
          <a:lstStyle/>
          <a:p>
            <a:pPr defTabSz="685173">
              <a:defRPr/>
            </a:pPr>
            <a:endParaRPr lang="zh-CN" altLang="en-US" sz="900" b="1"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839" name="Freeform 99">
            <a:extLst>
              <a:ext uri="{FF2B5EF4-FFF2-40B4-BE49-F238E27FC236}">
                <a16:creationId xmlns:a16="http://schemas.microsoft.com/office/drawing/2014/main" id="{E26480C8-9FB0-48A5-A97F-F997CEA2872D}"/>
              </a:ext>
            </a:extLst>
          </p:cNvPr>
          <p:cNvSpPr>
            <a:spLocks noEditPoints="1"/>
          </p:cNvSpPr>
          <p:nvPr/>
        </p:nvSpPr>
        <p:spPr bwMode="auto">
          <a:xfrm>
            <a:off x="2701772" y="2298868"/>
            <a:ext cx="215896" cy="170427"/>
          </a:xfrm>
          <a:custGeom>
            <a:avLst/>
            <a:gdLst>
              <a:gd name="T0" fmla="*/ 21 w 170"/>
              <a:gd name="T1" fmla="*/ 134 h 170"/>
              <a:gd name="T2" fmla="*/ 10 w 170"/>
              <a:gd name="T3" fmla="*/ 100 h 170"/>
              <a:gd name="T4" fmla="*/ 0 w 170"/>
              <a:gd name="T5" fmla="*/ 159 h 170"/>
              <a:gd name="T6" fmla="*/ 0 w 170"/>
              <a:gd name="T7" fmla="*/ 162 h 170"/>
              <a:gd name="T8" fmla="*/ 1 w 170"/>
              <a:gd name="T9" fmla="*/ 164 h 170"/>
              <a:gd name="T10" fmla="*/ 5 w 170"/>
              <a:gd name="T11" fmla="*/ 168 h 170"/>
              <a:gd name="T12" fmla="*/ 6 w 170"/>
              <a:gd name="T13" fmla="*/ 169 h 170"/>
              <a:gd name="T14" fmla="*/ 8 w 170"/>
              <a:gd name="T15" fmla="*/ 169 h 170"/>
              <a:gd name="T16" fmla="*/ 59 w 170"/>
              <a:gd name="T17" fmla="*/ 170 h 170"/>
              <a:gd name="T18" fmla="*/ 59 w 170"/>
              <a:gd name="T19" fmla="*/ 149 h 170"/>
              <a:gd name="T20" fmla="*/ 76 w 170"/>
              <a:gd name="T21" fmla="*/ 109 h 170"/>
              <a:gd name="T22" fmla="*/ 61 w 170"/>
              <a:gd name="T23" fmla="*/ 94 h 170"/>
              <a:gd name="T24" fmla="*/ 21 w 170"/>
              <a:gd name="T25" fmla="*/ 58 h 170"/>
              <a:gd name="T26" fmla="*/ 61 w 170"/>
              <a:gd name="T27" fmla="*/ 75 h 170"/>
              <a:gd name="T28" fmla="*/ 76 w 170"/>
              <a:gd name="T29" fmla="*/ 75 h 170"/>
              <a:gd name="T30" fmla="*/ 36 w 170"/>
              <a:gd name="T31" fmla="*/ 21 h 170"/>
              <a:gd name="T32" fmla="*/ 69 w 170"/>
              <a:gd name="T33" fmla="*/ 10 h 170"/>
              <a:gd name="T34" fmla="*/ 10 w 170"/>
              <a:gd name="T35" fmla="*/ 0 h 170"/>
              <a:gd name="T36" fmla="*/ 7 w 170"/>
              <a:gd name="T37" fmla="*/ 0 h 170"/>
              <a:gd name="T38" fmla="*/ 5 w 170"/>
              <a:gd name="T39" fmla="*/ 1 h 170"/>
              <a:gd name="T40" fmla="*/ 2 w 170"/>
              <a:gd name="T41" fmla="*/ 4 h 170"/>
              <a:gd name="T42" fmla="*/ 1 w 170"/>
              <a:gd name="T43" fmla="*/ 6 h 170"/>
              <a:gd name="T44" fmla="*/ 0 w 170"/>
              <a:gd name="T45" fmla="*/ 8 h 170"/>
              <a:gd name="T46" fmla="*/ 0 w 170"/>
              <a:gd name="T47" fmla="*/ 58 h 170"/>
              <a:gd name="T48" fmla="*/ 102 w 170"/>
              <a:gd name="T49" fmla="*/ 78 h 170"/>
              <a:gd name="T50" fmla="*/ 149 w 170"/>
              <a:gd name="T51" fmla="*/ 35 h 170"/>
              <a:gd name="T52" fmla="*/ 160 w 170"/>
              <a:gd name="T53" fmla="*/ 69 h 170"/>
              <a:gd name="T54" fmla="*/ 170 w 170"/>
              <a:gd name="T55" fmla="*/ 10 h 170"/>
              <a:gd name="T56" fmla="*/ 170 w 170"/>
              <a:gd name="T57" fmla="*/ 7 h 170"/>
              <a:gd name="T58" fmla="*/ 169 w 170"/>
              <a:gd name="T59" fmla="*/ 5 h 170"/>
              <a:gd name="T60" fmla="*/ 165 w 170"/>
              <a:gd name="T61" fmla="*/ 1 h 170"/>
              <a:gd name="T62" fmla="*/ 164 w 170"/>
              <a:gd name="T63" fmla="*/ 0 h 170"/>
              <a:gd name="T64" fmla="*/ 162 w 170"/>
              <a:gd name="T65" fmla="*/ 0 h 170"/>
              <a:gd name="T66" fmla="*/ 111 w 170"/>
              <a:gd name="T67" fmla="*/ 0 h 170"/>
              <a:gd name="T68" fmla="*/ 111 w 170"/>
              <a:gd name="T69" fmla="*/ 21 h 170"/>
              <a:gd name="T70" fmla="*/ 94 w 170"/>
              <a:gd name="T71" fmla="*/ 61 h 170"/>
              <a:gd name="T72" fmla="*/ 102 w 170"/>
              <a:gd name="T73" fmla="*/ 78 h 170"/>
              <a:gd name="T74" fmla="*/ 149 w 170"/>
              <a:gd name="T75" fmla="*/ 112 h 170"/>
              <a:gd name="T76" fmla="*/ 110 w 170"/>
              <a:gd name="T77" fmla="*/ 95 h 170"/>
              <a:gd name="T78" fmla="*/ 95 w 170"/>
              <a:gd name="T79" fmla="*/ 95 h 170"/>
              <a:gd name="T80" fmla="*/ 135 w 170"/>
              <a:gd name="T81" fmla="*/ 149 h 170"/>
              <a:gd name="T82" fmla="*/ 102 w 170"/>
              <a:gd name="T83" fmla="*/ 159 h 170"/>
              <a:gd name="T84" fmla="*/ 160 w 170"/>
              <a:gd name="T85" fmla="*/ 170 h 170"/>
              <a:gd name="T86" fmla="*/ 163 w 170"/>
              <a:gd name="T87" fmla="*/ 169 h 170"/>
              <a:gd name="T88" fmla="*/ 165 w 170"/>
              <a:gd name="T89" fmla="*/ 168 h 170"/>
              <a:gd name="T90" fmla="*/ 168 w 170"/>
              <a:gd name="T91" fmla="*/ 165 h 170"/>
              <a:gd name="T92" fmla="*/ 169 w 170"/>
              <a:gd name="T93" fmla="*/ 163 h 170"/>
              <a:gd name="T94" fmla="*/ 170 w 170"/>
              <a:gd name="T95" fmla="*/ 161 h 170"/>
              <a:gd name="T96" fmla="*/ 170 w 170"/>
              <a:gd name="T97" fmla="*/ 1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70">
                <a:moveTo>
                  <a:pt x="61" y="94"/>
                </a:moveTo>
                <a:cubicBezTo>
                  <a:pt x="21" y="134"/>
                  <a:pt x="21" y="134"/>
                  <a:pt x="21" y="134"/>
                </a:cubicBezTo>
                <a:cubicBezTo>
                  <a:pt x="21" y="111"/>
                  <a:pt x="21" y="111"/>
                  <a:pt x="21" y="111"/>
                </a:cubicBezTo>
                <a:cubicBezTo>
                  <a:pt x="21" y="105"/>
                  <a:pt x="16" y="100"/>
                  <a:pt x="10" y="100"/>
                </a:cubicBezTo>
                <a:cubicBezTo>
                  <a:pt x="5" y="100"/>
                  <a:pt x="0" y="105"/>
                  <a:pt x="0" y="111"/>
                </a:cubicBezTo>
                <a:cubicBezTo>
                  <a:pt x="0" y="159"/>
                  <a:pt x="0" y="159"/>
                  <a:pt x="0" y="159"/>
                </a:cubicBezTo>
                <a:cubicBezTo>
                  <a:pt x="0" y="160"/>
                  <a:pt x="0" y="161"/>
                  <a:pt x="0" y="161"/>
                </a:cubicBezTo>
                <a:cubicBezTo>
                  <a:pt x="0" y="162"/>
                  <a:pt x="0" y="162"/>
                  <a:pt x="0" y="162"/>
                </a:cubicBezTo>
                <a:cubicBezTo>
                  <a:pt x="1" y="163"/>
                  <a:pt x="1" y="163"/>
                  <a:pt x="1" y="163"/>
                </a:cubicBezTo>
                <a:cubicBezTo>
                  <a:pt x="1" y="164"/>
                  <a:pt x="1" y="164"/>
                  <a:pt x="1" y="164"/>
                </a:cubicBezTo>
                <a:cubicBezTo>
                  <a:pt x="2" y="165"/>
                  <a:pt x="2" y="165"/>
                  <a:pt x="2" y="165"/>
                </a:cubicBezTo>
                <a:cubicBezTo>
                  <a:pt x="2" y="166"/>
                  <a:pt x="3" y="167"/>
                  <a:pt x="5" y="168"/>
                </a:cubicBezTo>
                <a:cubicBezTo>
                  <a:pt x="5" y="168"/>
                  <a:pt x="5" y="168"/>
                  <a:pt x="5" y="168"/>
                </a:cubicBezTo>
                <a:cubicBezTo>
                  <a:pt x="6" y="169"/>
                  <a:pt x="6" y="169"/>
                  <a:pt x="6" y="169"/>
                </a:cubicBezTo>
                <a:cubicBezTo>
                  <a:pt x="7" y="169"/>
                  <a:pt x="7" y="169"/>
                  <a:pt x="7" y="169"/>
                </a:cubicBezTo>
                <a:cubicBezTo>
                  <a:pt x="8" y="169"/>
                  <a:pt x="8" y="169"/>
                  <a:pt x="8" y="169"/>
                </a:cubicBezTo>
                <a:cubicBezTo>
                  <a:pt x="9" y="170"/>
                  <a:pt x="10" y="170"/>
                  <a:pt x="10" y="170"/>
                </a:cubicBezTo>
                <a:cubicBezTo>
                  <a:pt x="59" y="170"/>
                  <a:pt x="59" y="170"/>
                  <a:pt x="59" y="170"/>
                </a:cubicBezTo>
                <a:cubicBezTo>
                  <a:pt x="65" y="170"/>
                  <a:pt x="69" y="165"/>
                  <a:pt x="69" y="159"/>
                </a:cubicBezTo>
                <a:cubicBezTo>
                  <a:pt x="69" y="153"/>
                  <a:pt x="65" y="149"/>
                  <a:pt x="59" y="149"/>
                </a:cubicBezTo>
                <a:cubicBezTo>
                  <a:pt x="36" y="149"/>
                  <a:pt x="36" y="149"/>
                  <a:pt x="36" y="149"/>
                </a:cubicBezTo>
                <a:cubicBezTo>
                  <a:pt x="76" y="109"/>
                  <a:pt x="76" y="109"/>
                  <a:pt x="76" y="109"/>
                </a:cubicBezTo>
                <a:cubicBezTo>
                  <a:pt x="80" y="105"/>
                  <a:pt x="80" y="98"/>
                  <a:pt x="76" y="94"/>
                </a:cubicBezTo>
                <a:cubicBezTo>
                  <a:pt x="72" y="90"/>
                  <a:pt x="65" y="90"/>
                  <a:pt x="61" y="94"/>
                </a:cubicBezTo>
                <a:close/>
                <a:moveTo>
                  <a:pt x="10" y="69"/>
                </a:moveTo>
                <a:cubicBezTo>
                  <a:pt x="16" y="69"/>
                  <a:pt x="21" y="64"/>
                  <a:pt x="21" y="58"/>
                </a:cubicBezTo>
                <a:cubicBezTo>
                  <a:pt x="21" y="35"/>
                  <a:pt x="21" y="35"/>
                  <a:pt x="21" y="35"/>
                </a:cubicBezTo>
                <a:cubicBezTo>
                  <a:pt x="61" y="75"/>
                  <a:pt x="61" y="75"/>
                  <a:pt x="61" y="75"/>
                </a:cubicBezTo>
                <a:cubicBezTo>
                  <a:pt x="63" y="77"/>
                  <a:pt x="66" y="78"/>
                  <a:pt x="68" y="78"/>
                </a:cubicBezTo>
                <a:cubicBezTo>
                  <a:pt x="71" y="78"/>
                  <a:pt x="74" y="77"/>
                  <a:pt x="76" y="75"/>
                </a:cubicBezTo>
                <a:cubicBezTo>
                  <a:pt x="80" y="71"/>
                  <a:pt x="80" y="65"/>
                  <a:pt x="76" y="61"/>
                </a:cubicBezTo>
                <a:cubicBezTo>
                  <a:pt x="36" y="21"/>
                  <a:pt x="36" y="21"/>
                  <a:pt x="36" y="21"/>
                </a:cubicBezTo>
                <a:cubicBezTo>
                  <a:pt x="59" y="21"/>
                  <a:pt x="59" y="21"/>
                  <a:pt x="59" y="21"/>
                </a:cubicBezTo>
                <a:cubicBezTo>
                  <a:pt x="65" y="21"/>
                  <a:pt x="69" y="16"/>
                  <a:pt x="69" y="10"/>
                </a:cubicBezTo>
                <a:cubicBezTo>
                  <a:pt x="69" y="4"/>
                  <a:pt x="65" y="0"/>
                  <a:pt x="59" y="0"/>
                </a:cubicBezTo>
                <a:cubicBezTo>
                  <a:pt x="10" y="0"/>
                  <a:pt x="10" y="0"/>
                  <a:pt x="10" y="0"/>
                </a:cubicBezTo>
                <a:cubicBezTo>
                  <a:pt x="10" y="0"/>
                  <a:pt x="9" y="0"/>
                  <a:pt x="8" y="0"/>
                </a:cubicBezTo>
                <a:cubicBezTo>
                  <a:pt x="7" y="0"/>
                  <a:pt x="7" y="0"/>
                  <a:pt x="7" y="0"/>
                </a:cubicBezTo>
                <a:cubicBezTo>
                  <a:pt x="6" y="0"/>
                  <a:pt x="6" y="0"/>
                  <a:pt x="6" y="0"/>
                </a:cubicBezTo>
                <a:cubicBezTo>
                  <a:pt x="6" y="1"/>
                  <a:pt x="6" y="1"/>
                  <a:pt x="5" y="1"/>
                </a:cubicBezTo>
                <a:cubicBezTo>
                  <a:pt x="5" y="1"/>
                  <a:pt x="5" y="1"/>
                  <a:pt x="5" y="1"/>
                </a:cubicBezTo>
                <a:cubicBezTo>
                  <a:pt x="3" y="2"/>
                  <a:pt x="2" y="3"/>
                  <a:pt x="2" y="4"/>
                </a:cubicBezTo>
                <a:cubicBezTo>
                  <a:pt x="1" y="5"/>
                  <a:pt x="1" y="5"/>
                  <a:pt x="1" y="5"/>
                </a:cubicBezTo>
                <a:cubicBezTo>
                  <a:pt x="1" y="6"/>
                  <a:pt x="1" y="6"/>
                  <a:pt x="1" y="6"/>
                </a:cubicBezTo>
                <a:cubicBezTo>
                  <a:pt x="0" y="7"/>
                  <a:pt x="0" y="7"/>
                  <a:pt x="0" y="7"/>
                </a:cubicBezTo>
                <a:cubicBezTo>
                  <a:pt x="0" y="8"/>
                  <a:pt x="0" y="8"/>
                  <a:pt x="0" y="8"/>
                </a:cubicBezTo>
                <a:cubicBezTo>
                  <a:pt x="0" y="9"/>
                  <a:pt x="0" y="9"/>
                  <a:pt x="0" y="10"/>
                </a:cubicBezTo>
                <a:cubicBezTo>
                  <a:pt x="0" y="58"/>
                  <a:pt x="0" y="58"/>
                  <a:pt x="0" y="58"/>
                </a:cubicBezTo>
                <a:cubicBezTo>
                  <a:pt x="0" y="64"/>
                  <a:pt x="5" y="69"/>
                  <a:pt x="10" y="69"/>
                </a:cubicBezTo>
                <a:close/>
                <a:moveTo>
                  <a:pt x="102" y="78"/>
                </a:moveTo>
                <a:cubicBezTo>
                  <a:pt x="104" y="78"/>
                  <a:pt x="107" y="77"/>
                  <a:pt x="109" y="75"/>
                </a:cubicBezTo>
                <a:cubicBezTo>
                  <a:pt x="149" y="35"/>
                  <a:pt x="149" y="35"/>
                  <a:pt x="149" y="35"/>
                </a:cubicBezTo>
                <a:cubicBezTo>
                  <a:pt x="149" y="58"/>
                  <a:pt x="149" y="58"/>
                  <a:pt x="149" y="58"/>
                </a:cubicBezTo>
                <a:cubicBezTo>
                  <a:pt x="149" y="64"/>
                  <a:pt x="154" y="69"/>
                  <a:pt x="160" y="69"/>
                </a:cubicBezTo>
                <a:cubicBezTo>
                  <a:pt x="165" y="69"/>
                  <a:pt x="170" y="64"/>
                  <a:pt x="170" y="58"/>
                </a:cubicBezTo>
                <a:cubicBezTo>
                  <a:pt x="170" y="10"/>
                  <a:pt x="170" y="10"/>
                  <a:pt x="170" y="10"/>
                </a:cubicBezTo>
                <a:cubicBezTo>
                  <a:pt x="170" y="9"/>
                  <a:pt x="170" y="9"/>
                  <a:pt x="170" y="8"/>
                </a:cubicBezTo>
                <a:cubicBezTo>
                  <a:pt x="170" y="7"/>
                  <a:pt x="170" y="7"/>
                  <a:pt x="170" y="7"/>
                </a:cubicBezTo>
                <a:cubicBezTo>
                  <a:pt x="169" y="6"/>
                  <a:pt x="169" y="6"/>
                  <a:pt x="169" y="6"/>
                </a:cubicBezTo>
                <a:cubicBezTo>
                  <a:pt x="169" y="6"/>
                  <a:pt x="169" y="5"/>
                  <a:pt x="169" y="5"/>
                </a:cubicBezTo>
                <a:cubicBezTo>
                  <a:pt x="168" y="4"/>
                  <a:pt x="168" y="4"/>
                  <a:pt x="168" y="4"/>
                </a:cubicBezTo>
                <a:cubicBezTo>
                  <a:pt x="167" y="3"/>
                  <a:pt x="166" y="2"/>
                  <a:pt x="165" y="1"/>
                </a:cubicBezTo>
                <a:cubicBezTo>
                  <a:pt x="165" y="1"/>
                  <a:pt x="165" y="1"/>
                  <a:pt x="165" y="1"/>
                </a:cubicBezTo>
                <a:cubicBezTo>
                  <a:pt x="164" y="0"/>
                  <a:pt x="164" y="0"/>
                  <a:pt x="164" y="0"/>
                </a:cubicBezTo>
                <a:cubicBezTo>
                  <a:pt x="162" y="0"/>
                  <a:pt x="162" y="0"/>
                  <a:pt x="162" y="0"/>
                </a:cubicBezTo>
                <a:cubicBezTo>
                  <a:pt x="162" y="0"/>
                  <a:pt x="162" y="0"/>
                  <a:pt x="162" y="0"/>
                </a:cubicBezTo>
                <a:cubicBezTo>
                  <a:pt x="161" y="0"/>
                  <a:pt x="160" y="0"/>
                  <a:pt x="160" y="0"/>
                </a:cubicBezTo>
                <a:cubicBezTo>
                  <a:pt x="111" y="0"/>
                  <a:pt x="111" y="0"/>
                  <a:pt x="111" y="0"/>
                </a:cubicBezTo>
                <a:cubicBezTo>
                  <a:pt x="105" y="0"/>
                  <a:pt x="101" y="4"/>
                  <a:pt x="101" y="10"/>
                </a:cubicBezTo>
                <a:cubicBezTo>
                  <a:pt x="101" y="16"/>
                  <a:pt x="105" y="21"/>
                  <a:pt x="111" y="21"/>
                </a:cubicBezTo>
                <a:cubicBezTo>
                  <a:pt x="134" y="21"/>
                  <a:pt x="134" y="21"/>
                  <a:pt x="134" y="21"/>
                </a:cubicBezTo>
                <a:cubicBezTo>
                  <a:pt x="94" y="61"/>
                  <a:pt x="94" y="61"/>
                  <a:pt x="94" y="61"/>
                </a:cubicBezTo>
                <a:cubicBezTo>
                  <a:pt x="90" y="65"/>
                  <a:pt x="90" y="71"/>
                  <a:pt x="94" y="75"/>
                </a:cubicBezTo>
                <a:cubicBezTo>
                  <a:pt x="96" y="77"/>
                  <a:pt x="99" y="78"/>
                  <a:pt x="102" y="78"/>
                </a:cubicBezTo>
                <a:close/>
                <a:moveTo>
                  <a:pt x="160" y="101"/>
                </a:moveTo>
                <a:cubicBezTo>
                  <a:pt x="154" y="101"/>
                  <a:pt x="149" y="106"/>
                  <a:pt x="149" y="112"/>
                </a:cubicBezTo>
                <a:cubicBezTo>
                  <a:pt x="149" y="134"/>
                  <a:pt x="149" y="134"/>
                  <a:pt x="149" y="134"/>
                </a:cubicBezTo>
                <a:cubicBezTo>
                  <a:pt x="110" y="95"/>
                  <a:pt x="110" y="95"/>
                  <a:pt x="110" y="95"/>
                </a:cubicBezTo>
                <a:cubicBezTo>
                  <a:pt x="108" y="93"/>
                  <a:pt x="105" y="92"/>
                  <a:pt x="102" y="92"/>
                </a:cubicBezTo>
                <a:cubicBezTo>
                  <a:pt x="100" y="92"/>
                  <a:pt x="97" y="93"/>
                  <a:pt x="95" y="95"/>
                </a:cubicBezTo>
                <a:cubicBezTo>
                  <a:pt x="91" y="99"/>
                  <a:pt x="91" y="105"/>
                  <a:pt x="95" y="109"/>
                </a:cubicBezTo>
                <a:cubicBezTo>
                  <a:pt x="135" y="149"/>
                  <a:pt x="135" y="149"/>
                  <a:pt x="135" y="149"/>
                </a:cubicBezTo>
                <a:cubicBezTo>
                  <a:pt x="112" y="149"/>
                  <a:pt x="112" y="149"/>
                  <a:pt x="112" y="149"/>
                </a:cubicBezTo>
                <a:cubicBezTo>
                  <a:pt x="106" y="149"/>
                  <a:pt x="102" y="154"/>
                  <a:pt x="102" y="159"/>
                </a:cubicBezTo>
                <a:cubicBezTo>
                  <a:pt x="102" y="165"/>
                  <a:pt x="106" y="170"/>
                  <a:pt x="112" y="170"/>
                </a:cubicBezTo>
                <a:cubicBezTo>
                  <a:pt x="160" y="170"/>
                  <a:pt x="160" y="170"/>
                  <a:pt x="160" y="170"/>
                </a:cubicBezTo>
                <a:cubicBezTo>
                  <a:pt x="160" y="170"/>
                  <a:pt x="161" y="170"/>
                  <a:pt x="162" y="169"/>
                </a:cubicBezTo>
                <a:cubicBezTo>
                  <a:pt x="163" y="169"/>
                  <a:pt x="163" y="169"/>
                  <a:pt x="163" y="169"/>
                </a:cubicBezTo>
                <a:cubicBezTo>
                  <a:pt x="164" y="169"/>
                  <a:pt x="164" y="169"/>
                  <a:pt x="164" y="169"/>
                </a:cubicBezTo>
                <a:cubicBezTo>
                  <a:pt x="165" y="168"/>
                  <a:pt x="165" y="168"/>
                  <a:pt x="165" y="168"/>
                </a:cubicBezTo>
                <a:cubicBezTo>
                  <a:pt x="165" y="168"/>
                  <a:pt x="165" y="168"/>
                  <a:pt x="165" y="168"/>
                </a:cubicBezTo>
                <a:cubicBezTo>
                  <a:pt x="167" y="167"/>
                  <a:pt x="168" y="166"/>
                  <a:pt x="168" y="165"/>
                </a:cubicBezTo>
                <a:cubicBezTo>
                  <a:pt x="169" y="164"/>
                  <a:pt x="169" y="164"/>
                  <a:pt x="169" y="164"/>
                </a:cubicBezTo>
                <a:cubicBezTo>
                  <a:pt x="169" y="163"/>
                  <a:pt x="169" y="163"/>
                  <a:pt x="169" y="163"/>
                </a:cubicBezTo>
                <a:cubicBezTo>
                  <a:pt x="170" y="162"/>
                  <a:pt x="170" y="162"/>
                  <a:pt x="170" y="162"/>
                </a:cubicBezTo>
                <a:cubicBezTo>
                  <a:pt x="170" y="161"/>
                  <a:pt x="170" y="161"/>
                  <a:pt x="170" y="161"/>
                </a:cubicBezTo>
                <a:cubicBezTo>
                  <a:pt x="170" y="161"/>
                  <a:pt x="170" y="160"/>
                  <a:pt x="170" y="159"/>
                </a:cubicBezTo>
                <a:cubicBezTo>
                  <a:pt x="170" y="112"/>
                  <a:pt x="170" y="112"/>
                  <a:pt x="170" y="112"/>
                </a:cubicBezTo>
                <a:cubicBezTo>
                  <a:pt x="170" y="106"/>
                  <a:pt x="165" y="101"/>
                  <a:pt x="160" y="101"/>
                </a:cubicBezTo>
                <a:close/>
              </a:path>
            </a:pathLst>
          </a:custGeom>
          <a:solidFill>
            <a:srgbClr val="C00000"/>
          </a:solidFill>
          <a:ln w="12700" cap="flat" cmpd="sng" algn="ctr">
            <a:solidFill>
              <a:srgbClr val="E7E6E6">
                <a:lumMod val="75000"/>
              </a:srgbClr>
            </a:solidFill>
            <a:prstDash val="solid"/>
            <a:miter lim="800000"/>
          </a:ln>
          <a:effectLst/>
        </p:spPr>
        <p:txBody>
          <a:bodyPr rot="0" spcFirstLastPara="0" vertOverflow="overflow" horzOverflow="overflow" vert="horz" wrap="square" lIns="68510" tIns="34255" rIns="68510" bIns="34255" numCol="1" spcCol="0" rtlCol="0" fromWordArt="0" anchor="ctr" anchorCtr="0" forceAA="0" compatLnSpc="1">
            <a:prstTxWarp prst="textNoShape">
              <a:avLst/>
            </a:prstTxWarp>
            <a:noAutofit/>
          </a:bodyPr>
          <a:lstStyle/>
          <a:p>
            <a:pPr algn="ctr" defTabSz="685173">
              <a:defRPr/>
            </a:pPr>
            <a:endParaRPr lang="zh-CN" altLang="en-US" sz="600" b="1">
              <a:solidFill>
                <a:srgbClr val="666666"/>
              </a:solidFill>
              <a:latin typeface="微软雅黑" panose="020B0503020204020204" pitchFamily="34" charset="-122"/>
              <a:ea typeface="微软雅黑" panose="020B0503020204020204" pitchFamily="34" charset="-122"/>
              <a:cs typeface="+mn-ea"/>
            </a:endParaRPr>
          </a:p>
        </p:txBody>
      </p:sp>
      <p:cxnSp>
        <p:nvCxnSpPr>
          <p:cNvPr id="840" name="直接连接符 839">
            <a:extLst>
              <a:ext uri="{FF2B5EF4-FFF2-40B4-BE49-F238E27FC236}">
                <a16:creationId xmlns:a16="http://schemas.microsoft.com/office/drawing/2014/main" id="{A2BE0632-555D-4558-8481-94F56A9C44C2}"/>
              </a:ext>
            </a:extLst>
          </p:cNvPr>
          <p:cNvCxnSpPr>
            <a:cxnSpLocks/>
            <a:stCxn id="775" idx="2"/>
            <a:endCxn id="838" idx="0"/>
          </p:cNvCxnSpPr>
          <p:nvPr/>
        </p:nvCxnSpPr>
        <p:spPr bwMode="auto">
          <a:xfrm flipH="1">
            <a:off x="2808387" y="1844864"/>
            <a:ext cx="8784" cy="429331"/>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1" name="直接连接符 840">
            <a:extLst>
              <a:ext uri="{FF2B5EF4-FFF2-40B4-BE49-F238E27FC236}">
                <a16:creationId xmlns:a16="http://schemas.microsoft.com/office/drawing/2014/main" id="{03B81A2D-F1C5-4321-9FBA-94925242DBFC}"/>
              </a:ext>
            </a:extLst>
          </p:cNvPr>
          <p:cNvCxnSpPr>
            <a:cxnSpLocks/>
            <a:stCxn id="778" idx="2"/>
            <a:endCxn id="838" idx="0"/>
          </p:cNvCxnSpPr>
          <p:nvPr/>
        </p:nvCxnSpPr>
        <p:spPr bwMode="auto">
          <a:xfrm flipH="1">
            <a:off x="2808387" y="1844864"/>
            <a:ext cx="646454" cy="429331"/>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0" name="矩形 899">
            <a:extLst>
              <a:ext uri="{FF2B5EF4-FFF2-40B4-BE49-F238E27FC236}">
                <a16:creationId xmlns:a16="http://schemas.microsoft.com/office/drawing/2014/main" id="{F291C690-1D7D-452F-B5D1-74472A0FB2AA}"/>
              </a:ext>
            </a:extLst>
          </p:cNvPr>
          <p:cNvSpPr/>
          <p:nvPr/>
        </p:nvSpPr>
        <p:spPr>
          <a:xfrm>
            <a:off x="5647774" y="688651"/>
            <a:ext cx="3040796" cy="2281402"/>
          </a:xfrm>
          <a:prstGeom prst="rect">
            <a:avLst/>
          </a:prstGeom>
          <a:solidFill>
            <a:srgbClr val="FFFFFF">
              <a:lumMod val="95000"/>
            </a:srgbClr>
          </a:solidFill>
          <a:ln w="12700" cap="flat" cmpd="sng" algn="ctr">
            <a:solidFill>
              <a:srgbClr val="DDDDDD">
                <a:lumMod val="90000"/>
              </a:srgbClr>
            </a:solidFill>
            <a:prstDash val="solid"/>
            <a:miter lim="800000"/>
          </a:ln>
          <a:effectLst/>
        </p:spPr>
        <p:txBody>
          <a:bodyPr rot="0" spcFirstLastPara="0" vertOverflow="overflow" horzOverflow="overflow" vert="horz" wrap="square" lIns="68553" tIns="34277" rIns="68553" bIns="34277" numCol="1" spcCol="0" rtlCol="0" fromWordArt="0" anchor="ctr" anchorCtr="0" forceAA="0" compatLnSpc="1">
            <a:prstTxWarp prst="textNoShape">
              <a:avLst/>
            </a:prstTxWarp>
            <a:noAutofit/>
          </a:bodyPr>
          <a:lstStyle/>
          <a:p>
            <a:pPr algn="ctr" defTabSz="685526">
              <a:defRPr/>
            </a:pPr>
            <a:endParaRPr lang="zh-CN" altLang="en-US" sz="1349">
              <a:solidFill>
                <a:srgbClr val="666666"/>
              </a:solidFill>
              <a:latin typeface="微软雅黑" panose="020B0503020204020204" pitchFamily="34" charset="-122"/>
              <a:ea typeface="微软雅黑" panose="020B0503020204020204" pitchFamily="34" charset="-122"/>
            </a:endParaRPr>
          </a:p>
        </p:txBody>
      </p:sp>
      <p:sp>
        <p:nvSpPr>
          <p:cNvPr id="901" name="矩形: 圆角 900">
            <a:extLst>
              <a:ext uri="{FF2B5EF4-FFF2-40B4-BE49-F238E27FC236}">
                <a16:creationId xmlns:a16="http://schemas.microsoft.com/office/drawing/2014/main" id="{76167D5C-A95B-4A38-989B-64C030A3F780}"/>
              </a:ext>
            </a:extLst>
          </p:cNvPr>
          <p:cNvSpPr/>
          <p:nvPr/>
        </p:nvSpPr>
        <p:spPr>
          <a:xfrm>
            <a:off x="6513220" y="2141980"/>
            <a:ext cx="514112" cy="547566"/>
          </a:xfrm>
          <a:prstGeom prst="roundRect">
            <a:avLst>
              <a:gd name="adj" fmla="val 14591"/>
            </a:avLst>
          </a:prstGeom>
          <a:solidFill>
            <a:srgbClr val="FCC800">
              <a:lumMod val="20000"/>
              <a:lumOff val="80000"/>
            </a:srgbClr>
          </a:solidFill>
          <a:ln w="12700" cap="flat" cmpd="sng" algn="ctr">
            <a:solidFill>
              <a:srgbClr val="0070C0"/>
            </a:solidFill>
            <a:prstDash val="dash"/>
            <a:miter lim="800000"/>
          </a:ln>
          <a:effectLst/>
        </p:spPr>
        <p:txBody>
          <a:bodyPr rtlCol="0" anchor="ctr"/>
          <a:lstStyle/>
          <a:p>
            <a:pPr algn="ctr" defTabSz="685050">
              <a:defRPr/>
            </a:pPr>
            <a:endParaRPr lang="zh-CN" altLang="en-US" sz="105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902" name="圆角矩形 836">
            <a:extLst>
              <a:ext uri="{FF2B5EF4-FFF2-40B4-BE49-F238E27FC236}">
                <a16:creationId xmlns:a16="http://schemas.microsoft.com/office/drawing/2014/main" id="{DBFAC5AC-BC5E-465B-8B07-EDF5E07EA4C1}"/>
              </a:ext>
            </a:extLst>
          </p:cNvPr>
          <p:cNvSpPr/>
          <p:nvPr/>
        </p:nvSpPr>
        <p:spPr bwMode="auto">
          <a:xfrm>
            <a:off x="7407111" y="1600479"/>
            <a:ext cx="1158897" cy="1109699"/>
          </a:xfrm>
          <a:prstGeom prst="roundRect">
            <a:avLst>
              <a:gd name="adj" fmla="val 6400"/>
            </a:avLst>
          </a:prstGeom>
          <a:noFill/>
          <a:ln>
            <a:solidFill>
              <a:srgbClr val="1D1D1A"/>
            </a:solidFill>
            <a:prstDash val="dash"/>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1050">
              <a:solidFill>
                <a:prstClr val="black"/>
              </a:solidFill>
              <a:latin typeface="微软雅黑" panose="020B0503020204020204" pitchFamily="34" charset="-122"/>
              <a:ea typeface="微软雅黑" panose="020B0503020204020204" pitchFamily="34" charset="-122"/>
            </a:endParaRPr>
          </a:p>
        </p:txBody>
      </p:sp>
      <p:pic>
        <p:nvPicPr>
          <p:cNvPr id="903" name="图片 902" descr="CE12800交换机-蓝.png">
            <a:extLst>
              <a:ext uri="{FF2B5EF4-FFF2-40B4-BE49-F238E27FC236}">
                <a16:creationId xmlns:a16="http://schemas.microsoft.com/office/drawing/2014/main" id="{20B9CBA1-3750-454E-92F2-BB54007FE276}"/>
              </a:ext>
            </a:extLst>
          </p:cNvPr>
          <p:cNvPicPr>
            <a:picLocks noChangeAspect="1"/>
          </p:cNvPicPr>
          <p:nvPr/>
        </p:nvPicPr>
        <p:blipFill>
          <a:blip r:embed="rId3" cstate="print"/>
          <a:stretch>
            <a:fillRect/>
          </a:stretch>
        </p:blipFill>
        <p:spPr>
          <a:xfrm>
            <a:off x="6813246" y="1109640"/>
            <a:ext cx="228823" cy="163231"/>
          </a:xfrm>
          <a:prstGeom prst="rect">
            <a:avLst/>
          </a:prstGeom>
        </p:spPr>
      </p:pic>
      <p:cxnSp>
        <p:nvCxnSpPr>
          <p:cNvPr id="904" name="直接连接符 903">
            <a:extLst>
              <a:ext uri="{FF2B5EF4-FFF2-40B4-BE49-F238E27FC236}">
                <a16:creationId xmlns:a16="http://schemas.microsoft.com/office/drawing/2014/main" id="{9E285E47-B355-462E-B773-F3EDCD311382}"/>
              </a:ext>
            </a:extLst>
          </p:cNvPr>
          <p:cNvCxnSpPr>
            <a:stCxn id="908" idx="0"/>
            <a:endCxn id="903" idx="2"/>
          </p:cNvCxnSpPr>
          <p:nvPr/>
        </p:nvCxnSpPr>
        <p:spPr bwMode="auto">
          <a:xfrm flipV="1">
            <a:off x="6095105" y="1272871"/>
            <a:ext cx="832553" cy="421112"/>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5" name="直接连接符 904">
            <a:extLst>
              <a:ext uri="{FF2B5EF4-FFF2-40B4-BE49-F238E27FC236}">
                <a16:creationId xmlns:a16="http://schemas.microsoft.com/office/drawing/2014/main" id="{D0F38606-EA8B-4FEA-AB03-45287CA33884}"/>
              </a:ext>
            </a:extLst>
          </p:cNvPr>
          <p:cNvCxnSpPr>
            <a:stCxn id="911" idx="0"/>
            <a:endCxn id="903" idx="2"/>
          </p:cNvCxnSpPr>
          <p:nvPr/>
        </p:nvCxnSpPr>
        <p:spPr bwMode="auto">
          <a:xfrm flipV="1">
            <a:off x="6732775" y="1272871"/>
            <a:ext cx="194883" cy="421112"/>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6" name="椭圆 905">
            <a:extLst>
              <a:ext uri="{FF2B5EF4-FFF2-40B4-BE49-F238E27FC236}">
                <a16:creationId xmlns:a16="http://schemas.microsoft.com/office/drawing/2014/main" id="{8ECACCE0-F918-4DF5-8E5A-0C8EB91AA64B}"/>
              </a:ext>
            </a:extLst>
          </p:cNvPr>
          <p:cNvSpPr/>
          <p:nvPr/>
        </p:nvSpPr>
        <p:spPr bwMode="auto">
          <a:xfrm>
            <a:off x="6021761" y="1748822"/>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sp>
        <p:nvSpPr>
          <p:cNvPr id="907" name="椭圆 906">
            <a:extLst>
              <a:ext uri="{FF2B5EF4-FFF2-40B4-BE49-F238E27FC236}">
                <a16:creationId xmlns:a16="http://schemas.microsoft.com/office/drawing/2014/main" id="{5D5644CC-D3C8-4538-AFF8-F0FB432495C2}"/>
              </a:ext>
            </a:extLst>
          </p:cNvPr>
          <p:cNvSpPr/>
          <p:nvPr/>
        </p:nvSpPr>
        <p:spPr bwMode="auto">
          <a:xfrm>
            <a:off x="6111011" y="1748822"/>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pic>
        <p:nvPicPr>
          <p:cNvPr id="908" name="图片 907">
            <a:extLst>
              <a:ext uri="{FF2B5EF4-FFF2-40B4-BE49-F238E27FC236}">
                <a16:creationId xmlns:a16="http://schemas.microsoft.com/office/drawing/2014/main" id="{A14272BE-7C47-48E2-B404-3C57C365EA90}"/>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5980694" y="1693983"/>
            <a:ext cx="228823" cy="150881"/>
          </a:xfrm>
          <a:prstGeom prst="rect">
            <a:avLst/>
          </a:prstGeom>
        </p:spPr>
      </p:pic>
      <p:sp>
        <p:nvSpPr>
          <p:cNvPr id="909" name="椭圆 908">
            <a:extLst>
              <a:ext uri="{FF2B5EF4-FFF2-40B4-BE49-F238E27FC236}">
                <a16:creationId xmlns:a16="http://schemas.microsoft.com/office/drawing/2014/main" id="{794CC4F1-F137-41EE-AE25-920EEDA03334}"/>
              </a:ext>
            </a:extLst>
          </p:cNvPr>
          <p:cNvSpPr/>
          <p:nvPr/>
        </p:nvSpPr>
        <p:spPr bwMode="auto">
          <a:xfrm>
            <a:off x="6659431" y="1748822"/>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sp>
        <p:nvSpPr>
          <p:cNvPr id="910" name="椭圆 909">
            <a:extLst>
              <a:ext uri="{FF2B5EF4-FFF2-40B4-BE49-F238E27FC236}">
                <a16:creationId xmlns:a16="http://schemas.microsoft.com/office/drawing/2014/main" id="{996902A4-2B77-435D-836C-C558AF6283D9}"/>
              </a:ext>
            </a:extLst>
          </p:cNvPr>
          <p:cNvSpPr/>
          <p:nvPr/>
        </p:nvSpPr>
        <p:spPr bwMode="auto">
          <a:xfrm>
            <a:off x="6748680" y="1748822"/>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pic>
        <p:nvPicPr>
          <p:cNvPr id="911" name="图片 910">
            <a:extLst>
              <a:ext uri="{FF2B5EF4-FFF2-40B4-BE49-F238E27FC236}">
                <a16:creationId xmlns:a16="http://schemas.microsoft.com/office/drawing/2014/main" id="{2615B472-9D1E-4679-BA57-AD4D50517ABE}"/>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6618363" y="1693983"/>
            <a:ext cx="228823" cy="150881"/>
          </a:xfrm>
          <a:prstGeom prst="rect">
            <a:avLst/>
          </a:prstGeom>
        </p:spPr>
      </p:pic>
      <p:cxnSp>
        <p:nvCxnSpPr>
          <p:cNvPr id="912" name="直接连接符 911">
            <a:extLst>
              <a:ext uri="{FF2B5EF4-FFF2-40B4-BE49-F238E27FC236}">
                <a16:creationId xmlns:a16="http://schemas.microsoft.com/office/drawing/2014/main" id="{01D6F606-073C-4A9A-A08E-66065179344E}"/>
              </a:ext>
            </a:extLst>
          </p:cNvPr>
          <p:cNvCxnSpPr>
            <a:cxnSpLocks/>
            <a:stCxn id="923" idx="0"/>
            <a:endCxn id="921" idx="2"/>
          </p:cNvCxnSpPr>
          <p:nvPr/>
        </p:nvCxnSpPr>
        <p:spPr bwMode="auto">
          <a:xfrm flipV="1">
            <a:off x="7725569" y="1848881"/>
            <a:ext cx="485364" cy="437105"/>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3" name="直接连接符 912">
            <a:extLst>
              <a:ext uri="{FF2B5EF4-FFF2-40B4-BE49-F238E27FC236}">
                <a16:creationId xmlns:a16="http://schemas.microsoft.com/office/drawing/2014/main" id="{B807CAD1-B40E-4C8A-A66E-58FEB57516B3}"/>
              </a:ext>
            </a:extLst>
          </p:cNvPr>
          <p:cNvCxnSpPr>
            <a:cxnSpLocks/>
            <a:stCxn id="923" idx="0"/>
            <a:endCxn id="918" idx="5"/>
          </p:cNvCxnSpPr>
          <p:nvPr/>
        </p:nvCxnSpPr>
        <p:spPr bwMode="auto">
          <a:xfrm flipV="1">
            <a:off x="7725569" y="1788010"/>
            <a:ext cx="114797" cy="497977"/>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5" name="圆角矩形 836">
            <a:extLst>
              <a:ext uri="{FF2B5EF4-FFF2-40B4-BE49-F238E27FC236}">
                <a16:creationId xmlns:a16="http://schemas.microsoft.com/office/drawing/2014/main" id="{78511C76-3562-4F18-9CA8-5227126F9CD4}"/>
              </a:ext>
            </a:extLst>
          </p:cNvPr>
          <p:cNvSpPr/>
          <p:nvPr/>
        </p:nvSpPr>
        <p:spPr bwMode="auto">
          <a:xfrm>
            <a:off x="5766511" y="1596461"/>
            <a:ext cx="1300010" cy="1149977"/>
          </a:xfrm>
          <a:prstGeom prst="roundRect">
            <a:avLst>
              <a:gd name="adj" fmla="val 6400"/>
            </a:avLst>
          </a:prstGeom>
          <a:noFill/>
          <a:ln>
            <a:solidFill>
              <a:srgbClr val="1D1D1A"/>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1050">
              <a:solidFill>
                <a:prstClr val="black"/>
              </a:solidFill>
              <a:latin typeface="微软雅黑" panose="020B0503020204020204" pitchFamily="34" charset="-122"/>
              <a:ea typeface="微软雅黑" panose="020B0503020204020204" pitchFamily="34" charset="-122"/>
            </a:endParaRPr>
          </a:p>
        </p:txBody>
      </p:sp>
      <p:sp>
        <p:nvSpPr>
          <p:cNvPr id="916" name="文本框 915">
            <a:extLst>
              <a:ext uri="{FF2B5EF4-FFF2-40B4-BE49-F238E27FC236}">
                <a16:creationId xmlns:a16="http://schemas.microsoft.com/office/drawing/2014/main" id="{077B4DEC-33E3-41A3-8095-B4FD43F71B31}"/>
              </a:ext>
            </a:extLst>
          </p:cNvPr>
          <p:cNvSpPr txBox="1"/>
          <p:nvPr/>
        </p:nvSpPr>
        <p:spPr>
          <a:xfrm flipH="1">
            <a:off x="7601145" y="1070322"/>
            <a:ext cx="943881" cy="219291"/>
          </a:xfrm>
          <a:prstGeom prst="rect">
            <a:avLst/>
          </a:prstGeom>
          <a:noFill/>
        </p:spPr>
        <p:txBody>
          <a:bodyPr wrap="square" rtlCol="0" anchor="ctr">
            <a:spAutoFit/>
          </a:bodyPr>
          <a:lstStyle/>
          <a:p>
            <a:pPr defTabSz="685526">
              <a:spcBef>
                <a:spcPct val="0"/>
              </a:spcBef>
              <a:spcAft>
                <a:spcPct val="0"/>
              </a:spcAft>
              <a:defRPr/>
            </a:pPr>
            <a:r>
              <a:rPr lang="en-US" altLang="zh-CN" sz="825" dirty="0">
                <a:solidFill>
                  <a:prstClr val="black"/>
                </a:solidFill>
                <a:latin typeface="微软雅黑" panose="020B0503020204020204" pitchFamily="34" charset="-122"/>
                <a:ea typeface="微软雅黑" panose="020B0503020204020204" pitchFamily="34" charset="-122"/>
              </a:rPr>
              <a:t>Spine</a:t>
            </a:r>
            <a:endParaRPr lang="en-US" sz="825" dirty="0">
              <a:solidFill>
                <a:srgbClr val="C00000"/>
              </a:solidFill>
              <a:latin typeface="微软雅黑" panose="020B0503020204020204" pitchFamily="34" charset="-122"/>
              <a:ea typeface="微软雅黑" panose="020B0503020204020204" pitchFamily="34" charset="-122"/>
            </a:endParaRPr>
          </a:p>
        </p:txBody>
      </p:sp>
      <p:sp>
        <p:nvSpPr>
          <p:cNvPr id="918" name="椭圆 917">
            <a:extLst>
              <a:ext uri="{FF2B5EF4-FFF2-40B4-BE49-F238E27FC236}">
                <a16:creationId xmlns:a16="http://schemas.microsoft.com/office/drawing/2014/main" id="{5CFFC827-2FB4-403D-8460-7CFBC9FBBABF}"/>
              </a:ext>
            </a:extLst>
          </p:cNvPr>
          <p:cNvSpPr/>
          <p:nvPr/>
        </p:nvSpPr>
        <p:spPr bwMode="auto">
          <a:xfrm>
            <a:off x="7796628" y="1752840"/>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sp>
        <p:nvSpPr>
          <p:cNvPr id="919" name="椭圆 918">
            <a:extLst>
              <a:ext uri="{FF2B5EF4-FFF2-40B4-BE49-F238E27FC236}">
                <a16:creationId xmlns:a16="http://schemas.microsoft.com/office/drawing/2014/main" id="{36830826-D186-4078-A0DD-8967A22A1628}"/>
              </a:ext>
            </a:extLst>
          </p:cNvPr>
          <p:cNvSpPr/>
          <p:nvPr/>
        </p:nvSpPr>
        <p:spPr bwMode="auto">
          <a:xfrm>
            <a:off x="7885879" y="1752840"/>
            <a:ext cx="51241" cy="41204"/>
          </a:xfrm>
          <a:prstGeom prst="ellipse">
            <a:avLst/>
          </a:prstGeom>
          <a:solidFill>
            <a:srgbClr val="002060"/>
          </a:solidFill>
          <a:ln>
            <a:solidFill>
              <a:srgbClr val="1D1D1A"/>
            </a:solidFill>
          </a:ln>
          <a:effectLst/>
        </p:spPr>
        <p:txBody>
          <a:bodyPr vert="horz" wrap="square" lIns="68553" tIns="34277" rIns="68553" bIns="34277" numCol="1" rtlCol="0" anchor="t" anchorCtr="0" compatLnSpc="1">
            <a:prstTxWarp prst="textNoShape">
              <a:avLst/>
            </a:prstTxWarp>
          </a:bodyPr>
          <a:lstStyle/>
          <a:p>
            <a:pPr defTabSz="685526" fontAlgn="base">
              <a:spcBef>
                <a:spcPct val="0"/>
              </a:spcBef>
              <a:spcAft>
                <a:spcPct val="0"/>
              </a:spcAft>
              <a:buClr>
                <a:srgbClr val="CC9900"/>
              </a:buClr>
              <a:buFont typeface="Wingdings" pitchFamily="2" charset="2"/>
              <a:buChar char="n"/>
              <a:defRPr/>
            </a:pPr>
            <a:endParaRPr lang="en-US" sz="600">
              <a:solidFill>
                <a:prstClr val="black"/>
              </a:solidFill>
              <a:latin typeface="微软雅黑" panose="020B0503020204020204" pitchFamily="34" charset="-122"/>
              <a:ea typeface="微软雅黑" panose="020B0503020204020204" pitchFamily="34" charset="-122"/>
            </a:endParaRPr>
          </a:p>
        </p:txBody>
      </p:sp>
      <p:pic>
        <p:nvPicPr>
          <p:cNvPr id="920" name="图片 919">
            <a:extLst>
              <a:ext uri="{FF2B5EF4-FFF2-40B4-BE49-F238E27FC236}">
                <a16:creationId xmlns:a16="http://schemas.microsoft.com/office/drawing/2014/main" id="{81FEF133-93E8-4184-9A01-AA01B015F47B}"/>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7736822" y="1698001"/>
            <a:ext cx="228823" cy="150881"/>
          </a:xfrm>
          <a:prstGeom prst="rect">
            <a:avLst/>
          </a:prstGeom>
        </p:spPr>
      </p:pic>
      <p:pic>
        <p:nvPicPr>
          <p:cNvPr id="921" name="图片 920">
            <a:extLst>
              <a:ext uri="{FF2B5EF4-FFF2-40B4-BE49-F238E27FC236}">
                <a16:creationId xmlns:a16="http://schemas.microsoft.com/office/drawing/2014/main" id="{6685B41F-A0A3-4F11-BD6A-22F4EC278348}"/>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096522" y="1698001"/>
            <a:ext cx="228823" cy="150881"/>
          </a:xfrm>
          <a:prstGeom prst="rect">
            <a:avLst/>
          </a:prstGeom>
        </p:spPr>
      </p:pic>
      <p:pic>
        <p:nvPicPr>
          <p:cNvPr id="923" name="图片 922" descr="VSwitch+VM 1蓝.png">
            <a:extLst>
              <a:ext uri="{FF2B5EF4-FFF2-40B4-BE49-F238E27FC236}">
                <a16:creationId xmlns:a16="http://schemas.microsoft.com/office/drawing/2014/main" id="{E327C485-112F-475B-932F-5A6F1A0BA4B2}"/>
              </a:ext>
            </a:extLst>
          </p:cNvPr>
          <p:cNvPicPr>
            <a:picLocks noChangeAspect="1"/>
          </p:cNvPicPr>
          <p:nvPr/>
        </p:nvPicPr>
        <p:blipFill>
          <a:blip r:embed="rId5" cstate="print"/>
          <a:stretch>
            <a:fillRect/>
          </a:stretch>
        </p:blipFill>
        <p:spPr>
          <a:xfrm>
            <a:off x="7607213" y="2285987"/>
            <a:ext cx="236712" cy="204222"/>
          </a:xfrm>
          <a:prstGeom prst="rect">
            <a:avLst/>
          </a:prstGeom>
        </p:spPr>
      </p:pic>
      <p:sp>
        <p:nvSpPr>
          <p:cNvPr id="924" name="TextBox 125">
            <a:extLst>
              <a:ext uri="{FF2B5EF4-FFF2-40B4-BE49-F238E27FC236}">
                <a16:creationId xmlns:a16="http://schemas.microsoft.com/office/drawing/2014/main" id="{14E633CA-D827-4147-861B-7D150B897422}"/>
              </a:ext>
            </a:extLst>
          </p:cNvPr>
          <p:cNvSpPr txBox="1"/>
          <p:nvPr/>
        </p:nvSpPr>
        <p:spPr>
          <a:xfrm>
            <a:off x="7391719" y="2468495"/>
            <a:ext cx="642957" cy="276999"/>
          </a:xfrm>
          <a:prstGeom prst="rect">
            <a:avLst/>
          </a:prstGeom>
          <a:noFill/>
        </p:spPr>
        <p:txBody>
          <a:bodyPr wrap="square" lIns="0" rIns="0" rtlCol="0" anchor="ctr">
            <a:spAutoFit/>
          </a:bodyPr>
          <a:lstStyle/>
          <a:p>
            <a:pPr algn="ctr" defTabSz="685388" fontAlgn="base">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a:t>
            </a:r>
          </a:p>
          <a:p>
            <a:pPr algn="ctr" defTabSz="685388" fontAlgn="base">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Node</a:t>
            </a:r>
          </a:p>
        </p:txBody>
      </p:sp>
      <p:cxnSp>
        <p:nvCxnSpPr>
          <p:cNvPr id="925" name="直接连接符 924">
            <a:extLst>
              <a:ext uri="{FF2B5EF4-FFF2-40B4-BE49-F238E27FC236}">
                <a16:creationId xmlns:a16="http://schemas.microsoft.com/office/drawing/2014/main" id="{697FDF38-4B27-4BC1-99E4-BC31711FE674}"/>
              </a:ext>
            </a:extLst>
          </p:cNvPr>
          <p:cNvCxnSpPr>
            <a:cxnSpLocks/>
            <a:stCxn id="903" idx="0"/>
            <a:endCxn id="926" idx="2"/>
          </p:cNvCxnSpPr>
          <p:nvPr/>
        </p:nvCxnSpPr>
        <p:spPr bwMode="auto">
          <a:xfrm flipV="1">
            <a:off x="6927658" y="950097"/>
            <a:ext cx="6989" cy="159544"/>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26" name="图片 925" descr="CE12800交换机-蓝.png">
            <a:extLst>
              <a:ext uri="{FF2B5EF4-FFF2-40B4-BE49-F238E27FC236}">
                <a16:creationId xmlns:a16="http://schemas.microsoft.com/office/drawing/2014/main" id="{3800FF33-37DF-4A2B-B7CB-A167F0C24CBF}"/>
              </a:ext>
            </a:extLst>
          </p:cNvPr>
          <p:cNvPicPr>
            <a:picLocks noChangeAspect="1"/>
          </p:cNvPicPr>
          <p:nvPr/>
        </p:nvPicPr>
        <p:blipFill>
          <a:blip r:embed="rId3" cstate="print"/>
          <a:stretch>
            <a:fillRect/>
          </a:stretch>
        </p:blipFill>
        <p:spPr>
          <a:xfrm>
            <a:off x="6813247" y="759028"/>
            <a:ext cx="242799" cy="191067"/>
          </a:xfrm>
          <a:prstGeom prst="rect">
            <a:avLst/>
          </a:prstGeom>
        </p:spPr>
      </p:pic>
      <p:pic>
        <p:nvPicPr>
          <p:cNvPr id="927" name="图片 926" descr="CE12800交换机-蓝.png">
            <a:extLst>
              <a:ext uri="{FF2B5EF4-FFF2-40B4-BE49-F238E27FC236}">
                <a16:creationId xmlns:a16="http://schemas.microsoft.com/office/drawing/2014/main" id="{9F4C5DCB-3BD5-464A-866F-A4C5F2308B85}"/>
              </a:ext>
            </a:extLst>
          </p:cNvPr>
          <p:cNvPicPr>
            <a:picLocks noChangeAspect="1"/>
          </p:cNvPicPr>
          <p:nvPr/>
        </p:nvPicPr>
        <p:blipFill>
          <a:blip r:embed="rId3" cstate="print"/>
          <a:stretch>
            <a:fillRect/>
          </a:stretch>
        </p:blipFill>
        <p:spPr>
          <a:xfrm>
            <a:off x="7293730" y="758214"/>
            <a:ext cx="242799" cy="191067"/>
          </a:xfrm>
          <a:prstGeom prst="rect">
            <a:avLst/>
          </a:prstGeom>
        </p:spPr>
      </p:pic>
      <p:pic>
        <p:nvPicPr>
          <p:cNvPr id="928" name="图片 927" descr="CE12800交换机-蓝.png">
            <a:extLst>
              <a:ext uri="{FF2B5EF4-FFF2-40B4-BE49-F238E27FC236}">
                <a16:creationId xmlns:a16="http://schemas.microsoft.com/office/drawing/2014/main" id="{22144062-87D1-40D0-BE2C-A537973E324C}"/>
              </a:ext>
            </a:extLst>
          </p:cNvPr>
          <p:cNvPicPr>
            <a:picLocks noChangeAspect="1"/>
          </p:cNvPicPr>
          <p:nvPr/>
        </p:nvPicPr>
        <p:blipFill>
          <a:blip r:embed="rId3" cstate="print"/>
          <a:stretch>
            <a:fillRect/>
          </a:stretch>
        </p:blipFill>
        <p:spPr>
          <a:xfrm>
            <a:off x="7293729" y="1112986"/>
            <a:ext cx="228823" cy="163231"/>
          </a:xfrm>
          <a:prstGeom prst="rect">
            <a:avLst/>
          </a:prstGeom>
        </p:spPr>
      </p:pic>
      <p:cxnSp>
        <p:nvCxnSpPr>
          <p:cNvPr id="929" name="直接连接符 928">
            <a:extLst>
              <a:ext uri="{FF2B5EF4-FFF2-40B4-BE49-F238E27FC236}">
                <a16:creationId xmlns:a16="http://schemas.microsoft.com/office/drawing/2014/main" id="{6F2E9029-3B4F-4408-8A2F-77AE6FF87864}"/>
              </a:ext>
            </a:extLst>
          </p:cNvPr>
          <p:cNvCxnSpPr>
            <a:cxnSpLocks/>
            <a:stCxn id="908" idx="0"/>
            <a:endCxn id="928" idx="2"/>
          </p:cNvCxnSpPr>
          <p:nvPr/>
        </p:nvCxnSpPr>
        <p:spPr bwMode="auto">
          <a:xfrm flipV="1">
            <a:off x="6095105" y="1276217"/>
            <a:ext cx="1313036" cy="417766"/>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0" name="直接连接符 929">
            <a:extLst>
              <a:ext uri="{FF2B5EF4-FFF2-40B4-BE49-F238E27FC236}">
                <a16:creationId xmlns:a16="http://schemas.microsoft.com/office/drawing/2014/main" id="{55793D6A-4E75-43D6-B071-B1D652E9E40A}"/>
              </a:ext>
            </a:extLst>
          </p:cNvPr>
          <p:cNvCxnSpPr>
            <a:cxnSpLocks/>
            <a:stCxn id="911" idx="0"/>
            <a:endCxn id="928" idx="2"/>
          </p:cNvCxnSpPr>
          <p:nvPr/>
        </p:nvCxnSpPr>
        <p:spPr bwMode="auto">
          <a:xfrm flipV="1">
            <a:off x="6732775" y="1276217"/>
            <a:ext cx="675366" cy="417766"/>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1" name="直接连接符 930">
            <a:extLst>
              <a:ext uri="{FF2B5EF4-FFF2-40B4-BE49-F238E27FC236}">
                <a16:creationId xmlns:a16="http://schemas.microsoft.com/office/drawing/2014/main" id="{FA87229D-B2EA-4F94-A106-7A5AB3230256}"/>
              </a:ext>
            </a:extLst>
          </p:cNvPr>
          <p:cNvCxnSpPr>
            <a:cxnSpLocks/>
            <a:stCxn id="920" idx="0"/>
            <a:endCxn id="903" idx="2"/>
          </p:cNvCxnSpPr>
          <p:nvPr/>
        </p:nvCxnSpPr>
        <p:spPr bwMode="auto">
          <a:xfrm flipH="1" flipV="1">
            <a:off x="6927658" y="1272871"/>
            <a:ext cx="923575" cy="425130"/>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2" name="直接连接符 931">
            <a:extLst>
              <a:ext uri="{FF2B5EF4-FFF2-40B4-BE49-F238E27FC236}">
                <a16:creationId xmlns:a16="http://schemas.microsoft.com/office/drawing/2014/main" id="{25AB87FB-72E9-4206-AE20-E17FC27BB058}"/>
              </a:ext>
            </a:extLst>
          </p:cNvPr>
          <p:cNvCxnSpPr>
            <a:cxnSpLocks/>
            <a:stCxn id="920" idx="0"/>
            <a:endCxn id="928" idx="2"/>
          </p:cNvCxnSpPr>
          <p:nvPr/>
        </p:nvCxnSpPr>
        <p:spPr bwMode="auto">
          <a:xfrm flipH="1" flipV="1">
            <a:off x="7408141" y="1276217"/>
            <a:ext cx="443093" cy="421784"/>
          </a:xfrm>
          <a:prstGeom prst="line">
            <a:avLst/>
          </a:prstGeom>
          <a:noFill/>
          <a:ln w="9525">
            <a:solidFill>
              <a:srgbClr val="666666">
                <a:lumMod val="75000"/>
              </a:srgbClr>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3" name="直接连接符 932">
            <a:extLst>
              <a:ext uri="{FF2B5EF4-FFF2-40B4-BE49-F238E27FC236}">
                <a16:creationId xmlns:a16="http://schemas.microsoft.com/office/drawing/2014/main" id="{96D5F1B2-B8A3-4519-ACAF-67E0EBACDB75}"/>
              </a:ext>
            </a:extLst>
          </p:cNvPr>
          <p:cNvCxnSpPr>
            <a:cxnSpLocks/>
            <a:stCxn id="921" idx="0"/>
            <a:endCxn id="903" idx="2"/>
          </p:cNvCxnSpPr>
          <p:nvPr/>
        </p:nvCxnSpPr>
        <p:spPr bwMode="auto">
          <a:xfrm flipH="1" flipV="1">
            <a:off x="6927658" y="1272871"/>
            <a:ext cx="1283275" cy="425130"/>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4" name="直接连接符 933">
            <a:extLst>
              <a:ext uri="{FF2B5EF4-FFF2-40B4-BE49-F238E27FC236}">
                <a16:creationId xmlns:a16="http://schemas.microsoft.com/office/drawing/2014/main" id="{573BF047-929B-4048-8C0C-5C9E9BFF423B}"/>
              </a:ext>
            </a:extLst>
          </p:cNvPr>
          <p:cNvCxnSpPr>
            <a:cxnSpLocks/>
            <a:stCxn id="921" idx="0"/>
            <a:endCxn id="928" idx="2"/>
          </p:cNvCxnSpPr>
          <p:nvPr/>
        </p:nvCxnSpPr>
        <p:spPr bwMode="auto">
          <a:xfrm flipH="1" flipV="1">
            <a:off x="7408141" y="1276217"/>
            <a:ext cx="802792" cy="421784"/>
          </a:xfrm>
          <a:prstGeom prst="line">
            <a:avLst/>
          </a:prstGeom>
          <a:noFill/>
          <a:ln w="9525">
            <a:solidFill>
              <a:srgbClr val="666666">
                <a:lumMod val="75000"/>
              </a:srgbClr>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5" name="直接连接符 934">
            <a:extLst>
              <a:ext uri="{FF2B5EF4-FFF2-40B4-BE49-F238E27FC236}">
                <a16:creationId xmlns:a16="http://schemas.microsoft.com/office/drawing/2014/main" id="{A2980F41-6111-4B2E-82F2-7F66D488B6B3}"/>
              </a:ext>
            </a:extLst>
          </p:cNvPr>
          <p:cNvCxnSpPr>
            <a:cxnSpLocks/>
            <a:stCxn id="928" idx="0"/>
            <a:endCxn id="926" idx="2"/>
          </p:cNvCxnSpPr>
          <p:nvPr/>
        </p:nvCxnSpPr>
        <p:spPr bwMode="auto">
          <a:xfrm flipH="1" flipV="1">
            <a:off x="6934647" y="950096"/>
            <a:ext cx="473494" cy="162890"/>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6" name="直接连接符 935">
            <a:extLst>
              <a:ext uri="{FF2B5EF4-FFF2-40B4-BE49-F238E27FC236}">
                <a16:creationId xmlns:a16="http://schemas.microsoft.com/office/drawing/2014/main" id="{4F9E8A83-295A-40B3-8D97-22DA776EB5FF}"/>
              </a:ext>
            </a:extLst>
          </p:cNvPr>
          <p:cNvCxnSpPr>
            <a:cxnSpLocks/>
            <a:stCxn id="903" idx="0"/>
            <a:endCxn id="927" idx="2"/>
          </p:cNvCxnSpPr>
          <p:nvPr/>
        </p:nvCxnSpPr>
        <p:spPr bwMode="auto">
          <a:xfrm flipV="1">
            <a:off x="6927659" y="949281"/>
            <a:ext cx="487471" cy="160359"/>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7" name="直接连接符 936">
            <a:extLst>
              <a:ext uri="{FF2B5EF4-FFF2-40B4-BE49-F238E27FC236}">
                <a16:creationId xmlns:a16="http://schemas.microsoft.com/office/drawing/2014/main" id="{16037653-8E53-4C1E-B968-51F9E4C0F268}"/>
              </a:ext>
            </a:extLst>
          </p:cNvPr>
          <p:cNvCxnSpPr>
            <a:cxnSpLocks/>
            <a:stCxn id="928" idx="0"/>
            <a:endCxn id="927" idx="2"/>
          </p:cNvCxnSpPr>
          <p:nvPr/>
        </p:nvCxnSpPr>
        <p:spPr bwMode="auto">
          <a:xfrm flipV="1">
            <a:off x="7408141" y="949281"/>
            <a:ext cx="6989" cy="163705"/>
          </a:xfrm>
          <a:prstGeom prst="line">
            <a:avLst/>
          </a:prstGeom>
          <a:noFill/>
          <a:ln w="9525">
            <a:solidFill>
              <a:srgbClr val="1D1D1A"/>
            </a:solidFill>
            <a:prstDash val="soli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0" name="矩形 939">
            <a:extLst>
              <a:ext uri="{FF2B5EF4-FFF2-40B4-BE49-F238E27FC236}">
                <a16:creationId xmlns:a16="http://schemas.microsoft.com/office/drawing/2014/main" id="{89556989-23BE-4928-B71D-AC846D814853}"/>
              </a:ext>
            </a:extLst>
          </p:cNvPr>
          <p:cNvSpPr/>
          <p:nvPr/>
        </p:nvSpPr>
        <p:spPr>
          <a:xfrm>
            <a:off x="7570596" y="763198"/>
            <a:ext cx="1010007" cy="219291"/>
          </a:xfrm>
          <a:prstGeom prst="rect">
            <a:avLst/>
          </a:prstGeom>
        </p:spPr>
        <p:txBody>
          <a:bodyPr wrap="square" anchor="ctr">
            <a:spAutoFit/>
          </a:bodyPr>
          <a:lstStyle/>
          <a:p>
            <a:pPr defTabSz="685526">
              <a:defRPr/>
            </a:pPr>
            <a:r>
              <a:rPr lang="en-US" altLang="zh-CN" sz="825" dirty="0">
                <a:solidFill>
                  <a:prstClr val="black"/>
                </a:solidFill>
                <a:latin typeface="微软雅黑" panose="020B0503020204020204" pitchFamily="34" charset="-122"/>
                <a:ea typeface="微软雅黑" panose="020B0503020204020204" pitchFamily="34" charset="-122"/>
              </a:rPr>
              <a:t>Border Leaf</a:t>
            </a:r>
            <a:endParaRPr lang="en-US" sz="825" dirty="0">
              <a:solidFill>
                <a:prstClr val="black"/>
              </a:solidFill>
              <a:latin typeface="微软雅黑" panose="020B0503020204020204" pitchFamily="34" charset="-122"/>
              <a:ea typeface="微软雅黑" panose="020B0503020204020204" pitchFamily="34" charset="-122"/>
            </a:endParaRPr>
          </a:p>
        </p:txBody>
      </p:sp>
      <p:cxnSp>
        <p:nvCxnSpPr>
          <p:cNvPr id="941" name="直接连接符 940">
            <a:extLst>
              <a:ext uri="{FF2B5EF4-FFF2-40B4-BE49-F238E27FC236}">
                <a16:creationId xmlns:a16="http://schemas.microsoft.com/office/drawing/2014/main" id="{5FDD7EDD-9AEC-4E98-9240-98F765B096C3}"/>
              </a:ext>
            </a:extLst>
          </p:cNvPr>
          <p:cNvCxnSpPr>
            <a:cxnSpLocks/>
            <a:stCxn id="908" idx="2"/>
            <a:endCxn id="943" idx="0"/>
          </p:cNvCxnSpPr>
          <p:nvPr/>
        </p:nvCxnSpPr>
        <p:spPr bwMode="auto">
          <a:xfrm>
            <a:off x="6095106" y="1844864"/>
            <a:ext cx="684762" cy="429331"/>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2" name="直接连接符 941">
            <a:extLst>
              <a:ext uri="{FF2B5EF4-FFF2-40B4-BE49-F238E27FC236}">
                <a16:creationId xmlns:a16="http://schemas.microsoft.com/office/drawing/2014/main" id="{90D0C78C-1CD2-45B2-9D5D-BAA47A223F10}"/>
              </a:ext>
            </a:extLst>
          </p:cNvPr>
          <p:cNvCxnSpPr>
            <a:cxnSpLocks/>
            <a:stCxn id="911" idx="2"/>
            <a:endCxn id="943" idx="0"/>
          </p:cNvCxnSpPr>
          <p:nvPr/>
        </p:nvCxnSpPr>
        <p:spPr bwMode="auto">
          <a:xfrm>
            <a:off x="6732775" y="1844864"/>
            <a:ext cx="47093" cy="429331"/>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3" name="矩形 942">
            <a:extLst>
              <a:ext uri="{FF2B5EF4-FFF2-40B4-BE49-F238E27FC236}">
                <a16:creationId xmlns:a16="http://schemas.microsoft.com/office/drawing/2014/main" id="{441C24E7-52B1-49F4-9C48-E510C23585F2}"/>
              </a:ext>
            </a:extLst>
          </p:cNvPr>
          <p:cNvSpPr/>
          <p:nvPr/>
        </p:nvSpPr>
        <p:spPr>
          <a:xfrm>
            <a:off x="6637038" y="2274195"/>
            <a:ext cx="285658" cy="211528"/>
          </a:xfrm>
          <a:prstGeom prst="rect">
            <a:avLst/>
          </a:prstGeom>
          <a:ln w="15875">
            <a:solidFill>
              <a:sysClr val="window" lastClr="FFFFFF">
                <a:lumMod val="75000"/>
              </a:sysClr>
            </a:solidFill>
          </a:ln>
        </p:spPr>
        <p:txBody>
          <a:bodyPr wrap="square" rtlCol="0" anchor="ctr">
            <a:noAutofit/>
          </a:bodyPr>
          <a:lstStyle/>
          <a:p>
            <a:pPr defTabSz="685173">
              <a:defRPr/>
            </a:pPr>
            <a:endParaRPr lang="zh-CN" altLang="en-US" sz="900" b="1"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944" name="Freeform 99">
            <a:extLst>
              <a:ext uri="{FF2B5EF4-FFF2-40B4-BE49-F238E27FC236}">
                <a16:creationId xmlns:a16="http://schemas.microsoft.com/office/drawing/2014/main" id="{D9AB5A4C-2522-4366-9B61-2B2CD4A87E05}"/>
              </a:ext>
            </a:extLst>
          </p:cNvPr>
          <p:cNvSpPr>
            <a:spLocks noEditPoints="1"/>
          </p:cNvSpPr>
          <p:nvPr/>
        </p:nvSpPr>
        <p:spPr bwMode="auto">
          <a:xfrm>
            <a:off x="6673253" y="2298868"/>
            <a:ext cx="215896" cy="170427"/>
          </a:xfrm>
          <a:custGeom>
            <a:avLst/>
            <a:gdLst>
              <a:gd name="T0" fmla="*/ 21 w 170"/>
              <a:gd name="T1" fmla="*/ 134 h 170"/>
              <a:gd name="T2" fmla="*/ 10 w 170"/>
              <a:gd name="T3" fmla="*/ 100 h 170"/>
              <a:gd name="T4" fmla="*/ 0 w 170"/>
              <a:gd name="T5" fmla="*/ 159 h 170"/>
              <a:gd name="T6" fmla="*/ 0 w 170"/>
              <a:gd name="T7" fmla="*/ 162 h 170"/>
              <a:gd name="T8" fmla="*/ 1 w 170"/>
              <a:gd name="T9" fmla="*/ 164 h 170"/>
              <a:gd name="T10" fmla="*/ 5 w 170"/>
              <a:gd name="T11" fmla="*/ 168 h 170"/>
              <a:gd name="T12" fmla="*/ 6 w 170"/>
              <a:gd name="T13" fmla="*/ 169 h 170"/>
              <a:gd name="T14" fmla="*/ 8 w 170"/>
              <a:gd name="T15" fmla="*/ 169 h 170"/>
              <a:gd name="T16" fmla="*/ 59 w 170"/>
              <a:gd name="T17" fmla="*/ 170 h 170"/>
              <a:gd name="T18" fmla="*/ 59 w 170"/>
              <a:gd name="T19" fmla="*/ 149 h 170"/>
              <a:gd name="T20" fmla="*/ 76 w 170"/>
              <a:gd name="T21" fmla="*/ 109 h 170"/>
              <a:gd name="T22" fmla="*/ 61 w 170"/>
              <a:gd name="T23" fmla="*/ 94 h 170"/>
              <a:gd name="T24" fmla="*/ 21 w 170"/>
              <a:gd name="T25" fmla="*/ 58 h 170"/>
              <a:gd name="T26" fmla="*/ 61 w 170"/>
              <a:gd name="T27" fmla="*/ 75 h 170"/>
              <a:gd name="T28" fmla="*/ 76 w 170"/>
              <a:gd name="T29" fmla="*/ 75 h 170"/>
              <a:gd name="T30" fmla="*/ 36 w 170"/>
              <a:gd name="T31" fmla="*/ 21 h 170"/>
              <a:gd name="T32" fmla="*/ 69 w 170"/>
              <a:gd name="T33" fmla="*/ 10 h 170"/>
              <a:gd name="T34" fmla="*/ 10 w 170"/>
              <a:gd name="T35" fmla="*/ 0 h 170"/>
              <a:gd name="T36" fmla="*/ 7 w 170"/>
              <a:gd name="T37" fmla="*/ 0 h 170"/>
              <a:gd name="T38" fmla="*/ 5 w 170"/>
              <a:gd name="T39" fmla="*/ 1 h 170"/>
              <a:gd name="T40" fmla="*/ 2 w 170"/>
              <a:gd name="T41" fmla="*/ 4 h 170"/>
              <a:gd name="T42" fmla="*/ 1 w 170"/>
              <a:gd name="T43" fmla="*/ 6 h 170"/>
              <a:gd name="T44" fmla="*/ 0 w 170"/>
              <a:gd name="T45" fmla="*/ 8 h 170"/>
              <a:gd name="T46" fmla="*/ 0 w 170"/>
              <a:gd name="T47" fmla="*/ 58 h 170"/>
              <a:gd name="T48" fmla="*/ 102 w 170"/>
              <a:gd name="T49" fmla="*/ 78 h 170"/>
              <a:gd name="T50" fmla="*/ 149 w 170"/>
              <a:gd name="T51" fmla="*/ 35 h 170"/>
              <a:gd name="T52" fmla="*/ 160 w 170"/>
              <a:gd name="T53" fmla="*/ 69 h 170"/>
              <a:gd name="T54" fmla="*/ 170 w 170"/>
              <a:gd name="T55" fmla="*/ 10 h 170"/>
              <a:gd name="T56" fmla="*/ 170 w 170"/>
              <a:gd name="T57" fmla="*/ 7 h 170"/>
              <a:gd name="T58" fmla="*/ 169 w 170"/>
              <a:gd name="T59" fmla="*/ 5 h 170"/>
              <a:gd name="T60" fmla="*/ 165 w 170"/>
              <a:gd name="T61" fmla="*/ 1 h 170"/>
              <a:gd name="T62" fmla="*/ 164 w 170"/>
              <a:gd name="T63" fmla="*/ 0 h 170"/>
              <a:gd name="T64" fmla="*/ 162 w 170"/>
              <a:gd name="T65" fmla="*/ 0 h 170"/>
              <a:gd name="T66" fmla="*/ 111 w 170"/>
              <a:gd name="T67" fmla="*/ 0 h 170"/>
              <a:gd name="T68" fmla="*/ 111 w 170"/>
              <a:gd name="T69" fmla="*/ 21 h 170"/>
              <a:gd name="T70" fmla="*/ 94 w 170"/>
              <a:gd name="T71" fmla="*/ 61 h 170"/>
              <a:gd name="T72" fmla="*/ 102 w 170"/>
              <a:gd name="T73" fmla="*/ 78 h 170"/>
              <a:gd name="T74" fmla="*/ 149 w 170"/>
              <a:gd name="T75" fmla="*/ 112 h 170"/>
              <a:gd name="T76" fmla="*/ 110 w 170"/>
              <a:gd name="T77" fmla="*/ 95 h 170"/>
              <a:gd name="T78" fmla="*/ 95 w 170"/>
              <a:gd name="T79" fmla="*/ 95 h 170"/>
              <a:gd name="T80" fmla="*/ 135 w 170"/>
              <a:gd name="T81" fmla="*/ 149 h 170"/>
              <a:gd name="T82" fmla="*/ 102 w 170"/>
              <a:gd name="T83" fmla="*/ 159 h 170"/>
              <a:gd name="T84" fmla="*/ 160 w 170"/>
              <a:gd name="T85" fmla="*/ 170 h 170"/>
              <a:gd name="T86" fmla="*/ 163 w 170"/>
              <a:gd name="T87" fmla="*/ 169 h 170"/>
              <a:gd name="T88" fmla="*/ 165 w 170"/>
              <a:gd name="T89" fmla="*/ 168 h 170"/>
              <a:gd name="T90" fmla="*/ 168 w 170"/>
              <a:gd name="T91" fmla="*/ 165 h 170"/>
              <a:gd name="T92" fmla="*/ 169 w 170"/>
              <a:gd name="T93" fmla="*/ 163 h 170"/>
              <a:gd name="T94" fmla="*/ 170 w 170"/>
              <a:gd name="T95" fmla="*/ 161 h 170"/>
              <a:gd name="T96" fmla="*/ 170 w 170"/>
              <a:gd name="T97" fmla="*/ 1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70">
                <a:moveTo>
                  <a:pt x="61" y="94"/>
                </a:moveTo>
                <a:cubicBezTo>
                  <a:pt x="21" y="134"/>
                  <a:pt x="21" y="134"/>
                  <a:pt x="21" y="134"/>
                </a:cubicBezTo>
                <a:cubicBezTo>
                  <a:pt x="21" y="111"/>
                  <a:pt x="21" y="111"/>
                  <a:pt x="21" y="111"/>
                </a:cubicBezTo>
                <a:cubicBezTo>
                  <a:pt x="21" y="105"/>
                  <a:pt x="16" y="100"/>
                  <a:pt x="10" y="100"/>
                </a:cubicBezTo>
                <a:cubicBezTo>
                  <a:pt x="5" y="100"/>
                  <a:pt x="0" y="105"/>
                  <a:pt x="0" y="111"/>
                </a:cubicBezTo>
                <a:cubicBezTo>
                  <a:pt x="0" y="159"/>
                  <a:pt x="0" y="159"/>
                  <a:pt x="0" y="159"/>
                </a:cubicBezTo>
                <a:cubicBezTo>
                  <a:pt x="0" y="160"/>
                  <a:pt x="0" y="161"/>
                  <a:pt x="0" y="161"/>
                </a:cubicBezTo>
                <a:cubicBezTo>
                  <a:pt x="0" y="162"/>
                  <a:pt x="0" y="162"/>
                  <a:pt x="0" y="162"/>
                </a:cubicBezTo>
                <a:cubicBezTo>
                  <a:pt x="1" y="163"/>
                  <a:pt x="1" y="163"/>
                  <a:pt x="1" y="163"/>
                </a:cubicBezTo>
                <a:cubicBezTo>
                  <a:pt x="1" y="164"/>
                  <a:pt x="1" y="164"/>
                  <a:pt x="1" y="164"/>
                </a:cubicBezTo>
                <a:cubicBezTo>
                  <a:pt x="2" y="165"/>
                  <a:pt x="2" y="165"/>
                  <a:pt x="2" y="165"/>
                </a:cubicBezTo>
                <a:cubicBezTo>
                  <a:pt x="2" y="166"/>
                  <a:pt x="3" y="167"/>
                  <a:pt x="5" y="168"/>
                </a:cubicBezTo>
                <a:cubicBezTo>
                  <a:pt x="5" y="168"/>
                  <a:pt x="5" y="168"/>
                  <a:pt x="5" y="168"/>
                </a:cubicBezTo>
                <a:cubicBezTo>
                  <a:pt x="6" y="169"/>
                  <a:pt x="6" y="169"/>
                  <a:pt x="6" y="169"/>
                </a:cubicBezTo>
                <a:cubicBezTo>
                  <a:pt x="7" y="169"/>
                  <a:pt x="7" y="169"/>
                  <a:pt x="7" y="169"/>
                </a:cubicBezTo>
                <a:cubicBezTo>
                  <a:pt x="8" y="169"/>
                  <a:pt x="8" y="169"/>
                  <a:pt x="8" y="169"/>
                </a:cubicBezTo>
                <a:cubicBezTo>
                  <a:pt x="9" y="170"/>
                  <a:pt x="10" y="170"/>
                  <a:pt x="10" y="170"/>
                </a:cubicBezTo>
                <a:cubicBezTo>
                  <a:pt x="59" y="170"/>
                  <a:pt x="59" y="170"/>
                  <a:pt x="59" y="170"/>
                </a:cubicBezTo>
                <a:cubicBezTo>
                  <a:pt x="65" y="170"/>
                  <a:pt x="69" y="165"/>
                  <a:pt x="69" y="159"/>
                </a:cubicBezTo>
                <a:cubicBezTo>
                  <a:pt x="69" y="153"/>
                  <a:pt x="65" y="149"/>
                  <a:pt x="59" y="149"/>
                </a:cubicBezTo>
                <a:cubicBezTo>
                  <a:pt x="36" y="149"/>
                  <a:pt x="36" y="149"/>
                  <a:pt x="36" y="149"/>
                </a:cubicBezTo>
                <a:cubicBezTo>
                  <a:pt x="76" y="109"/>
                  <a:pt x="76" y="109"/>
                  <a:pt x="76" y="109"/>
                </a:cubicBezTo>
                <a:cubicBezTo>
                  <a:pt x="80" y="105"/>
                  <a:pt x="80" y="98"/>
                  <a:pt x="76" y="94"/>
                </a:cubicBezTo>
                <a:cubicBezTo>
                  <a:pt x="72" y="90"/>
                  <a:pt x="65" y="90"/>
                  <a:pt x="61" y="94"/>
                </a:cubicBezTo>
                <a:close/>
                <a:moveTo>
                  <a:pt x="10" y="69"/>
                </a:moveTo>
                <a:cubicBezTo>
                  <a:pt x="16" y="69"/>
                  <a:pt x="21" y="64"/>
                  <a:pt x="21" y="58"/>
                </a:cubicBezTo>
                <a:cubicBezTo>
                  <a:pt x="21" y="35"/>
                  <a:pt x="21" y="35"/>
                  <a:pt x="21" y="35"/>
                </a:cubicBezTo>
                <a:cubicBezTo>
                  <a:pt x="61" y="75"/>
                  <a:pt x="61" y="75"/>
                  <a:pt x="61" y="75"/>
                </a:cubicBezTo>
                <a:cubicBezTo>
                  <a:pt x="63" y="77"/>
                  <a:pt x="66" y="78"/>
                  <a:pt x="68" y="78"/>
                </a:cubicBezTo>
                <a:cubicBezTo>
                  <a:pt x="71" y="78"/>
                  <a:pt x="74" y="77"/>
                  <a:pt x="76" y="75"/>
                </a:cubicBezTo>
                <a:cubicBezTo>
                  <a:pt x="80" y="71"/>
                  <a:pt x="80" y="65"/>
                  <a:pt x="76" y="61"/>
                </a:cubicBezTo>
                <a:cubicBezTo>
                  <a:pt x="36" y="21"/>
                  <a:pt x="36" y="21"/>
                  <a:pt x="36" y="21"/>
                </a:cubicBezTo>
                <a:cubicBezTo>
                  <a:pt x="59" y="21"/>
                  <a:pt x="59" y="21"/>
                  <a:pt x="59" y="21"/>
                </a:cubicBezTo>
                <a:cubicBezTo>
                  <a:pt x="65" y="21"/>
                  <a:pt x="69" y="16"/>
                  <a:pt x="69" y="10"/>
                </a:cubicBezTo>
                <a:cubicBezTo>
                  <a:pt x="69" y="4"/>
                  <a:pt x="65" y="0"/>
                  <a:pt x="59" y="0"/>
                </a:cubicBezTo>
                <a:cubicBezTo>
                  <a:pt x="10" y="0"/>
                  <a:pt x="10" y="0"/>
                  <a:pt x="10" y="0"/>
                </a:cubicBezTo>
                <a:cubicBezTo>
                  <a:pt x="10" y="0"/>
                  <a:pt x="9" y="0"/>
                  <a:pt x="8" y="0"/>
                </a:cubicBezTo>
                <a:cubicBezTo>
                  <a:pt x="7" y="0"/>
                  <a:pt x="7" y="0"/>
                  <a:pt x="7" y="0"/>
                </a:cubicBezTo>
                <a:cubicBezTo>
                  <a:pt x="6" y="0"/>
                  <a:pt x="6" y="0"/>
                  <a:pt x="6" y="0"/>
                </a:cubicBezTo>
                <a:cubicBezTo>
                  <a:pt x="6" y="1"/>
                  <a:pt x="6" y="1"/>
                  <a:pt x="5" y="1"/>
                </a:cubicBezTo>
                <a:cubicBezTo>
                  <a:pt x="5" y="1"/>
                  <a:pt x="5" y="1"/>
                  <a:pt x="5" y="1"/>
                </a:cubicBezTo>
                <a:cubicBezTo>
                  <a:pt x="3" y="2"/>
                  <a:pt x="2" y="3"/>
                  <a:pt x="2" y="4"/>
                </a:cubicBezTo>
                <a:cubicBezTo>
                  <a:pt x="1" y="5"/>
                  <a:pt x="1" y="5"/>
                  <a:pt x="1" y="5"/>
                </a:cubicBezTo>
                <a:cubicBezTo>
                  <a:pt x="1" y="6"/>
                  <a:pt x="1" y="6"/>
                  <a:pt x="1" y="6"/>
                </a:cubicBezTo>
                <a:cubicBezTo>
                  <a:pt x="0" y="7"/>
                  <a:pt x="0" y="7"/>
                  <a:pt x="0" y="7"/>
                </a:cubicBezTo>
                <a:cubicBezTo>
                  <a:pt x="0" y="8"/>
                  <a:pt x="0" y="8"/>
                  <a:pt x="0" y="8"/>
                </a:cubicBezTo>
                <a:cubicBezTo>
                  <a:pt x="0" y="9"/>
                  <a:pt x="0" y="9"/>
                  <a:pt x="0" y="10"/>
                </a:cubicBezTo>
                <a:cubicBezTo>
                  <a:pt x="0" y="58"/>
                  <a:pt x="0" y="58"/>
                  <a:pt x="0" y="58"/>
                </a:cubicBezTo>
                <a:cubicBezTo>
                  <a:pt x="0" y="64"/>
                  <a:pt x="5" y="69"/>
                  <a:pt x="10" y="69"/>
                </a:cubicBezTo>
                <a:close/>
                <a:moveTo>
                  <a:pt x="102" y="78"/>
                </a:moveTo>
                <a:cubicBezTo>
                  <a:pt x="104" y="78"/>
                  <a:pt x="107" y="77"/>
                  <a:pt x="109" y="75"/>
                </a:cubicBezTo>
                <a:cubicBezTo>
                  <a:pt x="149" y="35"/>
                  <a:pt x="149" y="35"/>
                  <a:pt x="149" y="35"/>
                </a:cubicBezTo>
                <a:cubicBezTo>
                  <a:pt x="149" y="58"/>
                  <a:pt x="149" y="58"/>
                  <a:pt x="149" y="58"/>
                </a:cubicBezTo>
                <a:cubicBezTo>
                  <a:pt x="149" y="64"/>
                  <a:pt x="154" y="69"/>
                  <a:pt x="160" y="69"/>
                </a:cubicBezTo>
                <a:cubicBezTo>
                  <a:pt x="165" y="69"/>
                  <a:pt x="170" y="64"/>
                  <a:pt x="170" y="58"/>
                </a:cubicBezTo>
                <a:cubicBezTo>
                  <a:pt x="170" y="10"/>
                  <a:pt x="170" y="10"/>
                  <a:pt x="170" y="10"/>
                </a:cubicBezTo>
                <a:cubicBezTo>
                  <a:pt x="170" y="9"/>
                  <a:pt x="170" y="9"/>
                  <a:pt x="170" y="8"/>
                </a:cubicBezTo>
                <a:cubicBezTo>
                  <a:pt x="170" y="7"/>
                  <a:pt x="170" y="7"/>
                  <a:pt x="170" y="7"/>
                </a:cubicBezTo>
                <a:cubicBezTo>
                  <a:pt x="169" y="6"/>
                  <a:pt x="169" y="6"/>
                  <a:pt x="169" y="6"/>
                </a:cubicBezTo>
                <a:cubicBezTo>
                  <a:pt x="169" y="6"/>
                  <a:pt x="169" y="5"/>
                  <a:pt x="169" y="5"/>
                </a:cubicBezTo>
                <a:cubicBezTo>
                  <a:pt x="168" y="4"/>
                  <a:pt x="168" y="4"/>
                  <a:pt x="168" y="4"/>
                </a:cubicBezTo>
                <a:cubicBezTo>
                  <a:pt x="167" y="3"/>
                  <a:pt x="166" y="2"/>
                  <a:pt x="165" y="1"/>
                </a:cubicBezTo>
                <a:cubicBezTo>
                  <a:pt x="165" y="1"/>
                  <a:pt x="165" y="1"/>
                  <a:pt x="165" y="1"/>
                </a:cubicBezTo>
                <a:cubicBezTo>
                  <a:pt x="164" y="0"/>
                  <a:pt x="164" y="0"/>
                  <a:pt x="164" y="0"/>
                </a:cubicBezTo>
                <a:cubicBezTo>
                  <a:pt x="162" y="0"/>
                  <a:pt x="162" y="0"/>
                  <a:pt x="162" y="0"/>
                </a:cubicBezTo>
                <a:cubicBezTo>
                  <a:pt x="162" y="0"/>
                  <a:pt x="162" y="0"/>
                  <a:pt x="162" y="0"/>
                </a:cubicBezTo>
                <a:cubicBezTo>
                  <a:pt x="161" y="0"/>
                  <a:pt x="160" y="0"/>
                  <a:pt x="160" y="0"/>
                </a:cubicBezTo>
                <a:cubicBezTo>
                  <a:pt x="111" y="0"/>
                  <a:pt x="111" y="0"/>
                  <a:pt x="111" y="0"/>
                </a:cubicBezTo>
                <a:cubicBezTo>
                  <a:pt x="105" y="0"/>
                  <a:pt x="101" y="4"/>
                  <a:pt x="101" y="10"/>
                </a:cubicBezTo>
                <a:cubicBezTo>
                  <a:pt x="101" y="16"/>
                  <a:pt x="105" y="21"/>
                  <a:pt x="111" y="21"/>
                </a:cubicBezTo>
                <a:cubicBezTo>
                  <a:pt x="134" y="21"/>
                  <a:pt x="134" y="21"/>
                  <a:pt x="134" y="21"/>
                </a:cubicBezTo>
                <a:cubicBezTo>
                  <a:pt x="94" y="61"/>
                  <a:pt x="94" y="61"/>
                  <a:pt x="94" y="61"/>
                </a:cubicBezTo>
                <a:cubicBezTo>
                  <a:pt x="90" y="65"/>
                  <a:pt x="90" y="71"/>
                  <a:pt x="94" y="75"/>
                </a:cubicBezTo>
                <a:cubicBezTo>
                  <a:pt x="96" y="77"/>
                  <a:pt x="99" y="78"/>
                  <a:pt x="102" y="78"/>
                </a:cubicBezTo>
                <a:close/>
                <a:moveTo>
                  <a:pt x="160" y="101"/>
                </a:moveTo>
                <a:cubicBezTo>
                  <a:pt x="154" y="101"/>
                  <a:pt x="149" y="106"/>
                  <a:pt x="149" y="112"/>
                </a:cubicBezTo>
                <a:cubicBezTo>
                  <a:pt x="149" y="134"/>
                  <a:pt x="149" y="134"/>
                  <a:pt x="149" y="134"/>
                </a:cubicBezTo>
                <a:cubicBezTo>
                  <a:pt x="110" y="95"/>
                  <a:pt x="110" y="95"/>
                  <a:pt x="110" y="95"/>
                </a:cubicBezTo>
                <a:cubicBezTo>
                  <a:pt x="108" y="93"/>
                  <a:pt x="105" y="92"/>
                  <a:pt x="102" y="92"/>
                </a:cubicBezTo>
                <a:cubicBezTo>
                  <a:pt x="100" y="92"/>
                  <a:pt x="97" y="93"/>
                  <a:pt x="95" y="95"/>
                </a:cubicBezTo>
                <a:cubicBezTo>
                  <a:pt x="91" y="99"/>
                  <a:pt x="91" y="105"/>
                  <a:pt x="95" y="109"/>
                </a:cubicBezTo>
                <a:cubicBezTo>
                  <a:pt x="135" y="149"/>
                  <a:pt x="135" y="149"/>
                  <a:pt x="135" y="149"/>
                </a:cubicBezTo>
                <a:cubicBezTo>
                  <a:pt x="112" y="149"/>
                  <a:pt x="112" y="149"/>
                  <a:pt x="112" y="149"/>
                </a:cubicBezTo>
                <a:cubicBezTo>
                  <a:pt x="106" y="149"/>
                  <a:pt x="102" y="154"/>
                  <a:pt x="102" y="159"/>
                </a:cubicBezTo>
                <a:cubicBezTo>
                  <a:pt x="102" y="165"/>
                  <a:pt x="106" y="170"/>
                  <a:pt x="112" y="170"/>
                </a:cubicBezTo>
                <a:cubicBezTo>
                  <a:pt x="160" y="170"/>
                  <a:pt x="160" y="170"/>
                  <a:pt x="160" y="170"/>
                </a:cubicBezTo>
                <a:cubicBezTo>
                  <a:pt x="160" y="170"/>
                  <a:pt x="161" y="170"/>
                  <a:pt x="162" y="169"/>
                </a:cubicBezTo>
                <a:cubicBezTo>
                  <a:pt x="163" y="169"/>
                  <a:pt x="163" y="169"/>
                  <a:pt x="163" y="169"/>
                </a:cubicBezTo>
                <a:cubicBezTo>
                  <a:pt x="164" y="169"/>
                  <a:pt x="164" y="169"/>
                  <a:pt x="164" y="169"/>
                </a:cubicBezTo>
                <a:cubicBezTo>
                  <a:pt x="165" y="168"/>
                  <a:pt x="165" y="168"/>
                  <a:pt x="165" y="168"/>
                </a:cubicBezTo>
                <a:cubicBezTo>
                  <a:pt x="165" y="168"/>
                  <a:pt x="165" y="168"/>
                  <a:pt x="165" y="168"/>
                </a:cubicBezTo>
                <a:cubicBezTo>
                  <a:pt x="167" y="167"/>
                  <a:pt x="168" y="166"/>
                  <a:pt x="168" y="165"/>
                </a:cubicBezTo>
                <a:cubicBezTo>
                  <a:pt x="169" y="164"/>
                  <a:pt x="169" y="164"/>
                  <a:pt x="169" y="164"/>
                </a:cubicBezTo>
                <a:cubicBezTo>
                  <a:pt x="169" y="163"/>
                  <a:pt x="169" y="163"/>
                  <a:pt x="169" y="163"/>
                </a:cubicBezTo>
                <a:cubicBezTo>
                  <a:pt x="170" y="162"/>
                  <a:pt x="170" y="162"/>
                  <a:pt x="170" y="162"/>
                </a:cubicBezTo>
                <a:cubicBezTo>
                  <a:pt x="170" y="161"/>
                  <a:pt x="170" y="161"/>
                  <a:pt x="170" y="161"/>
                </a:cubicBezTo>
                <a:cubicBezTo>
                  <a:pt x="170" y="161"/>
                  <a:pt x="170" y="160"/>
                  <a:pt x="170" y="159"/>
                </a:cubicBezTo>
                <a:cubicBezTo>
                  <a:pt x="170" y="112"/>
                  <a:pt x="170" y="112"/>
                  <a:pt x="170" y="112"/>
                </a:cubicBezTo>
                <a:cubicBezTo>
                  <a:pt x="170" y="106"/>
                  <a:pt x="165" y="101"/>
                  <a:pt x="160" y="101"/>
                </a:cubicBezTo>
                <a:close/>
              </a:path>
            </a:pathLst>
          </a:custGeom>
          <a:solidFill>
            <a:srgbClr val="C00000"/>
          </a:solidFill>
          <a:ln w="12700" cap="flat" cmpd="sng" algn="ctr">
            <a:solidFill>
              <a:srgbClr val="E7E6E6">
                <a:lumMod val="75000"/>
              </a:srgbClr>
            </a:solidFill>
            <a:prstDash val="solid"/>
            <a:miter lim="800000"/>
          </a:ln>
          <a:effectLst/>
        </p:spPr>
        <p:txBody>
          <a:bodyPr rot="0" spcFirstLastPara="0" vertOverflow="overflow" horzOverflow="overflow" vert="horz" wrap="square" lIns="68510" tIns="34255" rIns="68510" bIns="34255" numCol="1" spcCol="0" rtlCol="0" fromWordArt="0" anchor="ctr" anchorCtr="0" forceAA="0" compatLnSpc="1">
            <a:prstTxWarp prst="textNoShape">
              <a:avLst/>
            </a:prstTxWarp>
            <a:noAutofit/>
          </a:bodyPr>
          <a:lstStyle/>
          <a:p>
            <a:pPr algn="ctr" defTabSz="685173">
              <a:defRPr/>
            </a:pPr>
            <a:endParaRPr lang="zh-CN" altLang="en-US" sz="600" b="1">
              <a:solidFill>
                <a:srgbClr val="666666"/>
              </a:solidFill>
              <a:latin typeface="微软雅黑" panose="020B0503020204020204" pitchFamily="34" charset="-122"/>
              <a:ea typeface="微软雅黑" panose="020B0503020204020204" pitchFamily="34" charset="-122"/>
              <a:cs typeface="+mn-ea"/>
            </a:endParaRPr>
          </a:p>
        </p:txBody>
      </p:sp>
      <p:pic>
        <p:nvPicPr>
          <p:cNvPr id="946" name="图片 945" descr="VSwitch+VM 1蓝.png">
            <a:extLst>
              <a:ext uri="{FF2B5EF4-FFF2-40B4-BE49-F238E27FC236}">
                <a16:creationId xmlns:a16="http://schemas.microsoft.com/office/drawing/2014/main" id="{58D81731-B639-416B-9045-CB9358E21380}"/>
              </a:ext>
            </a:extLst>
          </p:cNvPr>
          <p:cNvPicPr>
            <a:picLocks noChangeAspect="1"/>
          </p:cNvPicPr>
          <p:nvPr/>
        </p:nvPicPr>
        <p:blipFill>
          <a:blip r:embed="rId5" cstate="print"/>
          <a:stretch>
            <a:fillRect/>
          </a:stretch>
        </p:blipFill>
        <p:spPr>
          <a:xfrm>
            <a:off x="8179222" y="2285987"/>
            <a:ext cx="236712" cy="204222"/>
          </a:xfrm>
          <a:prstGeom prst="rect">
            <a:avLst/>
          </a:prstGeom>
        </p:spPr>
      </p:pic>
      <p:sp>
        <p:nvSpPr>
          <p:cNvPr id="947" name="TextBox 125">
            <a:extLst>
              <a:ext uri="{FF2B5EF4-FFF2-40B4-BE49-F238E27FC236}">
                <a16:creationId xmlns:a16="http://schemas.microsoft.com/office/drawing/2014/main" id="{EC300A05-FA78-43A2-92D3-C77A38172856}"/>
              </a:ext>
            </a:extLst>
          </p:cNvPr>
          <p:cNvSpPr txBox="1"/>
          <p:nvPr/>
        </p:nvSpPr>
        <p:spPr>
          <a:xfrm>
            <a:off x="8052145" y="2474133"/>
            <a:ext cx="503963" cy="276999"/>
          </a:xfrm>
          <a:prstGeom prst="rect">
            <a:avLst/>
          </a:prstGeom>
          <a:noFill/>
        </p:spPr>
        <p:txBody>
          <a:bodyPr wrap="square" lIns="0" rIns="0" rtlCol="0" anchor="ctr">
            <a:spAutoFit/>
          </a:bodyPr>
          <a:lstStyle/>
          <a:p>
            <a:pPr algn="ctr" defTabSz="685388" fontAlgn="base">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a:t>
            </a:r>
          </a:p>
          <a:p>
            <a:pPr algn="ctr" defTabSz="685388" fontAlgn="base">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Node</a:t>
            </a:r>
          </a:p>
        </p:txBody>
      </p:sp>
      <p:cxnSp>
        <p:nvCxnSpPr>
          <p:cNvPr id="948" name="直接连接符 947">
            <a:extLst>
              <a:ext uri="{FF2B5EF4-FFF2-40B4-BE49-F238E27FC236}">
                <a16:creationId xmlns:a16="http://schemas.microsoft.com/office/drawing/2014/main" id="{24597836-73D9-473F-9618-0FF92EC5EEAD}"/>
              </a:ext>
            </a:extLst>
          </p:cNvPr>
          <p:cNvCxnSpPr>
            <a:cxnSpLocks/>
            <a:stCxn id="946" idx="0"/>
            <a:endCxn id="921" idx="2"/>
          </p:cNvCxnSpPr>
          <p:nvPr/>
        </p:nvCxnSpPr>
        <p:spPr bwMode="auto">
          <a:xfrm flipH="1" flipV="1">
            <a:off x="8210934" y="1848881"/>
            <a:ext cx="86644" cy="437105"/>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9" name="直接连接符 948">
            <a:extLst>
              <a:ext uri="{FF2B5EF4-FFF2-40B4-BE49-F238E27FC236}">
                <a16:creationId xmlns:a16="http://schemas.microsoft.com/office/drawing/2014/main" id="{0E3BB33F-1158-4BA5-AE1C-D0A8B95956EC}"/>
              </a:ext>
            </a:extLst>
          </p:cNvPr>
          <p:cNvCxnSpPr>
            <a:cxnSpLocks/>
            <a:stCxn id="946" idx="0"/>
            <a:endCxn id="920" idx="2"/>
          </p:cNvCxnSpPr>
          <p:nvPr/>
        </p:nvCxnSpPr>
        <p:spPr bwMode="auto">
          <a:xfrm flipH="1" flipV="1">
            <a:off x="7851234" y="1848881"/>
            <a:ext cx="446344" cy="437105"/>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0" name="矩形: 圆角 949">
            <a:extLst>
              <a:ext uri="{FF2B5EF4-FFF2-40B4-BE49-F238E27FC236}">
                <a16:creationId xmlns:a16="http://schemas.microsoft.com/office/drawing/2014/main" id="{16B64DFD-67F6-48DE-B7CD-0A973913D295}"/>
              </a:ext>
            </a:extLst>
          </p:cNvPr>
          <p:cNvSpPr/>
          <p:nvPr/>
        </p:nvSpPr>
        <p:spPr>
          <a:xfrm>
            <a:off x="5824130" y="2164880"/>
            <a:ext cx="514112" cy="532956"/>
          </a:xfrm>
          <a:prstGeom prst="roundRect">
            <a:avLst>
              <a:gd name="adj" fmla="val 14591"/>
            </a:avLst>
          </a:prstGeom>
          <a:solidFill>
            <a:srgbClr val="FCC800">
              <a:lumMod val="20000"/>
              <a:lumOff val="80000"/>
            </a:srgbClr>
          </a:solidFill>
          <a:ln w="12700" cap="flat" cmpd="sng" algn="ctr">
            <a:solidFill>
              <a:srgbClr val="0070C0"/>
            </a:solidFill>
            <a:prstDash val="dash"/>
            <a:miter lim="800000"/>
          </a:ln>
          <a:effectLst/>
        </p:spPr>
        <p:txBody>
          <a:bodyPr rtlCol="0" anchor="ctr"/>
          <a:lstStyle/>
          <a:p>
            <a:pPr algn="ctr" defTabSz="685050">
              <a:defRPr/>
            </a:pPr>
            <a:endParaRPr lang="zh-CN" altLang="en-US" sz="105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952" name="矩形 951">
            <a:extLst>
              <a:ext uri="{FF2B5EF4-FFF2-40B4-BE49-F238E27FC236}">
                <a16:creationId xmlns:a16="http://schemas.microsoft.com/office/drawing/2014/main" id="{CE8B4591-15F5-42B7-8103-E373EA145482}"/>
              </a:ext>
            </a:extLst>
          </p:cNvPr>
          <p:cNvSpPr/>
          <p:nvPr/>
        </p:nvSpPr>
        <p:spPr>
          <a:xfrm>
            <a:off x="5943492" y="2274195"/>
            <a:ext cx="285658" cy="211528"/>
          </a:xfrm>
          <a:prstGeom prst="rect">
            <a:avLst/>
          </a:prstGeom>
          <a:ln w="15875">
            <a:solidFill>
              <a:sysClr val="window" lastClr="FFFFFF">
                <a:lumMod val="75000"/>
              </a:sysClr>
            </a:solidFill>
          </a:ln>
        </p:spPr>
        <p:txBody>
          <a:bodyPr wrap="square" rtlCol="0" anchor="ctr">
            <a:noAutofit/>
          </a:bodyPr>
          <a:lstStyle/>
          <a:p>
            <a:pPr defTabSz="685173">
              <a:defRPr/>
            </a:pPr>
            <a:endParaRPr lang="zh-CN" altLang="en-US" sz="900" b="1"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953" name="Freeform 99">
            <a:extLst>
              <a:ext uri="{FF2B5EF4-FFF2-40B4-BE49-F238E27FC236}">
                <a16:creationId xmlns:a16="http://schemas.microsoft.com/office/drawing/2014/main" id="{211F3EBF-E5BE-4347-896B-86EF3FF68B08}"/>
              </a:ext>
            </a:extLst>
          </p:cNvPr>
          <p:cNvSpPr>
            <a:spLocks noEditPoints="1"/>
          </p:cNvSpPr>
          <p:nvPr/>
        </p:nvSpPr>
        <p:spPr bwMode="auto">
          <a:xfrm>
            <a:off x="5979706" y="2298868"/>
            <a:ext cx="215896" cy="170427"/>
          </a:xfrm>
          <a:custGeom>
            <a:avLst/>
            <a:gdLst>
              <a:gd name="T0" fmla="*/ 21 w 170"/>
              <a:gd name="T1" fmla="*/ 134 h 170"/>
              <a:gd name="T2" fmla="*/ 10 w 170"/>
              <a:gd name="T3" fmla="*/ 100 h 170"/>
              <a:gd name="T4" fmla="*/ 0 w 170"/>
              <a:gd name="T5" fmla="*/ 159 h 170"/>
              <a:gd name="T6" fmla="*/ 0 w 170"/>
              <a:gd name="T7" fmla="*/ 162 h 170"/>
              <a:gd name="T8" fmla="*/ 1 w 170"/>
              <a:gd name="T9" fmla="*/ 164 h 170"/>
              <a:gd name="T10" fmla="*/ 5 w 170"/>
              <a:gd name="T11" fmla="*/ 168 h 170"/>
              <a:gd name="T12" fmla="*/ 6 w 170"/>
              <a:gd name="T13" fmla="*/ 169 h 170"/>
              <a:gd name="T14" fmla="*/ 8 w 170"/>
              <a:gd name="T15" fmla="*/ 169 h 170"/>
              <a:gd name="T16" fmla="*/ 59 w 170"/>
              <a:gd name="T17" fmla="*/ 170 h 170"/>
              <a:gd name="T18" fmla="*/ 59 w 170"/>
              <a:gd name="T19" fmla="*/ 149 h 170"/>
              <a:gd name="T20" fmla="*/ 76 w 170"/>
              <a:gd name="T21" fmla="*/ 109 h 170"/>
              <a:gd name="T22" fmla="*/ 61 w 170"/>
              <a:gd name="T23" fmla="*/ 94 h 170"/>
              <a:gd name="T24" fmla="*/ 21 w 170"/>
              <a:gd name="T25" fmla="*/ 58 h 170"/>
              <a:gd name="T26" fmla="*/ 61 w 170"/>
              <a:gd name="T27" fmla="*/ 75 h 170"/>
              <a:gd name="T28" fmla="*/ 76 w 170"/>
              <a:gd name="T29" fmla="*/ 75 h 170"/>
              <a:gd name="T30" fmla="*/ 36 w 170"/>
              <a:gd name="T31" fmla="*/ 21 h 170"/>
              <a:gd name="T32" fmla="*/ 69 w 170"/>
              <a:gd name="T33" fmla="*/ 10 h 170"/>
              <a:gd name="T34" fmla="*/ 10 w 170"/>
              <a:gd name="T35" fmla="*/ 0 h 170"/>
              <a:gd name="T36" fmla="*/ 7 w 170"/>
              <a:gd name="T37" fmla="*/ 0 h 170"/>
              <a:gd name="T38" fmla="*/ 5 w 170"/>
              <a:gd name="T39" fmla="*/ 1 h 170"/>
              <a:gd name="T40" fmla="*/ 2 w 170"/>
              <a:gd name="T41" fmla="*/ 4 h 170"/>
              <a:gd name="T42" fmla="*/ 1 w 170"/>
              <a:gd name="T43" fmla="*/ 6 h 170"/>
              <a:gd name="T44" fmla="*/ 0 w 170"/>
              <a:gd name="T45" fmla="*/ 8 h 170"/>
              <a:gd name="T46" fmla="*/ 0 w 170"/>
              <a:gd name="T47" fmla="*/ 58 h 170"/>
              <a:gd name="T48" fmla="*/ 102 w 170"/>
              <a:gd name="T49" fmla="*/ 78 h 170"/>
              <a:gd name="T50" fmla="*/ 149 w 170"/>
              <a:gd name="T51" fmla="*/ 35 h 170"/>
              <a:gd name="T52" fmla="*/ 160 w 170"/>
              <a:gd name="T53" fmla="*/ 69 h 170"/>
              <a:gd name="T54" fmla="*/ 170 w 170"/>
              <a:gd name="T55" fmla="*/ 10 h 170"/>
              <a:gd name="T56" fmla="*/ 170 w 170"/>
              <a:gd name="T57" fmla="*/ 7 h 170"/>
              <a:gd name="T58" fmla="*/ 169 w 170"/>
              <a:gd name="T59" fmla="*/ 5 h 170"/>
              <a:gd name="T60" fmla="*/ 165 w 170"/>
              <a:gd name="T61" fmla="*/ 1 h 170"/>
              <a:gd name="T62" fmla="*/ 164 w 170"/>
              <a:gd name="T63" fmla="*/ 0 h 170"/>
              <a:gd name="T64" fmla="*/ 162 w 170"/>
              <a:gd name="T65" fmla="*/ 0 h 170"/>
              <a:gd name="T66" fmla="*/ 111 w 170"/>
              <a:gd name="T67" fmla="*/ 0 h 170"/>
              <a:gd name="T68" fmla="*/ 111 w 170"/>
              <a:gd name="T69" fmla="*/ 21 h 170"/>
              <a:gd name="T70" fmla="*/ 94 w 170"/>
              <a:gd name="T71" fmla="*/ 61 h 170"/>
              <a:gd name="T72" fmla="*/ 102 w 170"/>
              <a:gd name="T73" fmla="*/ 78 h 170"/>
              <a:gd name="T74" fmla="*/ 149 w 170"/>
              <a:gd name="T75" fmla="*/ 112 h 170"/>
              <a:gd name="T76" fmla="*/ 110 w 170"/>
              <a:gd name="T77" fmla="*/ 95 h 170"/>
              <a:gd name="T78" fmla="*/ 95 w 170"/>
              <a:gd name="T79" fmla="*/ 95 h 170"/>
              <a:gd name="T80" fmla="*/ 135 w 170"/>
              <a:gd name="T81" fmla="*/ 149 h 170"/>
              <a:gd name="T82" fmla="*/ 102 w 170"/>
              <a:gd name="T83" fmla="*/ 159 h 170"/>
              <a:gd name="T84" fmla="*/ 160 w 170"/>
              <a:gd name="T85" fmla="*/ 170 h 170"/>
              <a:gd name="T86" fmla="*/ 163 w 170"/>
              <a:gd name="T87" fmla="*/ 169 h 170"/>
              <a:gd name="T88" fmla="*/ 165 w 170"/>
              <a:gd name="T89" fmla="*/ 168 h 170"/>
              <a:gd name="T90" fmla="*/ 168 w 170"/>
              <a:gd name="T91" fmla="*/ 165 h 170"/>
              <a:gd name="T92" fmla="*/ 169 w 170"/>
              <a:gd name="T93" fmla="*/ 163 h 170"/>
              <a:gd name="T94" fmla="*/ 170 w 170"/>
              <a:gd name="T95" fmla="*/ 161 h 170"/>
              <a:gd name="T96" fmla="*/ 170 w 170"/>
              <a:gd name="T97" fmla="*/ 1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70">
                <a:moveTo>
                  <a:pt x="61" y="94"/>
                </a:moveTo>
                <a:cubicBezTo>
                  <a:pt x="21" y="134"/>
                  <a:pt x="21" y="134"/>
                  <a:pt x="21" y="134"/>
                </a:cubicBezTo>
                <a:cubicBezTo>
                  <a:pt x="21" y="111"/>
                  <a:pt x="21" y="111"/>
                  <a:pt x="21" y="111"/>
                </a:cubicBezTo>
                <a:cubicBezTo>
                  <a:pt x="21" y="105"/>
                  <a:pt x="16" y="100"/>
                  <a:pt x="10" y="100"/>
                </a:cubicBezTo>
                <a:cubicBezTo>
                  <a:pt x="5" y="100"/>
                  <a:pt x="0" y="105"/>
                  <a:pt x="0" y="111"/>
                </a:cubicBezTo>
                <a:cubicBezTo>
                  <a:pt x="0" y="159"/>
                  <a:pt x="0" y="159"/>
                  <a:pt x="0" y="159"/>
                </a:cubicBezTo>
                <a:cubicBezTo>
                  <a:pt x="0" y="160"/>
                  <a:pt x="0" y="161"/>
                  <a:pt x="0" y="161"/>
                </a:cubicBezTo>
                <a:cubicBezTo>
                  <a:pt x="0" y="162"/>
                  <a:pt x="0" y="162"/>
                  <a:pt x="0" y="162"/>
                </a:cubicBezTo>
                <a:cubicBezTo>
                  <a:pt x="1" y="163"/>
                  <a:pt x="1" y="163"/>
                  <a:pt x="1" y="163"/>
                </a:cubicBezTo>
                <a:cubicBezTo>
                  <a:pt x="1" y="164"/>
                  <a:pt x="1" y="164"/>
                  <a:pt x="1" y="164"/>
                </a:cubicBezTo>
                <a:cubicBezTo>
                  <a:pt x="2" y="165"/>
                  <a:pt x="2" y="165"/>
                  <a:pt x="2" y="165"/>
                </a:cubicBezTo>
                <a:cubicBezTo>
                  <a:pt x="2" y="166"/>
                  <a:pt x="3" y="167"/>
                  <a:pt x="5" y="168"/>
                </a:cubicBezTo>
                <a:cubicBezTo>
                  <a:pt x="5" y="168"/>
                  <a:pt x="5" y="168"/>
                  <a:pt x="5" y="168"/>
                </a:cubicBezTo>
                <a:cubicBezTo>
                  <a:pt x="6" y="169"/>
                  <a:pt x="6" y="169"/>
                  <a:pt x="6" y="169"/>
                </a:cubicBezTo>
                <a:cubicBezTo>
                  <a:pt x="7" y="169"/>
                  <a:pt x="7" y="169"/>
                  <a:pt x="7" y="169"/>
                </a:cubicBezTo>
                <a:cubicBezTo>
                  <a:pt x="8" y="169"/>
                  <a:pt x="8" y="169"/>
                  <a:pt x="8" y="169"/>
                </a:cubicBezTo>
                <a:cubicBezTo>
                  <a:pt x="9" y="170"/>
                  <a:pt x="10" y="170"/>
                  <a:pt x="10" y="170"/>
                </a:cubicBezTo>
                <a:cubicBezTo>
                  <a:pt x="59" y="170"/>
                  <a:pt x="59" y="170"/>
                  <a:pt x="59" y="170"/>
                </a:cubicBezTo>
                <a:cubicBezTo>
                  <a:pt x="65" y="170"/>
                  <a:pt x="69" y="165"/>
                  <a:pt x="69" y="159"/>
                </a:cubicBezTo>
                <a:cubicBezTo>
                  <a:pt x="69" y="153"/>
                  <a:pt x="65" y="149"/>
                  <a:pt x="59" y="149"/>
                </a:cubicBezTo>
                <a:cubicBezTo>
                  <a:pt x="36" y="149"/>
                  <a:pt x="36" y="149"/>
                  <a:pt x="36" y="149"/>
                </a:cubicBezTo>
                <a:cubicBezTo>
                  <a:pt x="76" y="109"/>
                  <a:pt x="76" y="109"/>
                  <a:pt x="76" y="109"/>
                </a:cubicBezTo>
                <a:cubicBezTo>
                  <a:pt x="80" y="105"/>
                  <a:pt x="80" y="98"/>
                  <a:pt x="76" y="94"/>
                </a:cubicBezTo>
                <a:cubicBezTo>
                  <a:pt x="72" y="90"/>
                  <a:pt x="65" y="90"/>
                  <a:pt x="61" y="94"/>
                </a:cubicBezTo>
                <a:close/>
                <a:moveTo>
                  <a:pt x="10" y="69"/>
                </a:moveTo>
                <a:cubicBezTo>
                  <a:pt x="16" y="69"/>
                  <a:pt x="21" y="64"/>
                  <a:pt x="21" y="58"/>
                </a:cubicBezTo>
                <a:cubicBezTo>
                  <a:pt x="21" y="35"/>
                  <a:pt x="21" y="35"/>
                  <a:pt x="21" y="35"/>
                </a:cubicBezTo>
                <a:cubicBezTo>
                  <a:pt x="61" y="75"/>
                  <a:pt x="61" y="75"/>
                  <a:pt x="61" y="75"/>
                </a:cubicBezTo>
                <a:cubicBezTo>
                  <a:pt x="63" y="77"/>
                  <a:pt x="66" y="78"/>
                  <a:pt x="68" y="78"/>
                </a:cubicBezTo>
                <a:cubicBezTo>
                  <a:pt x="71" y="78"/>
                  <a:pt x="74" y="77"/>
                  <a:pt x="76" y="75"/>
                </a:cubicBezTo>
                <a:cubicBezTo>
                  <a:pt x="80" y="71"/>
                  <a:pt x="80" y="65"/>
                  <a:pt x="76" y="61"/>
                </a:cubicBezTo>
                <a:cubicBezTo>
                  <a:pt x="36" y="21"/>
                  <a:pt x="36" y="21"/>
                  <a:pt x="36" y="21"/>
                </a:cubicBezTo>
                <a:cubicBezTo>
                  <a:pt x="59" y="21"/>
                  <a:pt x="59" y="21"/>
                  <a:pt x="59" y="21"/>
                </a:cubicBezTo>
                <a:cubicBezTo>
                  <a:pt x="65" y="21"/>
                  <a:pt x="69" y="16"/>
                  <a:pt x="69" y="10"/>
                </a:cubicBezTo>
                <a:cubicBezTo>
                  <a:pt x="69" y="4"/>
                  <a:pt x="65" y="0"/>
                  <a:pt x="59" y="0"/>
                </a:cubicBezTo>
                <a:cubicBezTo>
                  <a:pt x="10" y="0"/>
                  <a:pt x="10" y="0"/>
                  <a:pt x="10" y="0"/>
                </a:cubicBezTo>
                <a:cubicBezTo>
                  <a:pt x="10" y="0"/>
                  <a:pt x="9" y="0"/>
                  <a:pt x="8" y="0"/>
                </a:cubicBezTo>
                <a:cubicBezTo>
                  <a:pt x="7" y="0"/>
                  <a:pt x="7" y="0"/>
                  <a:pt x="7" y="0"/>
                </a:cubicBezTo>
                <a:cubicBezTo>
                  <a:pt x="6" y="0"/>
                  <a:pt x="6" y="0"/>
                  <a:pt x="6" y="0"/>
                </a:cubicBezTo>
                <a:cubicBezTo>
                  <a:pt x="6" y="1"/>
                  <a:pt x="6" y="1"/>
                  <a:pt x="5" y="1"/>
                </a:cubicBezTo>
                <a:cubicBezTo>
                  <a:pt x="5" y="1"/>
                  <a:pt x="5" y="1"/>
                  <a:pt x="5" y="1"/>
                </a:cubicBezTo>
                <a:cubicBezTo>
                  <a:pt x="3" y="2"/>
                  <a:pt x="2" y="3"/>
                  <a:pt x="2" y="4"/>
                </a:cubicBezTo>
                <a:cubicBezTo>
                  <a:pt x="1" y="5"/>
                  <a:pt x="1" y="5"/>
                  <a:pt x="1" y="5"/>
                </a:cubicBezTo>
                <a:cubicBezTo>
                  <a:pt x="1" y="6"/>
                  <a:pt x="1" y="6"/>
                  <a:pt x="1" y="6"/>
                </a:cubicBezTo>
                <a:cubicBezTo>
                  <a:pt x="0" y="7"/>
                  <a:pt x="0" y="7"/>
                  <a:pt x="0" y="7"/>
                </a:cubicBezTo>
                <a:cubicBezTo>
                  <a:pt x="0" y="8"/>
                  <a:pt x="0" y="8"/>
                  <a:pt x="0" y="8"/>
                </a:cubicBezTo>
                <a:cubicBezTo>
                  <a:pt x="0" y="9"/>
                  <a:pt x="0" y="9"/>
                  <a:pt x="0" y="10"/>
                </a:cubicBezTo>
                <a:cubicBezTo>
                  <a:pt x="0" y="58"/>
                  <a:pt x="0" y="58"/>
                  <a:pt x="0" y="58"/>
                </a:cubicBezTo>
                <a:cubicBezTo>
                  <a:pt x="0" y="64"/>
                  <a:pt x="5" y="69"/>
                  <a:pt x="10" y="69"/>
                </a:cubicBezTo>
                <a:close/>
                <a:moveTo>
                  <a:pt x="102" y="78"/>
                </a:moveTo>
                <a:cubicBezTo>
                  <a:pt x="104" y="78"/>
                  <a:pt x="107" y="77"/>
                  <a:pt x="109" y="75"/>
                </a:cubicBezTo>
                <a:cubicBezTo>
                  <a:pt x="149" y="35"/>
                  <a:pt x="149" y="35"/>
                  <a:pt x="149" y="35"/>
                </a:cubicBezTo>
                <a:cubicBezTo>
                  <a:pt x="149" y="58"/>
                  <a:pt x="149" y="58"/>
                  <a:pt x="149" y="58"/>
                </a:cubicBezTo>
                <a:cubicBezTo>
                  <a:pt x="149" y="64"/>
                  <a:pt x="154" y="69"/>
                  <a:pt x="160" y="69"/>
                </a:cubicBezTo>
                <a:cubicBezTo>
                  <a:pt x="165" y="69"/>
                  <a:pt x="170" y="64"/>
                  <a:pt x="170" y="58"/>
                </a:cubicBezTo>
                <a:cubicBezTo>
                  <a:pt x="170" y="10"/>
                  <a:pt x="170" y="10"/>
                  <a:pt x="170" y="10"/>
                </a:cubicBezTo>
                <a:cubicBezTo>
                  <a:pt x="170" y="9"/>
                  <a:pt x="170" y="9"/>
                  <a:pt x="170" y="8"/>
                </a:cubicBezTo>
                <a:cubicBezTo>
                  <a:pt x="170" y="7"/>
                  <a:pt x="170" y="7"/>
                  <a:pt x="170" y="7"/>
                </a:cubicBezTo>
                <a:cubicBezTo>
                  <a:pt x="169" y="6"/>
                  <a:pt x="169" y="6"/>
                  <a:pt x="169" y="6"/>
                </a:cubicBezTo>
                <a:cubicBezTo>
                  <a:pt x="169" y="6"/>
                  <a:pt x="169" y="5"/>
                  <a:pt x="169" y="5"/>
                </a:cubicBezTo>
                <a:cubicBezTo>
                  <a:pt x="168" y="4"/>
                  <a:pt x="168" y="4"/>
                  <a:pt x="168" y="4"/>
                </a:cubicBezTo>
                <a:cubicBezTo>
                  <a:pt x="167" y="3"/>
                  <a:pt x="166" y="2"/>
                  <a:pt x="165" y="1"/>
                </a:cubicBezTo>
                <a:cubicBezTo>
                  <a:pt x="165" y="1"/>
                  <a:pt x="165" y="1"/>
                  <a:pt x="165" y="1"/>
                </a:cubicBezTo>
                <a:cubicBezTo>
                  <a:pt x="164" y="0"/>
                  <a:pt x="164" y="0"/>
                  <a:pt x="164" y="0"/>
                </a:cubicBezTo>
                <a:cubicBezTo>
                  <a:pt x="162" y="0"/>
                  <a:pt x="162" y="0"/>
                  <a:pt x="162" y="0"/>
                </a:cubicBezTo>
                <a:cubicBezTo>
                  <a:pt x="162" y="0"/>
                  <a:pt x="162" y="0"/>
                  <a:pt x="162" y="0"/>
                </a:cubicBezTo>
                <a:cubicBezTo>
                  <a:pt x="161" y="0"/>
                  <a:pt x="160" y="0"/>
                  <a:pt x="160" y="0"/>
                </a:cubicBezTo>
                <a:cubicBezTo>
                  <a:pt x="111" y="0"/>
                  <a:pt x="111" y="0"/>
                  <a:pt x="111" y="0"/>
                </a:cubicBezTo>
                <a:cubicBezTo>
                  <a:pt x="105" y="0"/>
                  <a:pt x="101" y="4"/>
                  <a:pt x="101" y="10"/>
                </a:cubicBezTo>
                <a:cubicBezTo>
                  <a:pt x="101" y="16"/>
                  <a:pt x="105" y="21"/>
                  <a:pt x="111" y="21"/>
                </a:cubicBezTo>
                <a:cubicBezTo>
                  <a:pt x="134" y="21"/>
                  <a:pt x="134" y="21"/>
                  <a:pt x="134" y="21"/>
                </a:cubicBezTo>
                <a:cubicBezTo>
                  <a:pt x="94" y="61"/>
                  <a:pt x="94" y="61"/>
                  <a:pt x="94" y="61"/>
                </a:cubicBezTo>
                <a:cubicBezTo>
                  <a:pt x="90" y="65"/>
                  <a:pt x="90" y="71"/>
                  <a:pt x="94" y="75"/>
                </a:cubicBezTo>
                <a:cubicBezTo>
                  <a:pt x="96" y="77"/>
                  <a:pt x="99" y="78"/>
                  <a:pt x="102" y="78"/>
                </a:cubicBezTo>
                <a:close/>
                <a:moveTo>
                  <a:pt x="160" y="101"/>
                </a:moveTo>
                <a:cubicBezTo>
                  <a:pt x="154" y="101"/>
                  <a:pt x="149" y="106"/>
                  <a:pt x="149" y="112"/>
                </a:cubicBezTo>
                <a:cubicBezTo>
                  <a:pt x="149" y="134"/>
                  <a:pt x="149" y="134"/>
                  <a:pt x="149" y="134"/>
                </a:cubicBezTo>
                <a:cubicBezTo>
                  <a:pt x="110" y="95"/>
                  <a:pt x="110" y="95"/>
                  <a:pt x="110" y="95"/>
                </a:cubicBezTo>
                <a:cubicBezTo>
                  <a:pt x="108" y="93"/>
                  <a:pt x="105" y="92"/>
                  <a:pt x="102" y="92"/>
                </a:cubicBezTo>
                <a:cubicBezTo>
                  <a:pt x="100" y="92"/>
                  <a:pt x="97" y="93"/>
                  <a:pt x="95" y="95"/>
                </a:cubicBezTo>
                <a:cubicBezTo>
                  <a:pt x="91" y="99"/>
                  <a:pt x="91" y="105"/>
                  <a:pt x="95" y="109"/>
                </a:cubicBezTo>
                <a:cubicBezTo>
                  <a:pt x="135" y="149"/>
                  <a:pt x="135" y="149"/>
                  <a:pt x="135" y="149"/>
                </a:cubicBezTo>
                <a:cubicBezTo>
                  <a:pt x="112" y="149"/>
                  <a:pt x="112" y="149"/>
                  <a:pt x="112" y="149"/>
                </a:cubicBezTo>
                <a:cubicBezTo>
                  <a:pt x="106" y="149"/>
                  <a:pt x="102" y="154"/>
                  <a:pt x="102" y="159"/>
                </a:cubicBezTo>
                <a:cubicBezTo>
                  <a:pt x="102" y="165"/>
                  <a:pt x="106" y="170"/>
                  <a:pt x="112" y="170"/>
                </a:cubicBezTo>
                <a:cubicBezTo>
                  <a:pt x="160" y="170"/>
                  <a:pt x="160" y="170"/>
                  <a:pt x="160" y="170"/>
                </a:cubicBezTo>
                <a:cubicBezTo>
                  <a:pt x="160" y="170"/>
                  <a:pt x="161" y="170"/>
                  <a:pt x="162" y="169"/>
                </a:cubicBezTo>
                <a:cubicBezTo>
                  <a:pt x="163" y="169"/>
                  <a:pt x="163" y="169"/>
                  <a:pt x="163" y="169"/>
                </a:cubicBezTo>
                <a:cubicBezTo>
                  <a:pt x="164" y="169"/>
                  <a:pt x="164" y="169"/>
                  <a:pt x="164" y="169"/>
                </a:cubicBezTo>
                <a:cubicBezTo>
                  <a:pt x="165" y="168"/>
                  <a:pt x="165" y="168"/>
                  <a:pt x="165" y="168"/>
                </a:cubicBezTo>
                <a:cubicBezTo>
                  <a:pt x="165" y="168"/>
                  <a:pt x="165" y="168"/>
                  <a:pt x="165" y="168"/>
                </a:cubicBezTo>
                <a:cubicBezTo>
                  <a:pt x="167" y="167"/>
                  <a:pt x="168" y="166"/>
                  <a:pt x="168" y="165"/>
                </a:cubicBezTo>
                <a:cubicBezTo>
                  <a:pt x="169" y="164"/>
                  <a:pt x="169" y="164"/>
                  <a:pt x="169" y="164"/>
                </a:cubicBezTo>
                <a:cubicBezTo>
                  <a:pt x="169" y="163"/>
                  <a:pt x="169" y="163"/>
                  <a:pt x="169" y="163"/>
                </a:cubicBezTo>
                <a:cubicBezTo>
                  <a:pt x="170" y="162"/>
                  <a:pt x="170" y="162"/>
                  <a:pt x="170" y="162"/>
                </a:cubicBezTo>
                <a:cubicBezTo>
                  <a:pt x="170" y="161"/>
                  <a:pt x="170" y="161"/>
                  <a:pt x="170" y="161"/>
                </a:cubicBezTo>
                <a:cubicBezTo>
                  <a:pt x="170" y="161"/>
                  <a:pt x="170" y="160"/>
                  <a:pt x="170" y="159"/>
                </a:cubicBezTo>
                <a:cubicBezTo>
                  <a:pt x="170" y="112"/>
                  <a:pt x="170" y="112"/>
                  <a:pt x="170" y="112"/>
                </a:cubicBezTo>
                <a:cubicBezTo>
                  <a:pt x="170" y="106"/>
                  <a:pt x="165" y="101"/>
                  <a:pt x="160" y="101"/>
                </a:cubicBezTo>
                <a:close/>
              </a:path>
            </a:pathLst>
          </a:custGeom>
          <a:solidFill>
            <a:srgbClr val="C00000"/>
          </a:solidFill>
          <a:ln w="12700" cap="flat" cmpd="sng" algn="ctr">
            <a:solidFill>
              <a:srgbClr val="E7E6E6">
                <a:lumMod val="75000"/>
              </a:srgbClr>
            </a:solidFill>
            <a:prstDash val="solid"/>
            <a:miter lim="800000"/>
          </a:ln>
          <a:effectLst/>
        </p:spPr>
        <p:txBody>
          <a:bodyPr rot="0" spcFirstLastPara="0" vertOverflow="overflow" horzOverflow="overflow" vert="horz" wrap="square" lIns="68510" tIns="34255" rIns="68510" bIns="34255" numCol="1" spcCol="0" rtlCol="0" fromWordArt="0" anchor="ctr" anchorCtr="0" forceAA="0" compatLnSpc="1">
            <a:prstTxWarp prst="textNoShape">
              <a:avLst/>
            </a:prstTxWarp>
            <a:noAutofit/>
          </a:bodyPr>
          <a:lstStyle/>
          <a:p>
            <a:pPr algn="ctr" defTabSz="685173">
              <a:defRPr/>
            </a:pPr>
            <a:endParaRPr lang="zh-CN" altLang="en-US" sz="600" b="1">
              <a:solidFill>
                <a:srgbClr val="666666"/>
              </a:solidFill>
              <a:latin typeface="微软雅黑" panose="020B0503020204020204" pitchFamily="34" charset="-122"/>
              <a:ea typeface="微软雅黑" panose="020B0503020204020204" pitchFamily="34" charset="-122"/>
              <a:cs typeface="+mn-ea"/>
            </a:endParaRPr>
          </a:p>
        </p:txBody>
      </p:sp>
      <p:cxnSp>
        <p:nvCxnSpPr>
          <p:cNvPr id="954" name="直接连接符 953">
            <a:extLst>
              <a:ext uri="{FF2B5EF4-FFF2-40B4-BE49-F238E27FC236}">
                <a16:creationId xmlns:a16="http://schemas.microsoft.com/office/drawing/2014/main" id="{F102A2A1-99C9-4723-BD17-39F35EC835DE}"/>
              </a:ext>
            </a:extLst>
          </p:cNvPr>
          <p:cNvCxnSpPr>
            <a:cxnSpLocks/>
            <a:stCxn id="908" idx="2"/>
            <a:endCxn id="952" idx="0"/>
          </p:cNvCxnSpPr>
          <p:nvPr/>
        </p:nvCxnSpPr>
        <p:spPr bwMode="auto">
          <a:xfrm flipH="1">
            <a:off x="6086321" y="1844864"/>
            <a:ext cx="8784" cy="429331"/>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5" name="直接连接符 954">
            <a:extLst>
              <a:ext uri="{FF2B5EF4-FFF2-40B4-BE49-F238E27FC236}">
                <a16:creationId xmlns:a16="http://schemas.microsoft.com/office/drawing/2014/main" id="{1CDF3008-8F31-471E-A8FB-9D094FB47F83}"/>
              </a:ext>
            </a:extLst>
          </p:cNvPr>
          <p:cNvCxnSpPr>
            <a:cxnSpLocks/>
            <a:stCxn id="911" idx="2"/>
            <a:endCxn id="952" idx="0"/>
          </p:cNvCxnSpPr>
          <p:nvPr/>
        </p:nvCxnSpPr>
        <p:spPr bwMode="auto">
          <a:xfrm flipH="1">
            <a:off x="6086321" y="1844864"/>
            <a:ext cx="646454" cy="429331"/>
          </a:xfrm>
          <a:prstGeom prst="line">
            <a:avLst/>
          </a:prstGeom>
          <a:noFill/>
          <a:ln w="9525" cap="flat" cmpd="sng" algn="ctr">
            <a:solidFill>
              <a:srgbClr val="1D1D1A"/>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6" name="直接连接符 955">
            <a:extLst>
              <a:ext uri="{FF2B5EF4-FFF2-40B4-BE49-F238E27FC236}">
                <a16:creationId xmlns:a16="http://schemas.microsoft.com/office/drawing/2014/main" id="{66DF4468-1FFE-43C6-861C-5D8443A182C0}"/>
              </a:ext>
            </a:extLst>
          </p:cNvPr>
          <p:cNvCxnSpPr>
            <a:cxnSpLocks/>
          </p:cNvCxnSpPr>
          <p:nvPr/>
        </p:nvCxnSpPr>
        <p:spPr>
          <a:xfrm flipV="1">
            <a:off x="670011" y="1715397"/>
            <a:ext cx="271778" cy="165984"/>
          </a:xfrm>
          <a:prstGeom prst="line">
            <a:avLst/>
          </a:prstGeom>
          <a:noFill/>
          <a:ln w="9525" cap="flat" cmpd="sng" algn="ctr">
            <a:solidFill>
              <a:schemeClr val="bg2">
                <a:lumMod val="90000"/>
              </a:schemeClr>
            </a:solidFill>
            <a:prstDash val="solid"/>
          </a:ln>
          <a:effectLst/>
        </p:spPr>
      </p:cxnSp>
      <p:cxnSp>
        <p:nvCxnSpPr>
          <p:cNvPr id="957" name="直接连接符 956">
            <a:extLst>
              <a:ext uri="{FF2B5EF4-FFF2-40B4-BE49-F238E27FC236}">
                <a16:creationId xmlns:a16="http://schemas.microsoft.com/office/drawing/2014/main" id="{8306EE44-1B59-4109-8E21-64CF73021590}"/>
              </a:ext>
            </a:extLst>
          </p:cNvPr>
          <p:cNvCxnSpPr>
            <a:cxnSpLocks/>
          </p:cNvCxnSpPr>
          <p:nvPr/>
        </p:nvCxnSpPr>
        <p:spPr>
          <a:xfrm flipV="1">
            <a:off x="670012" y="1715004"/>
            <a:ext cx="823840" cy="166377"/>
          </a:xfrm>
          <a:prstGeom prst="line">
            <a:avLst/>
          </a:prstGeom>
          <a:noFill/>
          <a:ln w="9525" cap="flat" cmpd="sng" algn="ctr">
            <a:solidFill>
              <a:schemeClr val="bg2">
                <a:lumMod val="90000"/>
              </a:schemeClr>
            </a:solidFill>
            <a:prstDash val="solid"/>
          </a:ln>
          <a:effectLst/>
        </p:spPr>
      </p:cxnSp>
      <p:cxnSp>
        <p:nvCxnSpPr>
          <p:cNvPr id="958" name="直接连接符 957">
            <a:extLst>
              <a:ext uri="{FF2B5EF4-FFF2-40B4-BE49-F238E27FC236}">
                <a16:creationId xmlns:a16="http://schemas.microsoft.com/office/drawing/2014/main" id="{FE221D0C-E498-44FF-BBC0-547018C97E1C}"/>
              </a:ext>
            </a:extLst>
          </p:cNvPr>
          <p:cNvCxnSpPr>
            <a:cxnSpLocks/>
          </p:cNvCxnSpPr>
          <p:nvPr/>
        </p:nvCxnSpPr>
        <p:spPr>
          <a:xfrm>
            <a:off x="941788" y="1715397"/>
            <a:ext cx="246888" cy="165984"/>
          </a:xfrm>
          <a:prstGeom prst="line">
            <a:avLst/>
          </a:prstGeom>
          <a:noFill/>
          <a:ln w="9525" cap="flat" cmpd="sng" algn="ctr">
            <a:solidFill>
              <a:schemeClr val="bg2">
                <a:lumMod val="90000"/>
              </a:schemeClr>
            </a:solidFill>
            <a:prstDash val="solid"/>
          </a:ln>
          <a:effectLst/>
        </p:spPr>
      </p:cxnSp>
      <p:cxnSp>
        <p:nvCxnSpPr>
          <p:cNvPr id="959" name="直接连接符 958">
            <a:extLst>
              <a:ext uri="{FF2B5EF4-FFF2-40B4-BE49-F238E27FC236}">
                <a16:creationId xmlns:a16="http://schemas.microsoft.com/office/drawing/2014/main" id="{82C95764-0803-4951-ADA6-9678B978B9EA}"/>
              </a:ext>
            </a:extLst>
          </p:cNvPr>
          <p:cNvCxnSpPr>
            <a:cxnSpLocks/>
          </p:cNvCxnSpPr>
          <p:nvPr/>
        </p:nvCxnSpPr>
        <p:spPr>
          <a:xfrm>
            <a:off x="941789" y="1715397"/>
            <a:ext cx="789009" cy="159766"/>
          </a:xfrm>
          <a:prstGeom prst="line">
            <a:avLst/>
          </a:prstGeom>
          <a:noFill/>
          <a:ln w="9525" cap="flat" cmpd="sng" algn="ctr">
            <a:solidFill>
              <a:schemeClr val="bg2">
                <a:lumMod val="90000"/>
              </a:schemeClr>
            </a:solidFill>
            <a:prstDash val="solid"/>
          </a:ln>
          <a:effectLst/>
        </p:spPr>
      </p:cxnSp>
      <p:cxnSp>
        <p:nvCxnSpPr>
          <p:cNvPr id="960" name="直接连接符 959">
            <a:extLst>
              <a:ext uri="{FF2B5EF4-FFF2-40B4-BE49-F238E27FC236}">
                <a16:creationId xmlns:a16="http://schemas.microsoft.com/office/drawing/2014/main" id="{400FA497-659B-42F4-8206-147809DA8F98}"/>
              </a:ext>
            </a:extLst>
          </p:cNvPr>
          <p:cNvCxnSpPr>
            <a:cxnSpLocks/>
          </p:cNvCxnSpPr>
          <p:nvPr/>
        </p:nvCxnSpPr>
        <p:spPr>
          <a:xfrm flipH="1">
            <a:off x="1188676" y="1715004"/>
            <a:ext cx="305174" cy="166377"/>
          </a:xfrm>
          <a:prstGeom prst="line">
            <a:avLst/>
          </a:prstGeom>
          <a:noFill/>
          <a:ln w="9525" cap="flat" cmpd="sng" algn="ctr">
            <a:solidFill>
              <a:schemeClr val="bg2">
                <a:lumMod val="90000"/>
              </a:schemeClr>
            </a:solidFill>
            <a:prstDash val="solid"/>
          </a:ln>
          <a:effectLst/>
        </p:spPr>
      </p:cxnSp>
      <p:cxnSp>
        <p:nvCxnSpPr>
          <p:cNvPr id="961" name="直接连接符 960">
            <a:extLst>
              <a:ext uri="{FF2B5EF4-FFF2-40B4-BE49-F238E27FC236}">
                <a16:creationId xmlns:a16="http://schemas.microsoft.com/office/drawing/2014/main" id="{AADD9EBB-F64F-47AB-8C38-FD931C6F01FD}"/>
              </a:ext>
            </a:extLst>
          </p:cNvPr>
          <p:cNvCxnSpPr>
            <a:cxnSpLocks/>
          </p:cNvCxnSpPr>
          <p:nvPr/>
        </p:nvCxnSpPr>
        <p:spPr>
          <a:xfrm>
            <a:off x="1493852" y="1715004"/>
            <a:ext cx="236947" cy="160158"/>
          </a:xfrm>
          <a:prstGeom prst="line">
            <a:avLst/>
          </a:prstGeom>
          <a:noFill/>
          <a:ln w="9525" cap="flat" cmpd="sng" algn="ctr">
            <a:solidFill>
              <a:schemeClr val="bg2">
                <a:lumMod val="90000"/>
              </a:schemeClr>
            </a:solidFill>
            <a:prstDash val="solid"/>
          </a:ln>
          <a:effectLst/>
        </p:spPr>
      </p:cxnSp>
      <p:sp>
        <p:nvSpPr>
          <p:cNvPr id="962" name="矩形: 圆角 961">
            <a:extLst>
              <a:ext uri="{FF2B5EF4-FFF2-40B4-BE49-F238E27FC236}">
                <a16:creationId xmlns:a16="http://schemas.microsoft.com/office/drawing/2014/main" id="{F67DF558-9FFF-4F6F-A2FA-16CFEE7757AE}"/>
              </a:ext>
            </a:extLst>
          </p:cNvPr>
          <p:cNvSpPr/>
          <p:nvPr/>
        </p:nvSpPr>
        <p:spPr>
          <a:xfrm>
            <a:off x="380019" y="1031527"/>
            <a:ext cx="1777119" cy="1708013"/>
          </a:xfrm>
          <a:prstGeom prst="roundRect">
            <a:avLst/>
          </a:prstGeom>
          <a:noFill/>
          <a:ln w="6350">
            <a:solidFill>
              <a:srgbClr val="83817F"/>
            </a:solidFill>
            <a:prstDash val="dash"/>
          </a:ln>
        </p:spPr>
        <p:txBody>
          <a:bodyPr wrap="square" lIns="51401" tIns="25701" rIns="51401" bIns="25701" rtlCol="0" anchor="ctr">
            <a:noAutofit/>
          </a:bodyPr>
          <a:lstStyle/>
          <a:p>
            <a:pPr algn="ctr" defTabSz="685526" fontAlgn="base">
              <a:lnSpc>
                <a:spcPct val="150000"/>
              </a:lnSpc>
              <a:spcBef>
                <a:spcPct val="0"/>
              </a:spcBef>
              <a:spcAft>
                <a:spcPct val="0"/>
              </a:spcAft>
              <a:buClr>
                <a:prstClr val="black">
                  <a:lumMod val="50000"/>
                  <a:lumOff val="50000"/>
                </a:prstClr>
              </a:buClr>
              <a:buSzPct val="60000"/>
              <a:defRPr/>
            </a:pPr>
            <a:endParaRPr lang="zh-CN" altLang="en-US" sz="900" b="1" dirty="0">
              <a:solidFill>
                <a:srgbClr val="C00000"/>
              </a:solidFill>
              <a:latin typeface=" 微软雅黑"/>
              <a:ea typeface="微软雅黑" panose="020B0503020204020204" pitchFamily="34" charset="-122"/>
              <a:sym typeface="Arial" panose="020B0604020202020204" pitchFamily="34" charset="0"/>
            </a:endParaRPr>
          </a:p>
        </p:txBody>
      </p:sp>
      <p:grpSp>
        <p:nvGrpSpPr>
          <p:cNvPr id="963" name="组合 321">
            <a:extLst>
              <a:ext uri="{FF2B5EF4-FFF2-40B4-BE49-F238E27FC236}">
                <a16:creationId xmlns:a16="http://schemas.microsoft.com/office/drawing/2014/main" id="{102159B2-069B-429A-883F-60CD146ECD2E}"/>
              </a:ext>
            </a:extLst>
          </p:cNvPr>
          <p:cNvGrpSpPr>
            <a:grpSpLocks/>
          </p:cNvGrpSpPr>
          <p:nvPr/>
        </p:nvGrpSpPr>
        <p:grpSpPr bwMode="auto">
          <a:xfrm>
            <a:off x="823858" y="1554539"/>
            <a:ext cx="234507" cy="187562"/>
            <a:chOff x="1806575" y="2351088"/>
            <a:chExt cx="630238" cy="646113"/>
          </a:xfrm>
        </p:grpSpPr>
        <p:sp>
          <p:nvSpPr>
            <p:cNvPr id="964" name="Freeform 206">
              <a:extLst>
                <a:ext uri="{FF2B5EF4-FFF2-40B4-BE49-F238E27FC236}">
                  <a16:creationId xmlns:a16="http://schemas.microsoft.com/office/drawing/2014/main" id="{A1747A00-2F53-4968-B70F-18478FA5B4D8}"/>
                </a:ext>
              </a:extLst>
            </p:cNvPr>
            <p:cNvSpPr>
              <a:spLocks noEditPoints="1" noChangeArrowheads="1"/>
            </p:cNvSpPr>
            <p:nvPr/>
          </p:nvSpPr>
          <p:spPr bwMode="auto">
            <a:xfrm>
              <a:off x="2016125" y="2559051"/>
              <a:ext cx="212725" cy="211138"/>
            </a:xfrm>
            <a:custGeom>
              <a:avLst/>
              <a:gdLst>
                <a:gd name="T0" fmla="*/ 2147483646 w 507"/>
                <a:gd name="T1" fmla="*/ 2147483646 h 506"/>
                <a:gd name="T2" fmla="*/ 2147483646 w 507"/>
                <a:gd name="T3" fmla="*/ 2147483646 h 506"/>
                <a:gd name="T4" fmla="*/ 2147483646 w 507"/>
                <a:gd name="T5" fmla="*/ 2147483646 h 506"/>
                <a:gd name="T6" fmla="*/ 2147483646 w 507"/>
                <a:gd name="T7" fmla="*/ 2147483646 h 506"/>
                <a:gd name="T8" fmla="*/ 2147483646 w 507"/>
                <a:gd name="T9" fmla="*/ 2147483646 h 506"/>
                <a:gd name="T10" fmla="*/ 2147483646 w 507"/>
                <a:gd name="T11" fmla="*/ 2147483646 h 506"/>
                <a:gd name="T12" fmla="*/ 2147483646 w 507"/>
                <a:gd name="T13" fmla="*/ 2147483646 h 506"/>
                <a:gd name="T14" fmla="*/ 2147483646 w 507"/>
                <a:gd name="T15" fmla="*/ 2147483646 h 506"/>
                <a:gd name="T16" fmla="*/ 0 w 507"/>
                <a:gd name="T17" fmla="*/ 2147483646 h 506"/>
                <a:gd name="T18" fmla="*/ 2147483646 w 507"/>
                <a:gd name="T19" fmla="*/ 0 h 506"/>
                <a:gd name="T20" fmla="*/ 2147483646 w 507"/>
                <a:gd name="T21" fmla="*/ 2147483646 h 506"/>
                <a:gd name="T22" fmla="*/ 2147483646 w 507"/>
                <a:gd name="T23" fmla="*/ 2147483646 h 5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07" h="506">
                  <a:moveTo>
                    <a:pt x="254" y="67"/>
                  </a:moveTo>
                  <a:lnTo>
                    <a:pt x="254" y="67"/>
                  </a:lnTo>
                  <a:cubicBezTo>
                    <a:pt x="151" y="67"/>
                    <a:pt x="67" y="150"/>
                    <a:pt x="67" y="253"/>
                  </a:cubicBezTo>
                  <a:cubicBezTo>
                    <a:pt x="67" y="356"/>
                    <a:pt x="151" y="440"/>
                    <a:pt x="254" y="440"/>
                  </a:cubicBezTo>
                  <a:cubicBezTo>
                    <a:pt x="357" y="440"/>
                    <a:pt x="440" y="356"/>
                    <a:pt x="440" y="253"/>
                  </a:cubicBezTo>
                  <a:cubicBezTo>
                    <a:pt x="440" y="150"/>
                    <a:pt x="357" y="67"/>
                    <a:pt x="254" y="67"/>
                  </a:cubicBezTo>
                  <a:close/>
                  <a:moveTo>
                    <a:pt x="254" y="506"/>
                  </a:moveTo>
                  <a:lnTo>
                    <a:pt x="254" y="506"/>
                  </a:lnTo>
                  <a:cubicBezTo>
                    <a:pt x="114" y="506"/>
                    <a:pt x="0" y="393"/>
                    <a:pt x="0" y="253"/>
                  </a:cubicBezTo>
                  <a:cubicBezTo>
                    <a:pt x="0" y="114"/>
                    <a:pt x="114" y="0"/>
                    <a:pt x="254" y="0"/>
                  </a:cubicBezTo>
                  <a:cubicBezTo>
                    <a:pt x="393" y="0"/>
                    <a:pt x="507" y="114"/>
                    <a:pt x="507" y="253"/>
                  </a:cubicBezTo>
                  <a:cubicBezTo>
                    <a:pt x="507" y="393"/>
                    <a:pt x="393" y="506"/>
                    <a:pt x="254" y="50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65" name="Freeform 207">
              <a:extLst>
                <a:ext uri="{FF2B5EF4-FFF2-40B4-BE49-F238E27FC236}">
                  <a16:creationId xmlns:a16="http://schemas.microsoft.com/office/drawing/2014/main" id="{C80B3D3B-DC26-4315-8479-B63B6F425EB3}"/>
                </a:ext>
              </a:extLst>
            </p:cNvPr>
            <p:cNvSpPr>
              <a:spLocks noChangeArrowheads="1"/>
            </p:cNvSpPr>
            <p:nvPr/>
          </p:nvSpPr>
          <p:spPr bwMode="auto">
            <a:xfrm>
              <a:off x="2016125" y="2654301"/>
              <a:ext cx="26988" cy="246063"/>
            </a:xfrm>
            <a:custGeom>
              <a:avLst/>
              <a:gdLst>
                <a:gd name="T0" fmla="*/ 2147483646 w 67"/>
                <a:gd name="T1" fmla="*/ 2147483646 h 586"/>
                <a:gd name="T2" fmla="*/ 2147483646 w 67"/>
                <a:gd name="T3" fmla="*/ 2147483646 h 586"/>
                <a:gd name="T4" fmla="*/ 0 w 67"/>
                <a:gd name="T5" fmla="*/ 2147483646 h 586"/>
                <a:gd name="T6" fmla="*/ 0 w 67"/>
                <a:gd name="T7" fmla="*/ 2147483646 h 586"/>
                <a:gd name="T8" fmla="*/ 2147483646 w 67"/>
                <a:gd name="T9" fmla="*/ 0 h 586"/>
                <a:gd name="T10" fmla="*/ 2147483646 w 67"/>
                <a:gd name="T11" fmla="*/ 2147483646 h 586"/>
                <a:gd name="T12" fmla="*/ 2147483646 w 67"/>
                <a:gd name="T13" fmla="*/ 2147483646 h 586"/>
                <a:gd name="T14" fmla="*/ 2147483646 w 67"/>
                <a:gd name="T15" fmla="*/ 2147483646 h 5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586">
                  <a:moveTo>
                    <a:pt x="34" y="586"/>
                  </a:moveTo>
                  <a:lnTo>
                    <a:pt x="34" y="586"/>
                  </a:lnTo>
                  <a:cubicBezTo>
                    <a:pt x="15" y="586"/>
                    <a:pt x="0" y="572"/>
                    <a:pt x="0" y="553"/>
                  </a:cubicBezTo>
                  <a:lnTo>
                    <a:pt x="0" y="33"/>
                  </a:lnTo>
                  <a:cubicBezTo>
                    <a:pt x="0" y="15"/>
                    <a:pt x="15" y="0"/>
                    <a:pt x="34" y="0"/>
                  </a:cubicBezTo>
                  <a:cubicBezTo>
                    <a:pt x="52" y="0"/>
                    <a:pt x="67" y="15"/>
                    <a:pt x="67" y="33"/>
                  </a:cubicBezTo>
                  <a:lnTo>
                    <a:pt x="67" y="553"/>
                  </a:lnTo>
                  <a:cubicBezTo>
                    <a:pt x="67" y="572"/>
                    <a:pt x="52" y="586"/>
                    <a:pt x="34" y="58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66" name="Freeform 208">
              <a:extLst>
                <a:ext uri="{FF2B5EF4-FFF2-40B4-BE49-F238E27FC236}">
                  <a16:creationId xmlns:a16="http://schemas.microsoft.com/office/drawing/2014/main" id="{B1B10DD0-BBFA-4BC1-A899-BFEF23C6B4F1}"/>
                </a:ext>
              </a:extLst>
            </p:cNvPr>
            <p:cNvSpPr>
              <a:spLocks noChangeArrowheads="1"/>
            </p:cNvSpPr>
            <p:nvPr/>
          </p:nvSpPr>
          <p:spPr bwMode="auto">
            <a:xfrm>
              <a:off x="1976438" y="2849563"/>
              <a:ext cx="107950" cy="60325"/>
            </a:xfrm>
            <a:custGeom>
              <a:avLst/>
              <a:gdLst>
                <a:gd name="T0" fmla="*/ 0 w 257"/>
                <a:gd name="T1" fmla="*/ 0 h 145"/>
                <a:gd name="T2" fmla="*/ 0 w 257"/>
                <a:gd name="T3" fmla="*/ 0 h 145"/>
                <a:gd name="T4" fmla="*/ 2147483646 w 257"/>
                <a:gd name="T5" fmla="*/ 2147483646 h 145"/>
                <a:gd name="T6" fmla="*/ 2147483646 w 257"/>
                <a:gd name="T7" fmla="*/ 0 h 145"/>
                <a:gd name="T8" fmla="*/ 0 w 257"/>
                <a:gd name="T9" fmla="*/ 0 h 1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7" h="145">
                  <a:moveTo>
                    <a:pt x="0" y="0"/>
                  </a:moveTo>
                  <a:lnTo>
                    <a:pt x="0" y="0"/>
                  </a:lnTo>
                  <a:lnTo>
                    <a:pt x="129" y="145"/>
                  </a:lnTo>
                  <a:lnTo>
                    <a:pt x="257" y="0"/>
                  </a:lnTo>
                  <a:lnTo>
                    <a:pt x="0"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67" name="Freeform 209">
              <a:extLst>
                <a:ext uri="{FF2B5EF4-FFF2-40B4-BE49-F238E27FC236}">
                  <a16:creationId xmlns:a16="http://schemas.microsoft.com/office/drawing/2014/main" id="{373A2245-0A90-4616-8445-3E539CDA6614}"/>
                </a:ext>
              </a:extLst>
            </p:cNvPr>
            <p:cNvSpPr>
              <a:spLocks noChangeArrowheads="1"/>
            </p:cNvSpPr>
            <p:nvPr/>
          </p:nvSpPr>
          <p:spPr bwMode="auto">
            <a:xfrm>
              <a:off x="2200275" y="2433638"/>
              <a:ext cx="28575" cy="250825"/>
            </a:xfrm>
            <a:custGeom>
              <a:avLst/>
              <a:gdLst>
                <a:gd name="T0" fmla="*/ 2147483646 w 67"/>
                <a:gd name="T1" fmla="*/ 2147483646 h 597"/>
                <a:gd name="T2" fmla="*/ 2147483646 w 67"/>
                <a:gd name="T3" fmla="*/ 2147483646 h 597"/>
                <a:gd name="T4" fmla="*/ 0 w 67"/>
                <a:gd name="T5" fmla="*/ 2147483646 h 597"/>
                <a:gd name="T6" fmla="*/ 0 w 67"/>
                <a:gd name="T7" fmla="*/ 2147483646 h 597"/>
                <a:gd name="T8" fmla="*/ 2147483646 w 67"/>
                <a:gd name="T9" fmla="*/ 0 h 597"/>
                <a:gd name="T10" fmla="*/ 2147483646 w 67"/>
                <a:gd name="T11" fmla="*/ 2147483646 h 597"/>
                <a:gd name="T12" fmla="*/ 2147483646 w 67"/>
                <a:gd name="T13" fmla="*/ 2147483646 h 597"/>
                <a:gd name="T14" fmla="*/ 2147483646 w 67"/>
                <a:gd name="T15" fmla="*/ 2147483646 h 59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597">
                  <a:moveTo>
                    <a:pt x="34" y="597"/>
                  </a:moveTo>
                  <a:lnTo>
                    <a:pt x="34" y="597"/>
                  </a:lnTo>
                  <a:cubicBezTo>
                    <a:pt x="15" y="597"/>
                    <a:pt x="0" y="582"/>
                    <a:pt x="0" y="564"/>
                  </a:cubicBezTo>
                  <a:lnTo>
                    <a:pt x="0" y="33"/>
                  </a:lnTo>
                  <a:cubicBezTo>
                    <a:pt x="0" y="15"/>
                    <a:pt x="15" y="0"/>
                    <a:pt x="34" y="0"/>
                  </a:cubicBezTo>
                  <a:cubicBezTo>
                    <a:pt x="52" y="0"/>
                    <a:pt x="67" y="15"/>
                    <a:pt x="67" y="33"/>
                  </a:cubicBezTo>
                  <a:lnTo>
                    <a:pt x="67" y="564"/>
                  </a:lnTo>
                  <a:cubicBezTo>
                    <a:pt x="67" y="582"/>
                    <a:pt x="52" y="597"/>
                    <a:pt x="34" y="59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68" name="Freeform 210">
              <a:extLst>
                <a:ext uri="{FF2B5EF4-FFF2-40B4-BE49-F238E27FC236}">
                  <a16:creationId xmlns:a16="http://schemas.microsoft.com/office/drawing/2014/main" id="{FE68B68A-E576-47A8-AC37-2D6FCB9D96BF}"/>
                </a:ext>
              </a:extLst>
            </p:cNvPr>
            <p:cNvSpPr>
              <a:spLocks noChangeArrowheads="1"/>
            </p:cNvSpPr>
            <p:nvPr/>
          </p:nvSpPr>
          <p:spPr bwMode="auto">
            <a:xfrm>
              <a:off x="2160588" y="2424113"/>
              <a:ext cx="107950" cy="61913"/>
            </a:xfrm>
            <a:custGeom>
              <a:avLst/>
              <a:gdLst>
                <a:gd name="T0" fmla="*/ 2147483646 w 257"/>
                <a:gd name="T1" fmla="*/ 2147483646 h 146"/>
                <a:gd name="T2" fmla="*/ 2147483646 w 257"/>
                <a:gd name="T3" fmla="*/ 2147483646 h 146"/>
                <a:gd name="T4" fmla="*/ 2147483646 w 257"/>
                <a:gd name="T5" fmla="*/ 0 h 146"/>
                <a:gd name="T6" fmla="*/ 0 w 257"/>
                <a:gd name="T7" fmla="*/ 2147483646 h 146"/>
                <a:gd name="T8" fmla="*/ 2147483646 w 257"/>
                <a:gd name="T9" fmla="*/ 2147483646 h 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7" h="146">
                  <a:moveTo>
                    <a:pt x="257" y="146"/>
                  </a:moveTo>
                  <a:lnTo>
                    <a:pt x="257" y="146"/>
                  </a:lnTo>
                  <a:lnTo>
                    <a:pt x="129" y="0"/>
                  </a:lnTo>
                  <a:lnTo>
                    <a:pt x="0" y="146"/>
                  </a:lnTo>
                  <a:lnTo>
                    <a:pt x="257" y="146"/>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69" name="Freeform 211">
              <a:extLst>
                <a:ext uri="{FF2B5EF4-FFF2-40B4-BE49-F238E27FC236}">
                  <a16:creationId xmlns:a16="http://schemas.microsoft.com/office/drawing/2014/main" id="{DC5D6720-DCF5-494E-A338-4AA7F2A74C64}"/>
                </a:ext>
              </a:extLst>
            </p:cNvPr>
            <p:cNvSpPr>
              <a:spLocks noChangeArrowheads="1"/>
            </p:cNvSpPr>
            <p:nvPr/>
          </p:nvSpPr>
          <p:spPr bwMode="auto">
            <a:xfrm>
              <a:off x="1806575" y="2351088"/>
              <a:ext cx="630238" cy="630238"/>
            </a:xfrm>
            <a:custGeom>
              <a:avLst/>
              <a:gdLst>
                <a:gd name="T0" fmla="*/ 2147483646 w 1502"/>
                <a:gd name="T1" fmla="*/ 2147483646 h 1503"/>
                <a:gd name="T2" fmla="*/ 2147483646 w 1502"/>
                <a:gd name="T3" fmla="*/ 2147483646 h 1503"/>
                <a:gd name="T4" fmla="*/ 2147483646 w 1502"/>
                <a:gd name="T5" fmla="*/ 2147483646 h 1503"/>
                <a:gd name="T6" fmla="*/ 2147483646 w 1502"/>
                <a:gd name="T7" fmla="*/ 2147483646 h 1503"/>
                <a:gd name="T8" fmla="*/ 2147483646 w 1502"/>
                <a:gd name="T9" fmla="*/ 2147483646 h 1503"/>
                <a:gd name="T10" fmla="*/ 2147483646 w 1502"/>
                <a:gd name="T11" fmla="*/ 2147483646 h 1503"/>
                <a:gd name="T12" fmla="*/ 2147483646 w 1502"/>
                <a:gd name="T13" fmla="*/ 2147483646 h 1503"/>
                <a:gd name="T14" fmla="*/ 2147483646 w 1502"/>
                <a:gd name="T15" fmla="*/ 2147483646 h 1503"/>
                <a:gd name="T16" fmla="*/ 2147483646 w 1502"/>
                <a:gd name="T17" fmla="*/ 2147483646 h 1503"/>
                <a:gd name="T18" fmla="*/ 2147483646 w 1502"/>
                <a:gd name="T19" fmla="*/ 2147483646 h 1503"/>
                <a:gd name="T20" fmla="*/ 2147483646 w 1502"/>
                <a:gd name="T21" fmla="*/ 2147483646 h 1503"/>
                <a:gd name="T22" fmla="*/ 2147483646 w 1502"/>
                <a:gd name="T23" fmla="*/ 2147483646 h 1503"/>
                <a:gd name="T24" fmla="*/ 2147483646 w 1502"/>
                <a:gd name="T25" fmla="*/ 2147483646 h 1503"/>
                <a:gd name="T26" fmla="*/ 2147483646 w 1502"/>
                <a:gd name="T27" fmla="*/ 2147483646 h 1503"/>
                <a:gd name="T28" fmla="*/ 2147483646 w 1502"/>
                <a:gd name="T29" fmla="*/ 2147483646 h 1503"/>
                <a:gd name="T30" fmla="*/ 0 w 1502"/>
                <a:gd name="T31" fmla="*/ 2147483646 h 1503"/>
                <a:gd name="T32" fmla="*/ 0 w 1502"/>
                <a:gd name="T33" fmla="*/ 2147483646 h 1503"/>
                <a:gd name="T34" fmla="*/ 2147483646 w 1502"/>
                <a:gd name="T35" fmla="*/ 0 h 1503"/>
                <a:gd name="T36" fmla="*/ 2147483646 w 1502"/>
                <a:gd name="T37" fmla="*/ 0 h 1503"/>
                <a:gd name="T38" fmla="*/ 2147483646 w 1502"/>
                <a:gd name="T39" fmla="*/ 2147483646 h 1503"/>
                <a:gd name="T40" fmla="*/ 2147483646 w 1502"/>
                <a:gd name="T41" fmla="*/ 2147483646 h 1503"/>
                <a:gd name="T42" fmla="*/ 2147483646 w 1502"/>
                <a:gd name="T43" fmla="*/ 2147483646 h 150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502" h="1503">
                  <a:moveTo>
                    <a:pt x="1385" y="1503"/>
                  </a:moveTo>
                  <a:lnTo>
                    <a:pt x="1385" y="1503"/>
                  </a:lnTo>
                  <a:lnTo>
                    <a:pt x="1211" y="1503"/>
                  </a:lnTo>
                  <a:lnTo>
                    <a:pt x="1211" y="1436"/>
                  </a:lnTo>
                  <a:lnTo>
                    <a:pt x="1385" y="1436"/>
                  </a:lnTo>
                  <a:cubicBezTo>
                    <a:pt x="1413" y="1436"/>
                    <a:pt x="1436" y="1413"/>
                    <a:pt x="1436" y="1385"/>
                  </a:cubicBezTo>
                  <a:lnTo>
                    <a:pt x="1436" y="118"/>
                  </a:lnTo>
                  <a:cubicBezTo>
                    <a:pt x="1436" y="90"/>
                    <a:pt x="1413" y="67"/>
                    <a:pt x="1385" y="67"/>
                  </a:cubicBezTo>
                  <a:lnTo>
                    <a:pt x="117" y="67"/>
                  </a:lnTo>
                  <a:cubicBezTo>
                    <a:pt x="89" y="67"/>
                    <a:pt x="66" y="90"/>
                    <a:pt x="66" y="118"/>
                  </a:cubicBezTo>
                  <a:lnTo>
                    <a:pt x="66" y="1385"/>
                  </a:lnTo>
                  <a:cubicBezTo>
                    <a:pt x="66" y="1413"/>
                    <a:pt x="89" y="1436"/>
                    <a:pt x="117" y="1436"/>
                  </a:cubicBezTo>
                  <a:lnTo>
                    <a:pt x="1045" y="1436"/>
                  </a:lnTo>
                  <a:lnTo>
                    <a:pt x="1045" y="1503"/>
                  </a:lnTo>
                  <a:lnTo>
                    <a:pt x="117" y="1503"/>
                  </a:lnTo>
                  <a:cubicBezTo>
                    <a:pt x="52" y="1503"/>
                    <a:pt x="0" y="1450"/>
                    <a:pt x="0" y="1385"/>
                  </a:cubicBezTo>
                  <a:lnTo>
                    <a:pt x="0" y="118"/>
                  </a:lnTo>
                  <a:cubicBezTo>
                    <a:pt x="0" y="53"/>
                    <a:pt x="52" y="0"/>
                    <a:pt x="117" y="0"/>
                  </a:cubicBezTo>
                  <a:lnTo>
                    <a:pt x="1385" y="0"/>
                  </a:lnTo>
                  <a:cubicBezTo>
                    <a:pt x="1450" y="0"/>
                    <a:pt x="1502" y="53"/>
                    <a:pt x="1502" y="118"/>
                  </a:cubicBezTo>
                  <a:lnTo>
                    <a:pt x="1502" y="1385"/>
                  </a:lnTo>
                  <a:cubicBezTo>
                    <a:pt x="1502" y="1450"/>
                    <a:pt x="1450" y="1503"/>
                    <a:pt x="1385" y="1503"/>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70" name="Freeform 212">
              <a:extLst>
                <a:ext uri="{FF2B5EF4-FFF2-40B4-BE49-F238E27FC236}">
                  <a16:creationId xmlns:a16="http://schemas.microsoft.com/office/drawing/2014/main" id="{7B4F89FD-99A8-46D2-B285-0A19FD151338}"/>
                </a:ext>
              </a:extLst>
            </p:cNvPr>
            <p:cNvSpPr>
              <a:spLocks noChangeArrowheads="1"/>
            </p:cNvSpPr>
            <p:nvPr/>
          </p:nvSpPr>
          <p:spPr bwMode="auto">
            <a:xfrm>
              <a:off x="2100263" y="2743201"/>
              <a:ext cx="246063" cy="26988"/>
            </a:xfrm>
            <a:custGeom>
              <a:avLst/>
              <a:gdLst>
                <a:gd name="T0" fmla="*/ 2147483646 w 586"/>
                <a:gd name="T1" fmla="*/ 2147483646 h 66"/>
                <a:gd name="T2" fmla="*/ 2147483646 w 586"/>
                <a:gd name="T3" fmla="*/ 2147483646 h 66"/>
                <a:gd name="T4" fmla="*/ 2147483646 w 586"/>
                <a:gd name="T5" fmla="*/ 2147483646 h 66"/>
                <a:gd name="T6" fmla="*/ 0 w 586"/>
                <a:gd name="T7" fmla="*/ 2147483646 h 66"/>
                <a:gd name="T8" fmla="*/ 2147483646 w 586"/>
                <a:gd name="T9" fmla="*/ 0 h 66"/>
                <a:gd name="T10" fmla="*/ 2147483646 w 586"/>
                <a:gd name="T11" fmla="*/ 0 h 66"/>
                <a:gd name="T12" fmla="*/ 2147483646 w 586"/>
                <a:gd name="T13" fmla="*/ 2147483646 h 66"/>
                <a:gd name="T14" fmla="*/ 2147483646 w 586"/>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6" h="66">
                  <a:moveTo>
                    <a:pt x="553" y="66"/>
                  </a:moveTo>
                  <a:lnTo>
                    <a:pt x="553" y="66"/>
                  </a:lnTo>
                  <a:lnTo>
                    <a:pt x="33" y="66"/>
                  </a:lnTo>
                  <a:cubicBezTo>
                    <a:pt x="14" y="66"/>
                    <a:pt x="0" y="52"/>
                    <a:pt x="0" y="33"/>
                  </a:cubicBezTo>
                  <a:cubicBezTo>
                    <a:pt x="0" y="15"/>
                    <a:pt x="14" y="0"/>
                    <a:pt x="33" y="0"/>
                  </a:cubicBezTo>
                  <a:lnTo>
                    <a:pt x="553" y="0"/>
                  </a:lnTo>
                  <a:cubicBezTo>
                    <a:pt x="571" y="0"/>
                    <a:pt x="586" y="15"/>
                    <a:pt x="586" y="33"/>
                  </a:cubicBezTo>
                  <a:cubicBezTo>
                    <a:pt x="586" y="52"/>
                    <a:pt x="571" y="66"/>
                    <a:pt x="553" y="6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71" name="Freeform 213">
              <a:extLst>
                <a:ext uri="{FF2B5EF4-FFF2-40B4-BE49-F238E27FC236}">
                  <a16:creationId xmlns:a16="http://schemas.microsoft.com/office/drawing/2014/main" id="{30340B0F-D7F9-475B-989A-FA134DA6FAD6}"/>
                </a:ext>
              </a:extLst>
            </p:cNvPr>
            <p:cNvSpPr>
              <a:spLocks noChangeArrowheads="1"/>
            </p:cNvSpPr>
            <p:nvPr/>
          </p:nvSpPr>
          <p:spPr bwMode="auto">
            <a:xfrm>
              <a:off x="2293938" y="2703513"/>
              <a:ext cx="60325" cy="107950"/>
            </a:xfrm>
            <a:custGeom>
              <a:avLst/>
              <a:gdLst>
                <a:gd name="T0" fmla="*/ 0 w 146"/>
                <a:gd name="T1" fmla="*/ 2147483646 h 257"/>
                <a:gd name="T2" fmla="*/ 0 w 146"/>
                <a:gd name="T3" fmla="*/ 2147483646 h 257"/>
                <a:gd name="T4" fmla="*/ 2147483646 w 146"/>
                <a:gd name="T5" fmla="*/ 2147483646 h 257"/>
                <a:gd name="T6" fmla="*/ 0 w 146"/>
                <a:gd name="T7" fmla="*/ 0 h 257"/>
                <a:gd name="T8" fmla="*/ 0 w 146"/>
                <a:gd name="T9" fmla="*/ 2147483646 h 2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257">
                  <a:moveTo>
                    <a:pt x="0" y="257"/>
                  </a:moveTo>
                  <a:lnTo>
                    <a:pt x="0" y="257"/>
                  </a:lnTo>
                  <a:lnTo>
                    <a:pt x="146" y="128"/>
                  </a:lnTo>
                  <a:lnTo>
                    <a:pt x="0" y="0"/>
                  </a:lnTo>
                  <a:lnTo>
                    <a:pt x="0" y="257"/>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72" name="Freeform 214">
              <a:extLst>
                <a:ext uri="{FF2B5EF4-FFF2-40B4-BE49-F238E27FC236}">
                  <a16:creationId xmlns:a16="http://schemas.microsoft.com/office/drawing/2014/main" id="{4676D9AD-0E7B-41EC-8F0F-150055581857}"/>
                </a:ext>
              </a:extLst>
            </p:cNvPr>
            <p:cNvSpPr>
              <a:spLocks noChangeArrowheads="1"/>
            </p:cNvSpPr>
            <p:nvPr/>
          </p:nvSpPr>
          <p:spPr bwMode="auto">
            <a:xfrm>
              <a:off x="1889125" y="2559051"/>
              <a:ext cx="247650" cy="26988"/>
            </a:xfrm>
            <a:custGeom>
              <a:avLst/>
              <a:gdLst>
                <a:gd name="T0" fmla="*/ 2147483646 w 587"/>
                <a:gd name="T1" fmla="*/ 2147483646 h 67"/>
                <a:gd name="T2" fmla="*/ 2147483646 w 587"/>
                <a:gd name="T3" fmla="*/ 2147483646 h 67"/>
                <a:gd name="T4" fmla="*/ 2147483646 w 587"/>
                <a:gd name="T5" fmla="*/ 2147483646 h 67"/>
                <a:gd name="T6" fmla="*/ 0 w 587"/>
                <a:gd name="T7" fmla="*/ 2147483646 h 67"/>
                <a:gd name="T8" fmla="*/ 2147483646 w 587"/>
                <a:gd name="T9" fmla="*/ 0 h 67"/>
                <a:gd name="T10" fmla="*/ 2147483646 w 587"/>
                <a:gd name="T11" fmla="*/ 0 h 67"/>
                <a:gd name="T12" fmla="*/ 2147483646 w 587"/>
                <a:gd name="T13" fmla="*/ 2147483646 h 67"/>
                <a:gd name="T14" fmla="*/ 2147483646 w 587"/>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7" h="67">
                  <a:moveTo>
                    <a:pt x="554" y="67"/>
                  </a:moveTo>
                  <a:lnTo>
                    <a:pt x="554" y="67"/>
                  </a:lnTo>
                  <a:lnTo>
                    <a:pt x="34" y="67"/>
                  </a:lnTo>
                  <a:cubicBezTo>
                    <a:pt x="15" y="67"/>
                    <a:pt x="0" y="52"/>
                    <a:pt x="0" y="33"/>
                  </a:cubicBezTo>
                  <a:cubicBezTo>
                    <a:pt x="0" y="15"/>
                    <a:pt x="15" y="0"/>
                    <a:pt x="34" y="0"/>
                  </a:cubicBezTo>
                  <a:lnTo>
                    <a:pt x="554" y="0"/>
                  </a:lnTo>
                  <a:cubicBezTo>
                    <a:pt x="572" y="0"/>
                    <a:pt x="587" y="15"/>
                    <a:pt x="587" y="33"/>
                  </a:cubicBezTo>
                  <a:cubicBezTo>
                    <a:pt x="587" y="52"/>
                    <a:pt x="572" y="67"/>
                    <a:pt x="554" y="6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73" name="Freeform 215">
              <a:extLst>
                <a:ext uri="{FF2B5EF4-FFF2-40B4-BE49-F238E27FC236}">
                  <a16:creationId xmlns:a16="http://schemas.microsoft.com/office/drawing/2014/main" id="{0C859860-48AA-4AE1-B55C-13803237A39C}"/>
                </a:ext>
              </a:extLst>
            </p:cNvPr>
            <p:cNvSpPr>
              <a:spLocks noChangeArrowheads="1"/>
            </p:cNvSpPr>
            <p:nvPr/>
          </p:nvSpPr>
          <p:spPr bwMode="auto">
            <a:xfrm>
              <a:off x="1881188" y="2519363"/>
              <a:ext cx="60325" cy="106363"/>
            </a:xfrm>
            <a:custGeom>
              <a:avLst/>
              <a:gdLst>
                <a:gd name="T0" fmla="*/ 2147483646 w 145"/>
                <a:gd name="T1" fmla="*/ 0 h 257"/>
                <a:gd name="T2" fmla="*/ 2147483646 w 145"/>
                <a:gd name="T3" fmla="*/ 0 h 257"/>
                <a:gd name="T4" fmla="*/ 0 w 145"/>
                <a:gd name="T5" fmla="*/ 2147483646 h 257"/>
                <a:gd name="T6" fmla="*/ 2147483646 w 145"/>
                <a:gd name="T7" fmla="*/ 2147483646 h 257"/>
                <a:gd name="T8" fmla="*/ 2147483646 w 145"/>
                <a:gd name="T9" fmla="*/ 0 h 2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57">
                  <a:moveTo>
                    <a:pt x="145" y="0"/>
                  </a:moveTo>
                  <a:lnTo>
                    <a:pt x="145" y="0"/>
                  </a:lnTo>
                  <a:lnTo>
                    <a:pt x="0" y="128"/>
                  </a:lnTo>
                  <a:lnTo>
                    <a:pt x="145" y="257"/>
                  </a:lnTo>
                  <a:lnTo>
                    <a:pt x="145"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74" name="Freeform 216">
              <a:extLst>
                <a:ext uri="{FF2B5EF4-FFF2-40B4-BE49-F238E27FC236}">
                  <a16:creationId xmlns:a16="http://schemas.microsoft.com/office/drawing/2014/main" id="{8036022B-D6B3-4A97-9274-CBDAC00D55F8}"/>
                </a:ext>
              </a:extLst>
            </p:cNvPr>
            <p:cNvSpPr>
              <a:spLocks noChangeArrowheads="1"/>
            </p:cNvSpPr>
            <p:nvPr/>
          </p:nvSpPr>
          <p:spPr bwMode="auto">
            <a:xfrm>
              <a:off x="2205038" y="2940051"/>
              <a:ext cx="57150" cy="57150"/>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70" y="139"/>
                  </a:moveTo>
                  <a:lnTo>
                    <a:pt x="70" y="139"/>
                  </a:lnTo>
                  <a:cubicBezTo>
                    <a:pt x="31" y="139"/>
                    <a:pt x="0" y="107"/>
                    <a:pt x="0" y="69"/>
                  </a:cubicBezTo>
                  <a:cubicBezTo>
                    <a:pt x="0" y="31"/>
                    <a:pt x="31" y="0"/>
                    <a:pt x="70" y="0"/>
                  </a:cubicBezTo>
                  <a:cubicBezTo>
                    <a:pt x="108" y="0"/>
                    <a:pt x="139" y="31"/>
                    <a:pt x="139" y="69"/>
                  </a:cubicBezTo>
                  <a:cubicBezTo>
                    <a:pt x="139" y="107"/>
                    <a:pt x="108" y="139"/>
                    <a:pt x="70"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75" name="Freeform 217">
              <a:extLst>
                <a:ext uri="{FF2B5EF4-FFF2-40B4-BE49-F238E27FC236}">
                  <a16:creationId xmlns:a16="http://schemas.microsoft.com/office/drawing/2014/main" id="{2624098C-8750-48B6-9A82-1CD76FBF905F}"/>
                </a:ext>
              </a:extLst>
            </p:cNvPr>
            <p:cNvSpPr>
              <a:spLocks noChangeArrowheads="1"/>
            </p:cNvSpPr>
            <p:nvPr/>
          </p:nvSpPr>
          <p:spPr bwMode="auto">
            <a:xfrm>
              <a:off x="2293938" y="2940051"/>
              <a:ext cx="58738" cy="57150"/>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70" y="139"/>
                  </a:moveTo>
                  <a:lnTo>
                    <a:pt x="70" y="139"/>
                  </a:lnTo>
                  <a:cubicBezTo>
                    <a:pt x="31" y="139"/>
                    <a:pt x="0" y="107"/>
                    <a:pt x="0" y="69"/>
                  </a:cubicBezTo>
                  <a:cubicBezTo>
                    <a:pt x="0" y="31"/>
                    <a:pt x="31" y="0"/>
                    <a:pt x="70" y="0"/>
                  </a:cubicBezTo>
                  <a:cubicBezTo>
                    <a:pt x="108" y="0"/>
                    <a:pt x="139" y="31"/>
                    <a:pt x="139" y="69"/>
                  </a:cubicBezTo>
                  <a:cubicBezTo>
                    <a:pt x="139" y="107"/>
                    <a:pt x="108" y="139"/>
                    <a:pt x="70"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grpSp>
      <p:grpSp>
        <p:nvGrpSpPr>
          <p:cNvPr id="976" name="组合 321">
            <a:extLst>
              <a:ext uri="{FF2B5EF4-FFF2-40B4-BE49-F238E27FC236}">
                <a16:creationId xmlns:a16="http://schemas.microsoft.com/office/drawing/2014/main" id="{2C1BBCC3-5E33-43F2-A444-ABFE111B91C0}"/>
              </a:ext>
            </a:extLst>
          </p:cNvPr>
          <p:cNvGrpSpPr>
            <a:grpSpLocks/>
          </p:cNvGrpSpPr>
          <p:nvPr/>
        </p:nvGrpSpPr>
        <p:grpSpPr bwMode="auto">
          <a:xfrm>
            <a:off x="1363117" y="1564184"/>
            <a:ext cx="234507" cy="187562"/>
            <a:chOff x="1806575" y="2351088"/>
            <a:chExt cx="630238" cy="646113"/>
          </a:xfrm>
        </p:grpSpPr>
        <p:sp>
          <p:nvSpPr>
            <p:cNvPr id="977" name="Freeform 206">
              <a:extLst>
                <a:ext uri="{FF2B5EF4-FFF2-40B4-BE49-F238E27FC236}">
                  <a16:creationId xmlns:a16="http://schemas.microsoft.com/office/drawing/2014/main" id="{48734C8C-D118-42FA-AD1E-BC41AE341951}"/>
                </a:ext>
              </a:extLst>
            </p:cNvPr>
            <p:cNvSpPr>
              <a:spLocks noEditPoints="1" noChangeArrowheads="1"/>
            </p:cNvSpPr>
            <p:nvPr/>
          </p:nvSpPr>
          <p:spPr bwMode="auto">
            <a:xfrm>
              <a:off x="2016125" y="2559051"/>
              <a:ext cx="212725" cy="211138"/>
            </a:xfrm>
            <a:custGeom>
              <a:avLst/>
              <a:gdLst>
                <a:gd name="T0" fmla="*/ 2147483646 w 507"/>
                <a:gd name="T1" fmla="*/ 2147483646 h 506"/>
                <a:gd name="T2" fmla="*/ 2147483646 w 507"/>
                <a:gd name="T3" fmla="*/ 2147483646 h 506"/>
                <a:gd name="T4" fmla="*/ 2147483646 w 507"/>
                <a:gd name="T5" fmla="*/ 2147483646 h 506"/>
                <a:gd name="T6" fmla="*/ 2147483646 w 507"/>
                <a:gd name="T7" fmla="*/ 2147483646 h 506"/>
                <a:gd name="T8" fmla="*/ 2147483646 w 507"/>
                <a:gd name="T9" fmla="*/ 2147483646 h 506"/>
                <a:gd name="T10" fmla="*/ 2147483646 w 507"/>
                <a:gd name="T11" fmla="*/ 2147483646 h 506"/>
                <a:gd name="T12" fmla="*/ 2147483646 w 507"/>
                <a:gd name="T13" fmla="*/ 2147483646 h 506"/>
                <a:gd name="T14" fmla="*/ 2147483646 w 507"/>
                <a:gd name="T15" fmla="*/ 2147483646 h 506"/>
                <a:gd name="T16" fmla="*/ 0 w 507"/>
                <a:gd name="T17" fmla="*/ 2147483646 h 506"/>
                <a:gd name="T18" fmla="*/ 2147483646 w 507"/>
                <a:gd name="T19" fmla="*/ 0 h 506"/>
                <a:gd name="T20" fmla="*/ 2147483646 w 507"/>
                <a:gd name="T21" fmla="*/ 2147483646 h 506"/>
                <a:gd name="T22" fmla="*/ 2147483646 w 507"/>
                <a:gd name="T23" fmla="*/ 2147483646 h 5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07" h="506">
                  <a:moveTo>
                    <a:pt x="254" y="67"/>
                  </a:moveTo>
                  <a:lnTo>
                    <a:pt x="254" y="67"/>
                  </a:lnTo>
                  <a:cubicBezTo>
                    <a:pt x="151" y="67"/>
                    <a:pt x="67" y="150"/>
                    <a:pt x="67" y="253"/>
                  </a:cubicBezTo>
                  <a:cubicBezTo>
                    <a:pt x="67" y="356"/>
                    <a:pt x="151" y="440"/>
                    <a:pt x="254" y="440"/>
                  </a:cubicBezTo>
                  <a:cubicBezTo>
                    <a:pt x="357" y="440"/>
                    <a:pt x="440" y="356"/>
                    <a:pt x="440" y="253"/>
                  </a:cubicBezTo>
                  <a:cubicBezTo>
                    <a:pt x="440" y="150"/>
                    <a:pt x="357" y="67"/>
                    <a:pt x="254" y="67"/>
                  </a:cubicBezTo>
                  <a:close/>
                  <a:moveTo>
                    <a:pt x="254" y="506"/>
                  </a:moveTo>
                  <a:lnTo>
                    <a:pt x="254" y="506"/>
                  </a:lnTo>
                  <a:cubicBezTo>
                    <a:pt x="114" y="506"/>
                    <a:pt x="0" y="393"/>
                    <a:pt x="0" y="253"/>
                  </a:cubicBezTo>
                  <a:cubicBezTo>
                    <a:pt x="0" y="114"/>
                    <a:pt x="114" y="0"/>
                    <a:pt x="254" y="0"/>
                  </a:cubicBezTo>
                  <a:cubicBezTo>
                    <a:pt x="393" y="0"/>
                    <a:pt x="507" y="114"/>
                    <a:pt x="507" y="253"/>
                  </a:cubicBezTo>
                  <a:cubicBezTo>
                    <a:pt x="507" y="393"/>
                    <a:pt x="393" y="506"/>
                    <a:pt x="254" y="50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78" name="Freeform 207">
              <a:extLst>
                <a:ext uri="{FF2B5EF4-FFF2-40B4-BE49-F238E27FC236}">
                  <a16:creationId xmlns:a16="http://schemas.microsoft.com/office/drawing/2014/main" id="{D2E7CAA7-1B17-4AD7-BAD9-729F30928A76}"/>
                </a:ext>
              </a:extLst>
            </p:cNvPr>
            <p:cNvSpPr>
              <a:spLocks noChangeArrowheads="1"/>
            </p:cNvSpPr>
            <p:nvPr/>
          </p:nvSpPr>
          <p:spPr bwMode="auto">
            <a:xfrm>
              <a:off x="2016125" y="2654301"/>
              <a:ext cx="26988" cy="246063"/>
            </a:xfrm>
            <a:custGeom>
              <a:avLst/>
              <a:gdLst>
                <a:gd name="T0" fmla="*/ 2147483646 w 67"/>
                <a:gd name="T1" fmla="*/ 2147483646 h 586"/>
                <a:gd name="T2" fmla="*/ 2147483646 w 67"/>
                <a:gd name="T3" fmla="*/ 2147483646 h 586"/>
                <a:gd name="T4" fmla="*/ 0 w 67"/>
                <a:gd name="T5" fmla="*/ 2147483646 h 586"/>
                <a:gd name="T6" fmla="*/ 0 w 67"/>
                <a:gd name="T7" fmla="*/ 2147483646 h 586"/>
                <a:gd name="T8" fmla="*/ 2147483646 w 67"/>
                <a:gd name="T9" fmla="*/ 0 h 586"/>
                <a:gd name="T10" fmla="*/ 2147483646 w 67"/>
                <a:gd name="T11" fmla="*/ 2147483646 h 586"/>
                <a:gd name="T12" fmla="*/ 2147483646 w 67"/>
                <a:gd name="T13" fmla="*/ 2147483646 h 586"/>
                <a:gd name="T14" fmla="*/ 2147483646 w 67"/>
                <a:gd name="T15" fmla="*/ 2147483646 h 5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586">
                  <a:moveTo>
                    <a:pt x="34" y="586"/>
                  </a:moveTo>
                  <a:lnTo>
                    <a:pt x="34" y="586"/>
                  </a:lnTo>
                  <a:cubicBezTo>
                    <a:pt x="15" y="586"/>
                    <a:pt x="0" y="572"/>
                    <a:pt x="0" y="553"/>
                  </a:cubicBezTo>
                  <a:lnTo>
                    <a:pt x="0" y="33"/>
                  </a:lnTo>
                  <a:cubicBezTo>
                    <a:pt x="0" y="15"/>
                    <a:pt x="15" y="0"/>
                    <a:pt x="34" y="0"/>
                  </a:cubicBezTo>
                  <a:cubicBezTo>
                    <a:pt x="52" y="0"/>
                    <a:pt x="67" y="15"/>
                    <a:pt x="67" y="33"/>
                  </a:cubicBezTo>
                  <a:lnTo>
                    <a:pt x="67" y="553"/>
                  </a:lnTo>
                  <a:cubicBezTo>
                    <a:pt x="67" y="572"/>
                    <a:pt x="52" y="586"/>
                    <a:pt x="34" y="58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79" name="Freeform 208">
              <a:extLst>
                <a:ext uri="{FF2B5EF4-FFF2-40B4-BE49-F238E27FC236}">
                  <a16:creationId xmlns:a16="http://schemas.microsoft.com/office/drawing/2014/main" id="{430A6731-566B-4511-B69A-9B2C94CF1A6A}"/>
                </a:ext>
              </a:extLst>
            </p:cNvPr>
            <p:cNvSpPr>
              <a:spLocks noChangeArrowheads="1"/>
            </p:cNvSpPr>
            <p:nvPr/>
          </p:nvSpPr>
          <p:spPr bwMode="auto">
            <a:xfrm>
              <a:off x="1976438" y="2849563"/>
              <a:ext cx="107950" cy="60325"/>
            </a:xfrm>
            <a:custGeom>
              <a:avLst/>
              <a:gdLst>
                <a:gd name="T0" fmla="*/ 0 w 257"/>
                <a:gd name="T1" fmla="*/ 0 h 145"/>
                <a:gd name="T2" fmla="*/ 0 w 257"/>
                <a:gd name="T3" fmla="*/ 0 h 145"/>
                <a:gd name="T4" fmla="*/ 2147483646 w 257"/>
                <a:gd name="T5" fmla="*/ 2147483646 h 145"/>
                <a:gd name="T6" fmla="*/ 2147483646 w 257"/>
                <a:gd name="T7" fmla="*/ 0 h 145"/>
                <a:gd name="T8" fmla="*/ 0 w 257"/>
                <a:gd name="T9" fmla="*/ 0 h 1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7" h="145">
                  <a:moveTo>
                    <a:pt x="0" y="0"/>
                  </a:moveTo>
                  <a:lnTo>
                    <a:pt x="0" y="0"/>
                  </a:lnTo>
                  <a:lnTo>
                    <a:pt x="129" y="145"/>
                  </a:lnTo>
                  <a:lnTo>
                    <a:pt x="257" y="0"/>
                  </a:lnTo>
                  <a:lnTo>
                    <a:pt x="0"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80" name="Freeform 209">
              <a:extLst>
                <a:ext uri="{FF2B5EF4-FFF2-40B4-BE49-F238E27FC236}">
                  <a16:creationId xmlns:a16="http://schemas.microsoft.com/office/drawing/2014/main" id="{45867202-591B-4F2C-9CD3-C01A990B0F2F}"/>
                </a:ext>
              </a:extLst>
            </p:cNvPr>
            <p:cNvSpPr>
              <a:spLocks noChangeArrowheads="1"/>
            </p:cNvSpPr>
            <p:nvPr/>
          </p:nvSpPr>
          <p:spPr bwMode="auto">
            <a:xfrm>
              <a:off x="2200275" y="2433638"/>
              <a:ext cx="28575" cy="250825"/>
            </a:xfrm>
            <a:custGeom>
              <a:avLst/>
              <a:gdLst>
                <a:gd name="T0" fmla="*/ 2147483646 w 67"/>
                <a:gd name="T1" fmla="*/ 2147483646 h 597"/>
                <a:gd name="T2" fmla="*/ 2147483646 w 67"/>
                <a:gd name="T3" fmla="*/ 2147483646 h 597"/>
                <a:gd name="T4" fmla="*/ 0 w 67"/>
                <a:gd name="T5" fmla="*/ 2147483646 h 597"/>
                <a:gd name="T6" fmla="*/ 0 w 67"/>
                <a:gd name="T7" fmla="*/ 2147483646 h 597"/>
                <a:gd name="T8" fmla="*/ 2147483646 w 67"/>
                <a:gd name="T9" fmla="*/ 0 h 597"/>
                <a:gd name="T10" fmla="*/ 2147483646 w 67"/>
                <a:gd name="T11" fmla="*/ 2147483646 h 597"/>
                <a:gd name="T12" fmla="*/ 2147483646 w 67"/>
                <a:gd name="T13" fmla="*/ 2147483646 h 597"/>
                <a:gd name="T14" fmla="*/ 2147483646 w 67"/>
                <a:gd name="T15" fmla="*/ 2147483646 h 59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597">
                  <a:moveTo>
                    <a:pt x="34" y="597"/>
                  </a:moveTo>
                  <a:lnTo>
                    <a:pt x="34" y="597"/>
                  </a:lnTo>
                  <a:cubicBezTo>
                    <a:pt x="15" y="597"/>
                    <a:pt x="0" y="582"/>
                    <a:pt x="0" y="564"/>
                  </a:cubicBezTo>
                  <a:lnTo>
                    <a:pt x="0" y="33"/>
                  </a:lnTo>
                  <a:cubicBezTo>
                    <a:pt x="0" y="15"/>
                    <a:pt x="15" y="0"/>
                    <a:pt x="34" y="0"/>
                  </a:cubicBezTo>
                  <a:cubicBezTo>
                    <a:pt x="52" y="0"/>
                    <a:pt x="67" y="15"/>
                    <a:pt x="67" y="33"/>
                  </a:cubicBezTo>
                  <a:lnTo>
                    <a:pt x="67" y="564"/>
                  </a:lnTo>
                  <a:cubicBezTo>
                    <a:pt x="67" y="582"/>
                    <a:pt x="52" y="597"/>
                    <a:pt x="34" y="59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81" name="Freeform 210">
              <a:extLst>
                <a:ext uri="{FF2B5EF4-FFF2-40B4-BE49-F238E27FC236}">
                  <a16:creationId xmlns:a16="http://schemas.microsoft.com/office/drawing/2014/main" id="{D9681CFC-967C-4B04-A288-A6E08424F1F4}"/>
                </a:ext>
              </a:extLst>
            </p:cNvPr>
            <p:cNvSpPr>
              <a:spLocks noChangeArrowheads="1"/>
            </p:cNvSpPr>
            <p:nvPr/>
          </p:nvSpPr>
          <p:spPr bwMode="auto">
            <a:xfrm>
              <a:off x="2160588" y="2424113"/>
              <a:ext cx="107950" cy="61913"/>
            </a:xfrm>
            <a:custGeom>
              <a:avLst/>
              <a:gdLst>
                <a:gd name="T0" fmla="*/ 2147483646 w 257"/>
                <a:gd name="T1" fmla="*/ 2147483646 h 146"/>
                <a:gd name="T2" fmla="*/ 2147483646 w 257"/>
                <a:gd name="T3" fmla="*/ 2147483646 h 146"/>
                <a:gd name="T4" fmla="*/ 2147483646 w 257"/>
                <a:gd name="T5" fmla="*/ 0 h 146"/>
                <a:gd name="T6" fmla="*/ 0 w 257"/>
                <a:gd name="T7" fmla="*/ 2147483646 h 146"/>
                <a:gd name="T8" fmla="*/ 2147483646 w 257"/>
                <a:gd name="T9" fmla="*/ 2147483646 h 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7" h="146">
                  <a:moveTo>
                    <a:pt x="257" y="146"/>
                  </a:moveTo>
                  <a:lnTo>
                    <a:pt x="257" y="146"/>
                  </a:lnTo>
                  <a:lnTo>
                    <a:pt x="129" y="0"/>
                  </a:lnTo>
                  <a:lnTo>
                    <a:pt x="0" y="146"/>
                  </a:lnTo>
                  <a:lnTo>
                    <a:pt x="257" y="146"/>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82" name="Freeform 211">
              <a:extLst>
                <a:ext uri="{FF2B5EF4-FFF2-40B4-BE49-F238E27FC236}">
                  <a16:creationId xmlns:a16="http://schemas.microsoft.com/office/drawing/2014/main" id="{0572BB5B-8674-48E8-9177-80F31AA86BC7}"/>
                </a:ext>
              </a:extLst>
            </p:cNvPr>
            <p:cNvSpPr>
              <a:spLocks noChangeArrowheads="1"/>
            </p:cNvSpPr>
            <p:nvPr/>
          </p:nvSpPr>
          <p:spPr bwMode="auto">
            <a:xfrm>
              <a:off x="1806575" y="2351088"/>
              <a:ext cx="630238" cy="630238"/>
            </a:xfrm>
            <a:custGeom>
              <a:avLst/>
              <a:gdLst>
                <a:gd name="T0" fmla="*/ 2147483646 w 1502"/>
                <a:gd name="T1" fmla="*/ 2147483646 h 1503"/>
                <a:gd name="T2" fmla="*/ 2147483646 w 1502"/>
                <a:gd name="T3" fmla="*/ 2147483646 h 1503"/>
                <a:gd name="T4" fmla="*/ 2147483646 w 1502"/>
                <a:gd name="T5" fmla="*/ 2147483646 h 1503"/>
                <a:gd name="T6" fmla="*/ 2147483646 w 1502"/>
                <a:gd name="T7" fmla="*/ 2147483646 h 1503"/>
                <a:gd name="T8" fmla="*/ 2147483646 w 1502"/>
                <a:gd name="T9" fmla="*/ 2147483646 h 1503"/>
                <a:gd name="T10" fmla="*/ 2147483646 w 1502"/>
                <a:gd name="T11" fmla="*/ 2147483646 h 1503"/>
                <a:gd name="T12" fmla="*/ 2147483646 w 1502"/>
                <a:gd name="T13" fmla="*/ 2147483646 h 1503"/>
                <a:gd name="T14" fmla="*/ 2147483646 w 1502"/>
                <a:gd name="T15" fmla="*/ 2147483646 h 1503"/>
                <a:gd name="T16" fmla="*/ 2147483646 w 1502"/>
                <a:gd name="T17" fmla="*/ 2147483646 h 1503"/>
                <a:gd name="T18" fmla="*/ 2147483646 w 1502"/>
                <a:gd name="T19" fmla="*/ 2147483646 h 1503"/>
                <a:gd name="T20" fmla="*/ 2147483646 w 1502"/>
                <a:gd name="T21" fmla="*/ 2147483646 h 1503"/>
                <a:gd name="T22" fmla="*/ 2147483646 w 1502"/>
                <a:gd name="T23" fmla="*/ 2147483646 h 1503"/>
                <a:gd name="T24" fmla="*/ 2147483646 w 1502"/>
                <a:gd name="T25" fmla="*/ 2147483646 h 1503"/>
                <a:gd name="T26" fmla="*/ 2147483646 w 1502"/>
                <a:gd name="T27" fmla="*/ 2147483646 h 1503"/>
                <a:gd name="T28" fmla="*/ 2147483646 w 1502"/>
                <a:gd name="T29" fmla="*/ 2147483646 h 1503"/>
                <a:gd name="T30" fmla="*/ 0 w 1502"/>
                <a:gd name="T31" fmla="*/ 2147483646 h 1503"/>
                <a:gd name="T32" fmla="*/ 0 w 1502"/>
                <a:gd name="T33" fmla="*/ 2147483646 h 1503"/>
                <a:gd name="T34" fmla="*/ 2147483646 w 1502"/>
                <a:gd name="T35" fmla="*/ 0 h 1503"/>
                <a:gd name="T36" fmla="*/ 2147483646 w 1502"/>
                <a:gd name="T37" fmla="*/ 0 h 1503"/>
                <a:gd name="T38" fmla="*/ 2147483646 w 1502"/>
                <a:gd name="T39" fmla="*/ 2147483646 h 1503"/>
                <a:gd name="T40" fmla="*/ 2147483646 w 1502"/>
                <a:gd name="T41" fmla="*/ 2147483646 h 1503"/>
                <a:gd name="T42" fmla="*/ 2147483646 w 1502"/>
                <a:gd name="T43" fmla="*/ 2147483646 h 150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502" h="1503">
                  <a:moveTo>
                    <a:pt x="1385" y="1503"/>
                  </a:moveTo>
                  <a:lnTo>
                    <a:pt x="1385" y="1503"/>
                  </a:lnTo>
                  <a:lnTo>
                    <a:pt x="1211" y="1503"/>
                  </a:lnTo>
                  <a:lnTo>
                    <a:pt x="1211" y="1436"/>
                  </a:lnTo>
                  <a:lnTo>
                    <a:pt x="1385" y="1436"/>
                  </a:lnTo>
                  <a:cubicBezTo>
                    <a:pt x="1413" y="1436"/>
                    <a:pt x="1436" y="1413"/>
                    <a:pt x="1436" y="1385"/>
                  </a:cubicBezTo>
                  <a:lnTo>
                    <a:pt x="1436" y="118"/>
                  </a:lnTo>
                  <a:cubicBezTo>
                    <a:pt x="1436" y="90"/>
                    <a:pt x="1413" y="67"/>
                    <a:pt x="1385" y="67"/>
                  </a:cubicBezTo>
                  <a:lnTo>
                    <a:pt x="117" y="67"/>
                  </a:lnTo>
                  <a:cubicBezTo>
                    <a:pt x="89" y="67"/>
                    <a:pt x="66" y="90"/>
                    <a:pt x="66" y="118"/>
                  </a:cubicBezTo>
                  <a:lnTo>
                    <a:pt x="66" y="1385"/>
                  </a:lnTo>
                  <a:cubicBezTo>
                    <a:pt x="66" y="1413"/>
                    <a:pt x="89" y="1436"/>
                    <a:pt x="117" y="1436"/>
                  </a:cubicBezTo>
                  <a:lnTo>
                    <a:pt x="1045" y="1436"/>
                  </a:lnTo>
                  <a:lnTo>
                    <a:pt x="1045" y="1503"/>
                  </a:lnTo>
                  <a:lnTo>
                    <a:pt x="117" y="1503"/>
                  </a:lnTo>
                  <a:cubicBezTo>
                    <a:pt x="52" y="1503"/>
                    <a:pt x="0" y="1450"/>
                    <a:pt x="0" y="1385"/>
                  </a:cubicBezTo>
                  <a:lnTo>
                    <a:pt x="0" y="118"/>
                  </a:lnTo>
                  <a:cubicBezTo>
                    <a:pt x="0" y="53"/>
                    <a:pt x="52" y="0"/>
                    <a:pt x="117" y="0"/>
                  </a:cubicBezTo>
                  <a:lnTo>
                    <a:pt x="1385" y="0"/>
                  </a:lnTo>
                  <a:cubicBezTo>
                    <a:pt x="1450" y="0"/>
                    <a:pt x="1502" y="53"/>
                    <a:pt x="1502" y="118"/>
                  </a:cubicBezTo>
                  <a:lnTo>
                    <a:pt x="1502" y="1385"/>
                  </a:lnTo>
                  <a:cubicBezTo>
                    <a:pt x="1502" y="1450"/>
                    <a:pt x="1450" y="1503"/>
                    <a:pt x="1385" y="1503"/>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83" name="Freeform 212">
              <a:extLst>
                <a:ext uri="{FF2B5EF4-FFF2-40B4-BE49-F238E27FC236}">
                  <a16:creationId xmlns:a16="http://schemas.microsoft.com/office/drawing/2014/main" id="{3C6BCAEF-6774-4FBA-B3A2-C434D9A6F18A}"/>
                </a:ext>
              </a:extLst>
            </p:cNvPr>
            <p:cNvSpPr>
              <a:spLocks noChangeArrowheads="1"/>
            </p:cNvSpPr>
            <p:nvPr/>
          </p:nvSpPr>
          <p:spPr bwMode="auto">
            <a:xfrm>
              <a:off x="2100263" y="2743201"/>
              <a:ext cx="246063" cy="26988"/>
            </a:xfrm>
            <a:custGeom>
              <a:avLst/>
              <a:gdLst>
                <a:gd name="T0" fmla="*/ 2147483646 w 586"/>
                <a:gd name="T1" fmla="*/ 2147483646 h 66"/>
                <a:gd name="T2" fmla="*/ 2147483646 w 586"/>
                <a:gd name="T3" fmla="*/ 2147483646 h 66"/>
                <a:gd name="T4" fmla="*/ 2147483646 w 586"/>
                <a:gd name="T5" fmla="*/ 2147483646 h 66"/>
                <a:gd name="T6" fmla="*/ 0 w 586"/>
                <a:gd name="T7" fmla="*/ 2147483646 h 66"/>
                <a:gd name="T8" fmla="*/ 2147483646 w 586"/>
                <a:gd name="T9" fmla="*/ 0 h 66"/>
                <a:gd name="T10" fmla="*/ 2147483646 w 586"/>
                <a:gd name="T11" fmla="*/ 0 h 66"/>
                <a:gd name="T12" fmla="*/ 2147483646 w 586"/>
                <a:gd name="T13" fmla="*/ 2147483646 h 66"/>
                <a:gd name="T14" fmla="*/ 2147483646 w 586"/>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6" h="66">
                  <a:moveTo>
                    <a:pt x="553" y="66"/>
                  </a:moveTo>
                  <a:lnTo>
                    <a:pt x="553" y="66"/>
                  </a:lnTo>
                  <a:lnTo>
                    <a:pt x="33" y="66"/>
                  </a:lnTo>
                  <a:cubicBezTo>
                    <a:pt x="14" y="66"/>
                    <a:pt x="0" y="52"/>
                    <a:pt x="0" y="33"/>
                  </a:cubicBezTo>
                  <a:cubicBezTo>
                    <a:pt x="0" y="15"/>
                    <a:pt x="14" y="0"/>
                    <a:pt x="33" y="0"/>
                  </a:cubicBezTo>
                  <a:lnTo>
                    <a:pt x="553" y="0"/>
                  </a:lnTo>
                  <a:cubicBezTo>
                    <a:pt x="571" y="0"/>
                    <a:pt x="586" y="15"/>
                    <a:pt x="586" y="33"/>
                  </a:cubicBezTo>
                  <a:cubicBezTo>
                    <a:pt x="586" y="52"/>
                    <a:pt x="571" y="66"/>
                    <a:pt x="553" y="6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84" name="Freeform 213">
              <a:extLst>
                <a:ext uri="{FF2B5EF4-FFF2-40B4-BE49-F238E27FC236}">
                  <a16:creationId xmlns:a16="http://schemas.microsoft.com/office/drawing/2014/main" id="{4CE5B93E-C62F-4C73-BB65-4596A87A7002}"/>
                </a:ext>
              </a:extLst>
            </p:cNvPr>
            <p:cNvSpPr>
              <a:spLocks noChangeArrowheads="1"/>
            </p:cNvSpPr>
            <p:nvPr/>
          </p:nvSpPr>
          <p:spPr bwMode="auto">
            <a:xfrm>
              <a:off x="2293938" y="2703513"/>
              <a:ext cx="60325" cy="107950"/>
            </a:xfrm>
            <a:custGeom>
              <a:avLst/>
              <a:gdLst>
                <a:gd name="T0" fmla="*/ 0 w 146"/>
                <a:gd name="T1" fmla="*/ 2147483646 h 257"/>
                <a:gd name="T2" fmla="*/ 0 w 146"/>
                <a:gd name="T3" fmla="*/ 2147483646 h 257"/>
                <a:gd name="T4" fmla="*/ 2147483646 w 146"/>
                <a:gd name="T5" fmla="*/ 2147483646 h 257"/>
                <a:gd name="T6" fmla="*/ 0 w 146"/>
                <a:gd name="T7" fmla="*/ 0 h 257"/>
                <a:gd name="T8" fmla="*/ 0 w 146"/>
                <a:gd name="T9" fmla="*/ 2147483646 h 2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257">
                  <a:moveTo>
                    <a:pt x="0" y="257"/>
                  </a:moveTo>
                  <a:lnTo>
                    <a:pt x="0" y="257"/>
                  </a:lnTo>
                  <a:lnTo>
                    <a:pt x="146" y="128"/>
                  </a:lnTo>
                  <a:lnTo>
                    <a:pt x="0" y="0"/>
                  </a:lnTo>
                  <a:lnTo>
                    <a:pt x="0" y="257"/>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85" name="Freeform 214">
              <a:extLst>
                <a:ext uri="{FF2B5EF4-FFF2-40B4-BE49-F238E27FC236}">
                  <a16:creationId xmlns:a16="http://schemas.microsoft.com/office/drawing/2014/main" id="{C1C1F45C-B4C0-480F-9675-42812C3D1B3C}"/>
                </a:ext>
              </a:extLst>
            </p:cNvPr>
            <p:cNvSpPr>
              <a:spLocks noChangeArrowheads="1"/>
            </p:cNvSpPr>
            <p:nvPr/>
          </p:nvSpPr>
          <p:spPr bwMode="auto">
            <a:xfrm>
              <a:off x="1889125" y="2559051"/>
              <a:ext cx="247650" cy="26988"/>
            </a:xfrm>
            <a:custGeom>
              <a:avLst/>
              <a:gdLst>
                <a:gd name="T0" fmla="*/ 2147483646 w 587"/>
                <a:gd name="T1" fmla="*/ 2147483646 h 67"/>
                <a:gd name="T2" fmla="*/ 2147483646 w 587"/>
                <a:gd name="T3" fmla="*/ 2147483646 h 67"/>
                <a:gd name="T4" fmla="*/ 2147483646 w 587"/>
                <a:gd name="T5" fmla="*/ 2147483646 h 67"/>
                <a:gd name="T6" fmla="*/ 0 w 587"/>
                <a:gd name="T7" fmla="*/ 2147483646 h 67"/>
                <a:gd name="T8" fmla="*/ 2147483646 w 587"/>
                <a:gd name="T9" fmla="*/ 0 h 67"/>
                <a:gd name="T10" fmla="*/ 2147483646 w 587"/>
                <a:gd name="T11" fmla="*/ 0 h 67"/>
                <a:gd name="T12" fmla="*/ 2147483646 w 587"/>
                <a:gd name="T13" fmla="*/ 2147483646 h 67"/>
                <a:gd name="T14" fmla="*/ 2147483646 w 587"/>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7" h="67">
                  <a:moveTo>
                    <a:pt x="554" y="67"/>
                  </a:moveTo>
                  <a:lnTo>
                    <a:pt x="554" y="67"/>
                  </a:lnTo>
                  <a:lnTo>
                    <a:pt x="34" y="67"/>
                  </a:lnTo>
                  <a:cubicBezTo>
                    <a:pt x="15" y="67"/>
                    <a:pt x="0" y="52"/>
                    <a:pt x="0" y="33"/>
                  </a:cubicBezTo>
                  <a:cubicBezTo>
                    <a:pt x="0" y="15"/>
                    <a:pt x="15" y="0"/>
                    <a:pt x="34" y="0"/>
                  </a:cubicBezTo>
                  <a:lnTo>
                    <a:pt x="554" y="0"/>
                  </a:lnTo>
                  <a:cubicBezTo>
                    <a:pt x="572" y="0"/>
                    <a:pt x="587" y="15"/>
                    <a:pt x="587" y="33"/>
                  </a:cubicBezTo>
                  <a:cubicBezTo>
                    <a:pt x="587" y="52"/>
                    <a:pt x="572" y="67"/>
                    <a:pt x="554" y="6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86" name="Freeform 215">
              <a:extLst>
                <a:ext uri="{FF2B5EF4-FFF2-40B4-BE49-F238E27FC236}">
                  <a16:creationId xmlns:a16="http://schemas.microsoft.com/office/drawing/2014/main" id="{E495B8CF-6DA0-4A88-8DFD-8B5B6558B859}"/>
                </a:ext>
              </a:extLst>
            </p:cNvPr>
            <p:cNvSpPr>
              <a:spLocks noChangeArrowheads="1"/>
            </p:cNvSpPr>
            <p:nvPr/>
          </p:nvSpPr>
          <p:spPr bwMode="auto">
            <a:xfrm>
              <a:off x="1881188" y="2519363"/>
              <a:ext cx="60325" cy="106363"/>
            </a:xfrm>
            <a:custGeom>
              <a:avLst/>
              <a:gdLst>
                <a:gd name="T0" fmla="*/ 2147483646 w 145"/>
                <a:gd name="T1" fmla="*/ 0 h 257"/>
                <a:gd name="T2" fmla="*/ 2147483646 w 145"/>
                <a:gd name="T3" fmla="*/ 0 h 257"/>
                <a:gd name="T4" fmla="*/ 0 w 145"/>
                <a:gd name="T5" fmla="*/ 2147483646 h 257"/>
                <a:gd name="T6" fmla="*/ 2147483646 w 145"/>
                <a:gd name="T7" fmla="*/ 2147483646 h 257"/>
                <a:gd name="T8" fmla="*/ 2147483646 w 145"/>
                <a:gd name="T9" fmla="*/ 0 h 2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57">
                  <a:moveTo>
                    <a:pt x="145" y="0"/>
                  </a:moveTo>
                  <a:lnTo>
                    <a:pt x="145" y="0"/>
                  </a:lnTo>
                  <a:lnTo>
                    <a:pt x="0" y="128"/>
                  </a:lnTo>
                  <a:lnTo>
                    <a:pt x="145" y="257"/>
                  </a:lnTo>
                  <a:lnTo>
                    <a:pt x="145"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87" name="Freeform 216">
              <a:extLst>
                <a:ext uri="{FF2B5EF4-FFF2-40B4-BE49-F238E27FC236}">
                  <a16:creationId xmlns:a16="http://schemas.microsoft.com/office/drawing/2014/main" id="{3B933EBB-79EB-4A77-B364-866379A958DB}"/>
                </a:ext>
              </a:extLst>
            </p:cNvPr>
            <p:cNvSpPr>
              <a:spLocks noChangeArrowheads="1"/>
            </p:cNvSpPr>
            <p:nvPr/>
          </p:nvSpPr>
          <p:spPr bwMode="auto">
            <a:xfrm>
              <a:off x="2205038" y="2940051"/>
              <a:ext cx="57150" cy="57150"/>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70" y="139"/>
                  </a:moveTo>
                  <a:lnTo>
                    <a:pt x="70" y="139"/>
                  </a:lnTo>
                  <a:cubicBezTo>
                    <a:pt x="31" y="139"/>
                    <a:pt x="0" y="107"/>
                    <a:pt x="0" y="69"/>
                  </a:cubicBezTo>
                  <a:cubicBezTo>
                    <a:pt x="0" y="31"/>
                    <a:pt x="31" y="0"/>
                    <a:pt x="70" y="0"/>
                  </a:cubicBezTo>
                  <a:cubicBezTo>
                    <a:pt x="108" y="0"/>
                    <a:pt x="139" y="31"/>
                    <a:pt x="139" y="69"/>
                  </a:cubicBezTo>
                  <a:cubicBezTo>
                    <a:pt x="139" y="107"/>
                    <a:pt x="108" y="139"/>
                    <a:pt x="70"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sp>
          <p:nvSpPr>
            <p:cNvPr id="988" name="Freeform 217">
              <a:extLst>
                <a:ext uri="{FF2B5EF4-FFF2-40B4-BE49-F238E27FC236}">
                  <a16:creationId xmlns:a16="http://schemas.microsoft.com/office/drawing/2014/main" id="{F02E9D92-1414-4F90-A150-13DFFB7EE2E8}"/>
                </a:ext>
              </a:extLst>
            </p:cNvPr>
            <p:cNvSpPr>
              <a:spLocks noChangeArrowheads="1"/>
            </p:cNvSpPr>
            <p:nvPr/>
          </p:nvSpPr>
          <p:spPr bwMode="auto">
            <a:xfrm>
              <a:off x="2293938" y="2940051"/>
              <a:ext cx="58738" cy="57150"/>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70" y="139"/>
                  </a:moveTo>
                  <a:lnTo>
                    <a:pt x="70" y="139"/>
                  </a:lnTo>
                  <a:cubicBezTo>
                    <a:pt x="31" y="139"/>
                    <a:pt x="0" y="107"/>
                    <a:pt x="0" y="69"/>
                  </a:cubicBezTo>
                  <a:cubicBezTo>
                    <a:pt x="0" y="31"/>
                    <a:pt x="31" y="0"/>
                    <a:pt x="70" y="0"/>
                  </a:cubicBezTo>
                  <a:cubicBezTo>
                    <a:pt x="108" y="0"/>
                    <a:pt x="139" y="31"/>
                    <a:pt x="139" y="69"/>
                  </a:cubicBezTo>
                  <a:cubicBezTo>
                    <a:pt x="139" y="107"/>
                    <a:pt x="108" y="139"/>
                    <a:pt x="70"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349">
                <a:solidFill>
                  <a:srgbClr val="1D1D1A"/>
                </a:solidFill>
                <a:latin typeface=" 微软雅黑"/>
                <a:ea typeface="黑体" panose="02010609060101010101" pitchFamily="49" charset="-122"/>
              </a:endParaRPr>
            </a:p>
          </p:txBody>
        </p:sp>
      </p:grpSp>
      <p:grpSp>
        <p:nvGrpSpPr>
          <p:cNvPr id="989" name="组合 315">
            <a:extLst>
              <a:ext uri="{FF2B5EF4-FFF2-40B4-BE49-F238E27FC236}">
                <a16:creationId xmlns:a16="http://schemas.microsoft.com/office/drawing/2014/main" id="{F3B837D1-7C21-4CDA-88BC-67301198236D}"/>
              </a:ext>
            </a:extLst>
          </p:cNvPr>
          <p:cNvGrpSpPr>
            <a:grpSpLocks/>
          </p:cNvGrpSpPr>
          <p:nvPr/>
        </p:nvGrpSpPr>
        <p:grpSpPr bwMode="auto">
          <a:xfrm>
            <a:off x="520428" y="1889027"/>
            <a:ext cx="286530" cy="62313"/>
            <a:chOff x="2851150" y="1166813"/>
            <a:chExt cx="923925" cy="203200"/>
          </a:xfrm>
        </p:grpSpPr>
        <p:sp>
          <p:nvSpPr>
            <p:cNvPr id="990" name="Freeform 240">
              <a:extLst>
                <a:ext uri="{FF2B5EF4-FFF2-40B4-BE49-F238E27FC236}">
                  <a16:creationId xmlns:a16="http://schemas.microsoft.com/office/drawing/2014/main" id="{031DD47E-3C3F-4D9B-91E9-5CA43AA02763}"/>
                </a:ext>
              </a:extLst>
            </p:cNvPr>
            <p:cNvSpPr>
              <a:spLocks noChangeArrowheads="1"/>
            </p:cNvSpPr>
            <p:nvPr/>
          </p:nvSpPr>
          <p:spPr bwMode="auto">
            <a:xfrm>
              <a:off x="2851150" y="1166813"/>
              <a:ext cx="923925" cy="188913"/>
            </a:xfrm>
            <a:custGeom>
              <a:avLst/>
              <a:gdLst>
                <a:gd name="T0" fmla="*/ 2147483646 w 2201"/>
                <a:gd name="T1" fmla="*/ 2147483646 h 447"/>
                <a:gd name="T2" fmla="*/ 2147483646 w 2201"/>
                <a:gd name="T3" fmla="*/ 2147483646 h 447"/>
                <a:gd name="T4" fmla="*/ 2147483646 w 2201"/>
                <a:gd name="T5" fmla="*/ 2147483646 h 447"/>
                <a:gd name="T6" fmla="*/ 2147483646 w 2201"/>
                <a:gd name="T7" fmla="*/ 2147483646 h 447"/>
                <a:gd name="T8" fmla="*/ 2147483646 w 2201"/>
                <a:gd name="T9" fmla="*/ 2147483646 h 447"/>
                <a:gd name="T10" fmla="*/ 2147483646 w 2201"/>
                <a:gd name="T11" fmla="*/ 2147483646 h 447"/>
                <a:gd name="T12" fmla="*/ 2147483646 w 2201"/>
                <a:gd name="T13" fmla="*/ 2147483646 h 447"/>
                <a:gd name="T14" fmla="*/ 2147483646 w 2201"/>
                <a:gd name="T15" fmla="*/ 2147483646 h 447"/>
                <a:gd name="T16" fmla="*/ 2147483646 w 2201"/>
                <a:gd name="T17" fmla="*/ 2147483646 h 447"/>
                <a:gd name="T18" fmla="*/ 2147483646 w 2201"/>
                <a:gd name="T19" fmla="*/ 2147483646 h 447"/>
                <a:gd name="T20" fmla="*/ 2147483646 w 2201"/>
                <a:gd name="T21" fmla="*/ 2147483646 h 447"/>
                <a:gd name="T22" fmla="*/ 2147483646 w 2201"/>
                <a:gd name="T23" fmla="*/ 2147483646 h 447"/>
                <a:gd name="T24" fmla="*/ 2147483646 w 2201"/>
                <a:gd name="T25" fmla="*/ 2147483646 h 447"/>
                <a:gd name="T26" fmla="*/ 2147483646 w 2201"/>
                <a:gd name="T27" fmla="*/ 2147483646 h 447"/>
                <a:gd name="T28" fmla="*/ 2147483646 w 2201"/>
                <a:gd name="T29" fmla="*/ 2147483646 h 447"/>
                <a:gd name="T30" fmla="*/ 2147483646 w 2201"/>
                <a:gd name="T31" fmla="*/ 2147483646 h 447"/>
                <a:gd name="T32" fmla="*/ 2147483646 w 2201"/>
                <a:gd name="T33" fmla="*/ 2147483646 h 447"/>
                <a:gd name="T34" fmla="*/ 0 w 2201"/>
                <a:gd name="T35" fmla="*/ 2147483646 h 447"/>
                <a:gd name="T36" fmla="*/ 0 w 2201"/>
                <a:gd name="T37" fmla="*/ 2147483646 h 447"/>
                <a:gd name="T38" fmla="*/ 2147483646 w 2201"/>
                <a:gd name="T39" fmla="*/ 0 h 447"/>
                <a:gd name="T40" fmla="*/ 2147483646 w 2201"/>
                <a:gd name="T41" fmla="*/ 0 h 447"/>
                <a:gd name="T42" fmla="*/ 2147483646 w 2201"/>
                <a:gd name="T43" fmla="*/ 2147483646 h 447"/>
                <a:gd name="T44" fmla="*/ 2147483646 w 2201"/>
                <a:gd name="T45" fmla="*/ 2147483646 h 447"/>
                <a:gd name="T46" fmla="*/ 2147483646 w 2201"/>
                <a:gd name="T47" fmla="*/ 2147483646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991" name="Freeform 241">
              <a:extLst>
                <a:ext uri="{FF2B5EF4-FFF2-40B4-BE49-F238E27FC236}">
                  <a16:creationId xmlns:a16="http://schemas.microsoft.com/office/drawing/2014/main" id="{7A59FADE-0B87-4DE1-B09B-F22972AA5418}"/>
                </a:ext>
              </a:extLst>
            </p:cNvPr>
            <p:cNvSpPr>
              <a:spLocks noChangeArrowheads="1"/>
            </p:cNvSpPr>
            <p:nvPr/>
          </p:nvSpPr>
          <p:spPr bwMode="auto">
            <a:xfrm>
              <a:off x="2940050" y="1230313"/>
              <a:ext cx="68263"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992" name="Freeform 242">
              <a:extLst>
                <a:ext uri="{FF2B5EF4-FFF2-40B4-BE49-F238E27FC236}">
                  <a16:creationId xmlns:a16="http://schemas.microsoft.com/office/drawing/2014/main" id="{8626F943-7230-40C2-85BF-FCF13B1F83F6}"/>
                </a:ext>
              </a:extLst>
            </p:cNvPr>
            <p:cNvSpPr>
              <a:spLocks noChangeArrowheads="1"/>
            </p:cNvSpPr>
            <p:nvPr/>
          </p:nvSpPr>
          <p:spPr bwMode="auto">
            <a:xfrm>
              <a:off x="3041650" y="1230313"/>
              <a:ext cx="68263"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993" name="Freeform 243">
              <a:extLst>
                <a:ext uri="{FF2B5EF4-FFF2-40B4-BE49-F238E27FC236}">
                  <a16:creationId xmlns:a16="http://schemas.microsoft.com/office/drawing/2014/main" id="{8C1DDA7B-4CAC-4DD6-87C7-8CB5548ACAEB}"/>
                </a:ext>
              </a:extLst>
            </p:cNvPr>
            <p:cNvSpPr>
              <a:spLocks noChangeArrowheads="1"/>
            </p:cNvSpPr>
            <p:nvPr/>
          </p:nvSpPr>
          <p:spPr bwMode="auto">
            <a:xfrm>
              <a:off x="3143250" y="1230313"/>
              <a:ext cx="68263" cy="50800"/>
            </a:xfrm>
            <a:custGeom>
              <a:avLst/>
              <a:gdLst>
                <a:gd name="T0" fmla="*/ 0 w 160"/>
                <a:gd name="T1" fmla="*/ 2147483646 h 123"/>
                <a:gd name="T2" fmla="*/ 0 w 160"/>
                <a:gd name="T3" fmla="*/ 2147483646 h 123"/>
                <a:gd name="T4" fmla="*/ 2147483646 w 160"/>
                <a:gd name="T5" fmla="*/ 2147483646 h 123"/>
                <a:gd name="T6" fmla="*/ 2147483646 w 160"/>
                <a:gd name="T7" fmla="*/ 2147483646 h 123"/>
                <a:gd name="T8" fmla="*/ 2147483646 w 160"/>
                <a:gd name="T9" fmla="*/ 2147483646 h 123"/>
                <a:gd name="T10" fmla="*/ 2147483646 w 160"/>
                <a:gd name="T11" fmla="*/ 0 h 123"/>
                <a:gd name="T12" fmla="*/ 2147483646 w 160"/>
                <a:gd name="T13" fmla="*/ 0 h 123"/>
                <a:gd name="T14" fmla="*/ 2147483646 w 160"/>
                <a:gd name="T15" fmla="*/ 2147483646 h 123"/>
                <a:gd name="T16" fmla="*/ 0 w 160"/>
                <a:gd name="T17" fmla="*/ 2147483646 h 123"/>
                <a:gd name="T18" fmla="*/ 0 w 160"/>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994" name="Freeform 244">
              <a:extLst>
                <a:ext uri="{FF2B5EF4-FFF2-40B4-BE49-F238E27FC236}">
                  <a16:creationId xmlns:a16="http://schemas.microsoft.com/office/drawing/2014/main" id="{1E30D717-8E20-4258-AB7F-72944016453D}"/>
                </a:ext>
              </a:extLst>
            </p:cNvPr>
            <p:cNvSpPr>
              <a:spLocks noChangeArrowheads="1"/>
            </p:cNvSpPr>
            <p:nvPr/>
          </p:nvSpPr>
          <p:spPr bwMode="auto">
            <a:xfrm>
              <a:off x="3244850" y="1230313"/>
              <a:ext cx="66675"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995" name="Freeform 245">
              <a:extLst>
                <a:ext uri="{FF2B5EF4-FFF2-40B4-BE49-F238E27FC236}">
                  <a16:creationId xmlns:a16="http://schemas.microsoft.com/office/drawing/2014/main" id="{1792037B-474E-4988-9527-4319624A5393}"/>
                </a:ext>
              </a:extLst>
            </p:cNvPr>
            <p:cNvSpPr>
              <a:spLocks noChangeArrowheads="1"/>
            </p:cNvSpPr>
            <p:nvPr/>
          </p:nvSpPr>
          <p:spPr bwMode="auto">
            <a:xfrm>
              <a:off x="3346450" y="1230313"/>
              <a:ext cx="66675"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996" name="Freeform 246">
              <a:extLst>
                <a:ext uri="{FF2B5EF4-FFF2-40B4-BE49-F238E27FC236}">
                  <a16:creationId xmlns:a16="http://schemas.microsoft.com/office/drawing/2014/main" id="{F179CCBD-2F4D-4537-8B12-D284F1B8FB4B}"/>
                </a:ext>
              </a:extLst>
            </p:cNvPr>
            <p:cNvSpPr>
              <a:spLocks noChangeArrowheads="1"/>
            </p:cNvSpPr>
            <p:nvPr/>
          </p:nvSpPr>
          <p:spPr bwMode="auto">
            <a:xfrm>
              <a:off x="3522663" y="1219200"/>
              <a:ext cx="127000" cy="30163"/>
            </a:xfrm>
            <a:custGeom>
              <a:avLst/>
              <a:gdLst>
                <a:gd name="T0" fmla="*/ 2147483646 w 303"/>
                <a:gd name="T1" fmla="*/ 2147483646 h 72"/>
                <a:gd name="T2" fmla="*/ 2147483646 w 303"/>
                <a:gd name="T3" fmla="*/ 2147483646 h 72"/>
                <a:gd name="T4" fmla="*/ 0 w 303"/>
                <a:gd name="T5" fmla="*/ 2147483646 h 72"/>
                <a:gd name="T6" fmla="*/ 0 w 303"/>
                <a:gd name="T7" fmla="*/ 0 h 72"/>
                <a:gd name="T8" fmla="*/ 2147483646 w 303"/>
                <a:gd name="T9" fmla="*/ 0 h 72"/>
                <a:gd name="T10" fmla="*/ 2147483646 w 303"/>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3" h="72">
                  <a:moveTo>
                    <a:pt x="303" y="72"/>
                  </a:moveTo>
                  <a:lnTo>
                    <a:pt x="303" y="72"/>
                  </a:lnTo>
                  <a:lnTo>
                    <a:pt x="0" y="72"/>
                  </a:lnTo>
                  <a:lnTo>
                    <a:pt x="0" y="0"/>
                  </a:lnTo>
                  <a:lnTo>
                    <a:pt x="303" y="0"/>
                  </a:lnTo>
                  <a:lnTo>
                    <a:pt x="303" y="72"/>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997" name="Freeform 247">
              <a:extLst>
                <a:ext uri="{FF2B5EF4-FFF2-40B4-BE49-F238E27FC236}">
                  <a16:creationId xmlns:a16="http://schemas.microsoft.com/office/drawing/2014/main" id="{C7CE00FD-3CAC-4BEF-81E1-0A6A99197EF6}"/>
                </a:ext>
              </a:extLst>
            </p:cNvPr>
            <p:cNvSpPr>
              <a:spLocks noChangeArrowheads="1"/>
            </p:cNvSpPr>
            <p:nvPr/>
          </p:nvSpPr>
          <p:spPr bwMode="auto">
            <a:xfrm>
              <a:off x="3544888" y="1311275"/>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998" name="Freeform 248">
              <a:extLst>
                <a:ext uri="{FF2B5EF4-FFF2-40B4-BE49-F238E27FC236}">
                  <a16:creationId xmlns:a16="http://schemas.microsoft.com/office/drawing/2014/main" id="{8B5FA0B4-0457-41FD-94EE-BB954069AF3A}"/>
                </a:ext>
              </a:extLst>
            </p:cNvPr>
            <p:cNvSpPr>
              <a:spLocks noChangeArrowheads="1"/>
            </p:cNvSpPr>
            <p:nvPr/>
          </p:nvSpPr>
          <p:spPr bwMode="auto">
            <a:xfrm>
              <a:off x="3633788" y="1311275"/>
              <a:ext cx="58738" cy="58738"/>
            </a:xfrm>
            <a:custGeom>
              <a:avLst/>
              <a:gdLst>
                <a:gd name="T0" fmla="*/ 2147483646 w 138"/>
                <a:gd name="T1" fmla="*/ 2147483646 h 139"/>
                <a:gd name="T2" fmla="*/ 2147483646 w 138"/>
                <a:gd name="T3" fmla="*/ 2147483646 h 139"/>
                <a:gd name="T4" fmla="*/ 0 w 138"/>
                <a:gd name="T5" fmla="*/ 2147483646 h 139"/>
                <a:gd name="T6" fmla="*/ 2147483646 w 138"/>
                <a:gd name="T7" fmla="*/ 0 h 139"/>
                <a:gd name="T8" fmla="*/ 2147483646 w 138"/>
                <a:gd name="T9" fmla="*/ 2147483646 h 139"/>
                <a:gd name="T10" fmla="*/ 2147483646 w 138"/>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999" name="Freeform 249">
              <a:extLst>
                <a:ext uri="{FF2B5EF4-FFF2-40B4-BE49-F238E27FC236}">
                  <a16:creationId xmlns:a16="http://schemas.microsoft.com/office/drawing/2014/main" id="{17F74B6E-862C-4359-B75C-57D5DDAE909F}"/>
                </a:ext>
              </a:extLst>
            </p:cNvPr>
            <p:cNvSpPr>
              <a:spLocks noChangeArrowheads="1"/>
            </p:cNvSpPr>
            <p:nvPr/>
          </p:nvSpPr>
          <p:spPr bwMode="auto">
            <a:xfrm>
              <a:off x="3522663" y="1260475"/>
              <a:ext cx="31750" cy="31750"/>
            </a:xfrm>
            <a:custGeom>
              <a:avLst/>
              <a:gdLst>
                <a:gd name="T0" fmla="*/ 2147483646 w 73"/>
                <a:gd name="T1" fmla="*/ 2147483646 h 73"/>
                <a:gd name="T2" fmla="*/ 2147483646 w 73"/>
                <a:gd name="T3" fmla="*/ 2147483646 h 73"/>
                <a:gd name="T4" fmla="*/ 0 w 73"/>
                <a:gd name="T5" fmla="*/ 2147483646 h 73"/>
                <a:gd name="T6" fmla="*/ 0 w 73"/>
                <a:gd name="T7" fmla="*/ 0 h 73"/>
                <a:gd name="T8" fmla="*/ 2147483646 w 73"/>
                <a:gd name="T9" fmla="*/ 0 h 73"/>
                <a:gd name="T10" fmla="*/ 2147483646 w 73"/>
                <a:gd name="T11" fmla="*/ 2147483646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73">
                  <a:moveTo>
                    <a:pt x="73" y="73"/>
                  </a:moveTo>
                  <a:lnTo>
                    <a:pt x="73" y="73"/>
                  </a:lnTo>
                  <a:lnTo>
                    <a:pt x="0" y="73"/>
                  </a:lnTo>
                  <a:lnTo>
                    <a:pt x="0" y="0"/>
                  </a:lnTo>
                  <a:lnTo>
                    <a:pt x="73" y="0"/>
                  </a:lnTo>
                  <a:lnTo>
                    <a:pt x="73" y="7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00" name="Freeform 250">
              <a:extLst>
                <a:ext uri="{FF2B5EF4-FFF2-40B4-BE49-F238E27FC236}">
                  <a16:creationId xmlns:a16="http://schemas.microsoft.com/office/drawing/2014/main" id="{3569194D-E7A8-4AB9-A68C-FE36AF20B6D2}"/>
                </a:ext>
              </a:extLst>
            </p:cNvPr>
            <p:cNvSpPr>
              <a:spLocks noChangeArrowheads="1"/>
            </p:cNvSpPr>
            <p:nvPr/>
          </p:nvSpPr>
          <p:spPr bwMode="auto">
            <a:xfrm>
              <a:off x="3571875" y="1260475"/>
              <a:ext cx="30163" cy="31750"/>
            </a:xfrm>
            <a:custGeom>
              <a:avLst/>
              <a:gdLst>
                <a:gd name="T0" fmla="*/ 2147483646 w 73"/>
                <a:gd name="T1" fmla="*/ 2147483646 h 73"/>
                <a:gd name="T2" fmla="*/ 2147483646 w 73"/>
                <a:gd name="T3" fmla="*/ 2147483646 h 73"/>
                <a:gd name="T4" fmla="*/ 0 w 73"/>
                <a:gd name="T5" fmla="*/ 2147483646 h 73"/>
                <a:gd name="T6" fmla="*/ 0 w 73"/>
                <a:gd name="T7" fmla="*/ 0 h 73"/>
                <a:gd name="T8" fmla="*/ 2147483646 w 73"/>
                <a:gd name="T9" fmla="*/ 0 h 73"/>
                <a:gd name="T10" fmla="*/ 2147483646 w 73"/>
                <a:gd name="T11" fmla="*/ 2147483646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73">
                  <a:moveTo>
                    <a:pt x="73" y="73"/>
                  </a:moveTo>
                  <a:lnTo>
                    <a:pt x="73" y="73"/>
                  </a:lnTo>
                  <a:lnTo>
                    <a:pt x="0" y="73"/>
                  </a:lnTo>
                  <a:lnTo>
                    <a:pt x="0" y="0"/>
                  </a:lnTo>
                  <a:lnTo>
                    <a:pt x="73" y="0"/>
                  </a:lnTo>
                  <a:lnTo>
                    <a:pt x="73" y="7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01" name="Freeform 251">
              <a:extLst>
                <a:ext uri="{FF2B5EF4-FFF2-40B4-BE49-F238E27FC236}">
                  <a16:creationId xmlns:a16="http://schemas.microsoft.com/office/drawing/2014/main" id="{DC757B6F-464D-4801-AF2B-AB36AC7364DA}"/>
                </a:ext>
              </a:extLst>
            </p:cNvPr>
            <p:cNvSpPr>
              <a:spLocks noChangeArrowheads="1"/>
            </p:cNvSpPr>
            <p:nvPr/>
          </p:nvSpPr>
          <p:spPr bwMode="auto">
            <a:xfrm>
              <a:off x="3619500" y="1260475"/>
              <a:ext cx="30163" cy="31750"/>
            </a:xfrm>
            <a:custGeom>
              <a:avLst/>
              <a:gdLst>
                <a:gd name="T0" fmla="*/ 2147483646 w 73"/>
                <a:gd name="T1" fmla="*/ 2147483646 h 73"/>
                <a:gd name="T2" fmla="*/ 2147483646 w 73"/>
                <a:gd name="T3" fmla="*/ 2147483646 h 73"/>
                <a:gd name="T4" fmla="*/ 0 w 73"/>
                <a:gd name="T5" fmla="*/ 2147483646 h 73"/>
                <a:gd name="T6" fmla="*/ 0 w 73"/>
                <a:gd name="T7" fmla="*/ 0 h 73"/>
                <a:gd name="T8" fmla="*/ 2147483646 w 73"/>
                <a:gd name="T9" fmla="*/ 0 h 73"/>
                <a:gd name="T10" fmla="*/ 2147483646 w 73"/>
                <a:gd name="T11" fmla="*/ 2147483646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73">
                  <a:moveTo>
                    <a:pt x="73" y="73"/>
                  </a:moveTo>
                  <a:lnTo>
                    <a:pt x="73" y="73"/>
                  </a:lnTo>
                  <a:lnTo>
                    <a:pt x="0" y="73"/>
                  </a:lnTo>
                  <a:lnTo>
                    <a:pt x="0" y="0"/>
                  </a:lnTo>
                  <a:lnTo>
                    <a:pt x="73" y="0"/>
                  </a:lnTo>
                  <a:lnTo>
                    <a:pt x="73" y="7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grpSp>
      <p:grpSp>
        <p:nvGrpSpPr>
          <p:cNvPr id="1002" name="组合 315">
            <a:extLst>
              <a:ext uri="{FF2B5EF4-FFF2-40B4-BE49-F238E27FC236}">
                <a16:creationId xmlns:a16="http://schemas.microsoft.com/office/drawing/2014/main" id="{68A72266-DCF5-4FA1-9954-4A8011E9595F}"/>
              </a:ext>
            </a:extLst>
          </p:cNvPr>
          <p:cNvGrpSpPr>
            <a:grpSpLocks/>
          </p:cNvGrpSpPr>
          <p:nvPr/>
        </p:nvGrpSpPr>
        <p:grpSpPr bwMode="auto">
          <a:xfrm>
            <a:off x="1062425" y="1889027"/>
            <a:ext cx="286530" cy="62313"/>
            <a:chOff x="2851150" y="1166813"/>
            <a:chExt cx="923925" cy="203200"/>
          </a:xfrm>
        </p:grpSpPr>
        <p:sp>
          <p:nvSpPr>
            <p:cNvPr id="1003" name="Freeform 240">
              <a:extLst>
                <a:ext uri="{FF2B5EF4-FFF2-40B4-BE49-F238E27FC236}">
                  <a16:creationId xmlns:a16="http://schemas.microsoft.com/office/drawing/2014/main" id="{E5A3EA86-CAC5-4752-AA0E-6667F6078729}"/>
                </a:ext>
              </a:extLst>
            </p:cNvPr>
            <p:cNvSpPr>
              <a:spLocks noChangeArrowheads="1"/>
            </p:cNvSpPr>
            <p:nvPr/>
          </p:nvSpPr>
          <p:spPr bwMode="auto">
            <a:xfrm>
              <a:off x="2851150" y="1166813"/>
              <a:ext cx="923925" cy="188913"/>
            </a:xfrm>
            <a:custGeom>
              <a:avLst/>
              <a:gdLst>
                <a:gd name="T0" fmla="*/ 2147483646 w 2201"/>
                <a:gd name="T1" fmla="*/ 2147483646 h 447"/>
                <a:gd name="T2" fmla="*/ 2147483646 w 2201"/>
                <a:gd name="T3" fmla="*/ 2147483646 h 447"/>
                <a:gd name="T4" fmla="*/ 2147483646 w 2201"/>
                <a:gd name="T5" fmla="*/ 2147483646 h 447"/>
                <a:gd name="T6" fmla="*/ 2147483646 w 2201"/>
                <a:gd name="T7" fmla="*/ 2147483646 h 447"/>
                <a:gd name="T8" fmla="*/ 2147483646 w 2201"/>
                <a:gd name="T9" fmla="*/ 2147483646 h 447"/>
                <a:gd name="T10" fmla="*/ 2147483646 w 2201"/>
                <a:gd name="T11" fmla="*/ 2147483646 h 447"/>
                <a:gd name="T12" fmla="*/ 2147483646 w 2201"/>
                <a:gd name="T13" fmla="*/ 2147483646 h 447"/>
                <a:gd name="T14" fmla="*/ 2147483646 w 2201"/>
                <a:gd name="T15" fmla="*/ 2147483646 h 447"/>
                <a:gd name="T16" fmla="*/ 2147483646 w 2201"/>
                <a:gd name="T17" fmla="*/ 2147483646 h 447"/>
                <a:gd name="T18" fmla="*/ 2147483646 w 2201"/>
                <a:gd name="T19" fmla="*/ 2147483646 h 447"/>
                <a:gd name="T20" fmla="*/ 2147483646 w 2201"/>
                <a:gd name="T21" fmla="*/ 2147483646 h 447"/>
                <a:gd name="T22" fmla="*/ 2147483646 w 2201"/>
                <a:gd name="T23" fmla="*/ 2147483646 h 447"/>
                <a:gd name="T24" fmla="*/ 2147483646 w 2201"/>
                <a:gd name="T25" fmla="*/ 2147483646 h 447"/>
                <a:gd name="T26" fmla="*/ 2147483646 w 2201"/>
                <a:gd name="T27" fmla="*/ 2147483646 h 447"/>
                <a:gd name="T28" fmla="*/ 2147483646 w 2201"/>
                <a:gd name="T29" fmla="*/ 2147483646 h 447"/>
                <a:gd name="T30" fmla="*/ 2147483646 w 2201"/>
                <a:gd name="T31" fmla="*/ 2147483646 h 447"/>
                <a:gd name="T32" fmla="*/ 2147483646 w 2201"/>
                <a:gd name="T33" fmla="*/ 2147483646 h 447"/>
                <a:gd name="T34" fmla="*/ 0 w 2201"/>
                <a:gd name="T35" fmla="*/ 2147483646 h 447"/>
                <a:gd name="T36" fmla="*/ 0 w 2201"/>
                <a:gd name="T37" fmla="*/ 2147483646 h 447"/>
                <a:gd name="T38" fmla="*/ 2147483646 w 2201"/>
                <a:gd name="T39" fmla="*/ 0 h 447"/>
                <a:gd name="T40" fmla="*/ 2147483646 w 2201"/>
                <a:gd name="T41" fmla="*/ 0 h 447"/>
                <a:gd name="T42" fmla="*/ 2147483646 w 2201"/>
                <a:gd name="T43" fmla="*/ 2147483646 h 447"/>
                <a:gd name="T44" fmla="*/ 2147483646 w 2201"/>
                <a:gd name="T45" fmla="*/ 2147483646 h 447"/>
                <a:gd name="T46" fmla="*/ 2147483646 w 2201"/>
                <a:gd name="T47" fmla="*/ 2147483646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04" name="Freeform 241">
              <a:extLst>
                <a:ext uri="{FF2B5EF4-FFF2-40B4-BE49-F238E27FC236}">
                  <a16:creationId xmlns:a16="http://schemas.microsoft.com/office/drawing/2014/main" id="{57B44A1D-E34F-49AD-B0FE-BB4B34CE83D2}"/>
                </a:ext>
              </a:extLst>
            </p:cNvPr>
            <p:cNvSpPr>
              <a:spLocks noChangeArrowheads="1"/>
            </p:cNvSpPr>
            <p:nvPr/>
          </p:nvSpPr>
          <p:spPr bwMode="auto">
            <a:xfrm>
              <a:off x="2940050" y="1230313"/>
              <a:ext cx="68263"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05" name="Freeform 242">
              <a:extLst>
                <a:ext uri="{FF2B5EF4-FFF2-40B4-BE49-F238E27FC236}">
                  <a16:creationId xmlns:a16="http://schemas.microsoft.com/office/drawing/2014/main" id="{B72B9EC9-BD09-4AE1-AD1F-947C71192FE1}"/>
                </a:ext>
              </a:extLst>
            </p:cNvPr>
            <p:cNvSpPr>
              <a:spLocks noChangeArrowheads="1"/>
            </p:cNvSpPr>
            <p:nvPr/>
          </p:nvSpPr>
          <p:spPr bwMode="auto">
            <a:xfrm>
              <a:off x="3041650" y="1230313"/>
              <a:ext cx="68263"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06" name="Freeform 243">
              <a:extLst>
                <a:ext uri="{FF2B5EF4-FFF2-40B4-BE49-F238E27FC236}">
                  <a16:creationId xmlns:a16="http://schemas.microsoft.com/office/drawing/2014/main" id="{6D280BAF-57C0-4401-9207-9CFD1029EE29}"/>
                </a:ext>
              </a:extLst>
            </p:cNvPr>
            <p:cNvSpPr>
              <a:spLocks noChangeArrowheads="1"/>
            </p:cNvSpPr>
            <p:nvPr/>
          </p:nvSpPr>
          <p:spPr bwMode="auto">
            <a:xfrm>
              <a:off x="3143250" y="1230313"/>
              <a:ext cx="68263" cy="50800"/>
            </a:xfrm>
            <a:custGeom>
              <a:avLst/>
              <a:gdLst>
                <a:gd name="T0" fmla="*/ 0 w 160"/>
                <a:gd name="T1" fmla="*/ 2147483646 h 123"/>
                <a:gd name="T2" fmla="*/ 0 w 160"/>
                <a:gd name="T3" fmla="*/ 2147483646 h 123"/>
                <a:gd name="T4" fmla="*/ 2147483646 w 160"/>
                <a:gd name="T5" fmla="*/ 2147483646 h 123"/>
                <a:gd name="T6" fmla="*/ 2147483646 w 160"/>
                <a:gd name="T7" fmla="*/ 2147483646 h 123"/>
                <a:gd name="T8" fmla="*/ 2147483646 w 160"/>
                <a:gd name="T9" fmla="*/ 2147483646 h 123"/>
                <a:gd name="T10" fmla="*/ 2147483646 w 160"/>
                <a:gd name="T11" fmla="*/ 0 h 123"/>
                <a:gd name="T12" fmla="*/ 2147483646 w 160"/>
                <a:gd name="T13" fmla="*/ 0 h 123"/>
                <a:gd name="T14" fmla="*/ 2147483646 w 160"/>
                <a:gd name="T15" fmla="*/ 2147483646 h 123"/>
                <a:gd name="T16" fmla="*/ 0 w 160"/>
                <a:gd name="T17" fmla="*/ 2147483646 h 123"/>
                <a:gd name="T18" fmla="*/ 0 w 160"/>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07" name="Freeform 244">
              <a:extLst>
                <a:ext uri="{FF2B5EF4-FFF2-40B4-BE49-F238E27FC236}">
                  <a16:creationId xmlns:a16="http://schemas.microsoft.com/office/drawing/2014/main" id="{8512E1D4-4101-43FE-B5FF-C2702BD82C75}"/>
                </a:ext>
              </a:extLst>
            </p:cNvPr>
            <p:cNvSpPr>
              <a:spLocks noChangeArrowheads="1"/>
            </p:cNvSpPr>
            <p:nvPr/>
          </p:nvSpPr>
          <p:spPr bwMode="auto">
            <a:xfrm>
              <a:off x="3244850" y="1230313"/>
              <a:ext cx="66675"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08" name="Freeform 245">
              <a:extLst>
                <a:ext uri="{FF2B5EF4-FFF2-40B4-BE49-F238E27FC236}">
                  <a16:creationId xmlns:a16="http://schemas.microsoft.com/office/drawing/2014/main" id="{FF6DF62A-F2DC-4CFC-8732-A4019F10E2B0}"/>
                </a:ext>
              </a:extLst>
            </p:cNvPr>
            <p:cNvSpPr>
              <a:spLocks noChangeArrowheads="1"/>
            </p:cNvSpPr>
            <p:nvPr/>
          </p:nvSpPr>
          <p:spPr bwMode="auto">
            <a:xfrm>
              <a:off x="3346450" y="1230313"/>
              <a:ext cx="66675"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09" name="Freeform 246">
              <a:extLst>
                <a:ext uri="{FF2B5EF4-FFF2-40B4-BE49-F238E27FC236}">
                  <a16:creationId xmlns:a16="http://schemas.microsoft.com/office/drawing/2014/main" id="{8BF2F4FA-6AF0-4416-A519-139FD9E3F669}"/>
                </a:ext>
              </a:extLst>
            </p:cNvPr>
            <p:cNvSpPr>
              <a:spLocks noChangeArrowheads="1"/>
            </p:cNvSpPr>
            <p:nvPr/>
          </p:nvSpPr>
          <p:spPr bwMode="auto">
            <a:xfrm>
              <a:off x="3522663" y="1219200"/>
              <a:ext cx="127000" cy="30163"/>
            </a:xfrm>
            <a:custGeom>
              <a:avLst/>
              <a:gdLst>
                <a:gd name="T0" fmla="*/ 2147483646 w 303"/>
                <a:gd name="T1" fmla="*/ 2147483646 h 72"/>
                <a:gd name="T2" fmla="*/ 2147483646 w 303"/>
                <a:gd name="T3" fmla="*/ 2147483646 h 72"/>
                <a:gd name="T4" fmla="*/ 0 w 303"/>
                <a:gd name="T5" fmla="*/ 2147483646 h 72"/>
                <a:gd name="T6" fmla="*/ 0 w 303"/>
                <a:gd name="T7" fmla="*/ 0 h 72"/>
                <a:gd name="T8" fmla="*/ 2147483646 w 303"/>
                <a:gd name="T9" fmla="*/ 0 h 72"/>
                <a:gd name="T10" fmla="*/ 2147483646 w 303"/>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3" h="72">
                  <a:moveTo>
                    <a:pt x="303" y="72"/>
                  </a:moveTo>
                  <a:lnTo>
                    <a:pt x="303" y="72"/>
                  </a:lnTo>
                  <a:lnTo>
                    <a:pt x="0" y="72"/>
                  </a:lnTo>
                  <a:lnTo>
                    <a:pt x="0" y="0"/>
                  </a:lnTo>
                  <a:lnTo>
                    <a:pt x="303" y="0"/>
                  </a:lnTo>
                  <a:lnTo>
                    <a:pt x="303" y="72"/>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10" name="Freeform 247">
              <a:extLst>
                <a:ext uri="{FF2B5EF4-FFF2-40B4-BE49-F238E27FC236}">
                  <a16:creationId xmlns:a16="http://schemas.microsoft.com/office/drawing/2014/main" id="{92172CDC-1A23-4BD8-9814-C2AEFF13C59E}"/>
                </a:ext>
              </a:extLst>
            </p:cNvPr>
            <p:cNvSpPr>
              <a:spLocks noChangeArrowheads="1"/>
            </p:cNvSpPr>
            <p:nvPr/>
          </p:nvSpPr>
          <p:spPr bwMode="auto">
            <a:xfrm>
              <a:off x="3544888" y="1311275"/>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11" name="Freeform 248">
              <a:extLst>
                <a:ext uri="{FF2B5EF4-FFF2-40B4-BE49-F238E27FC236}">
                  <a16:creationId xmlns:a16="http://schemas.microsoft.com/office/drawing/2014/main" id="{4A5B567E-EBA0-4197-BAE3-335C9DB28B57}"/>
                </a:ext>
              </a:extLst>
            </p:cNvPr>
            <p:cNvSpPr>
              <a:spLocks noChangeArrowheads="1"/>
            </p:cNvSpPr>
            <p:nvPr/>
          </p:nvSpPr>
          <p:spPr bwMode="auto">
            <a:xfrm>
              <a:off x="3633788" y="1311275"/>
              <a:ext cx="58738" cy="58738"/>
            </a:xfrm>
            <a:custGeom>
              <a:avLst/>
              <a:gdLst>
                <a:gd name="T0" fmla="*/ 2147483646 w 138"/>
                <a:gd name="T1" fmla="*/ 2147483646 h 139"/>
                <a:gd name="T2" fmla="*/ 2147483646 w 138"/>
                <a:gd name="T3" fmla="*/ 2147483646 h 139"/>
                <a:gd name="T4" fmla="*/ 0 w 138"/>
                <a:gd name="T5" fmla="*/ 2147483646 h 139"/>
                <a:gd name="T6" fmla="*/ 2147483646 w 138"/>
                <a:gd name="T7" fmla="*/ 0 h 139"/>
                <a:gd name="T8" fmla="*/ 2147483646 w 138"/>
                <a:gd name="T9" fmla="*/ 2147483646 h 139"/>
                <a:gd name="T10" fmla="*/ 2147483646 w 138"/>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12" name="Freeform 249">
              <a:extLst>
                <a:ext uri="{FF2B5EF4-FFF2-40B4-BE49-F238E27FC236}">
                  <a16:creationId xmlns:a16="http://schemas.microsoft.com/office/drawing/2014/main" id="{5AFD8C02-B277-49A4-B2B5-5D51FA2C60C5}"/>
                </a:ext>
              </a:extLst>
            </p:cNvPr>
            <p:cNvSpPr>
              <a:spLocks noChangeArrowheads="1"/>
            </p:cNvSpPr>
            <p:nvPr/>
          </p:nvSpPr>
          <p:spPr bwMode="auto">
            <a:xfrm>
              <a:off x="3522663" y="1260475"/>
              <a:ext cx="31750" cy="31750"/>
            </a:xfrm>
            <a:custGeom>
              <a:avLst/>
              <a:gdLst>
                <a:gd name="T0" fmla="*/ 2147483646 w 73"/>
                <a:gd name="T1" fmla="*/ 2147483646 h 73"/>
                <a:gd name="T2" fmla="*/ 2147483646 w 73"/>
                <a:gd name="T3" fmla="*/ 2147483646 h 73"/>
                <a:gd name="T4" fmla="*/ 0 w 73"/>
                <a:gd name="T5" fmla="*/ 2147483646 h 73"/>
                <a:gd name="T6" fmla="*/ 0 w 73"/>
                <a:gd name="T7" fmla="*/ 0 h 73"/>
                <a:gd name="T8" fmla="*/ 2147483646 w 73"/>
                <a:gd name="T9" fmla="*/ 0 h 73"/>
                <a:gd name="T10" fmla="*/ 2147483646 w 73"/>
                <a:gd name="T11" fmla="*/ 2147483646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73">
                  <a:moveTo>
                    <a:pt x="73" y="73"/>
                  </a:moveTo>
                  <a:lnTo>
                    <a:pt x="73" y="73"/>
                  </a:lnTo>
                  <a:lnTo>
                    <a:pt x="0" y="73"/>
                  </a:lnTo>
                  <a:lnTo>
                    <a:pt x="0" y="0"/>
                  </a:lnTo>
                  <a:lnTo>
                    <a:pt x="73" y="0"/>
                  </a:lnTo>
                  <a:lnTo>
                    <a:pt x="73" y="7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13" name="Freeform 250">
              <a:extLst>
                <a:ext uri="{FF2B5EF4-FFF2-40B4-BE49-F238E27FC236}">
                  <a16:creationId xmlns:a16="http://schemas.microsoft.com/office/drawing/2014/main" id="{227227FF-6AF9-4E8C-AD01-74BF8B0B41B4}"/>
                </a:ext>
              </a:extLst>
            </p:cNvPr>
            <p:cNvSpPr>
              <a:spLocks noChangeArrowheads="1"/>
            </p:cNvSpPr>
            <p:nvPr/>
          </p:nvSpPr>
          <p:spPr bwMode="auto">
            <a:xfrm>
              <a:off x="3571875" y="1260475"/>
              <a:ext cx="30163" cy="31750"/>
            </a:xfrm>
            <a:custGeom>
              <a:avLst/>
              <a:gdLst>
                <a:gd name="T0" fmla="*/ 2147483646 w 73"/>
                <a:gd name="T1" fmla="*/ 2147483646 h 73"/>
                <a:gd name="T2" fmla="*/ 2147483646 w 73"/>
                <a:gd name="T3" fmla="*/ 2147483646 h 73"/>
                <a:gd name="T4" fmla="*/ 0 w 73"/>
                <a:gd name="T5" fmla="*/ 2147483646 h 73"/>
                <a:gd name="T6" fmla="*/ 0 w 73"/>
                <a:gd name="T7" fmla="*/ 0 h 73"/>
                <a:gd name="T8" fmla="*/ 2147483646 w 73"/>
                <a:gd name="T9" fmla="*/ 0 h 73"/>
                <a:gd name="T10" fmla="*/ 2147483646 w 73"/>
                <a:gd name="T11" fmla="*/ 2147483646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73">
                  <a:moveTo>
                    <a:pt x="73" y="73"/>
                  </a:moveTo>
                  <a:lnTo>
                    <a:pt x="73" y="73"/>
                  </a:lnTo>
                  <a:lnTo>
                    <a:pt x="0" y="73"/>
                  </a:lnTo>
                  <a:lnTo>
                    <a:pt x="0" y="0"/>
                  </a:lnTo>
                  <a:lnTo>
                    <a:pt x="73" y="0"/>
                  </a:lnTo>
                  <a:lnTo>
                    <a:pt x="73" y="7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14" name="Freeform 251">
              <a:extLst>
                <a:ext uri="{FF2B5EF4-FFF2-40B4-BE49-F238E27FC236}">
                  <a16:creationId xmlns:a16="http://schemas.microsoft.com/office/drawing/2014/main" id="{A0187F24-185F-4E78-AE45-971C4DCA707C}"/>
                </a:ext>
              </a:extLst>
            </p:cNvPr>
            <p:cNvSpPr>
              <a:spLocks noChangeArrowheads="1"/>
            </p:cNvSpPr>
            <p:nvPr/>
          </p:nvSpPr>
          <p:spPr bwMode="auto">
            <a:xfrm>
              <a:off x="3619500" y="1260475"/>
              <a:ext cx="30163" cy="31750"/>
            </a:xfrm>
            <a:custGeom>
              <a:avLst/>
              <a:gdLst>
                <a:gd name="T0" fmla="*/ 2147483646 w 73"/>
                <a:gd name="T1" fmla="*/ 2147483646 h 73"/>
                <a:gd name="T2" fmla="*/ 2147483646 w 73"/>
                <a:gd name="T3" fmla="*/ 2147483646 h 73"/>
                <a:gd name="T4" fmla="*/ 0 w 73"/>
                <a:gd name="T5" fmla="*/ 2147483646 h 73"/>
                <a:gd name="T6" fmla="*/ 0 w 73"/>
                <a:gd name="T7" fmla="*/ 0 h 73"/>
                <a:gd name="T8" fmla="*/ 2147483646 w 73"/>
                <a:gd name="T9" fmla="*/ 0 h 73"/>
                <a:gd name="T10" fmla="*/ 2147483646 w 73"/>
                <a:gd name="T11" fmla="*/ 2147483646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73">
                  <a:moveTo>
                    <a:pt x="73" y="73"/>
                  </a:moveTo>
                  <a:lnTo>
                    <a:pt x="73" y="73"/>
                  </a:lnTo>
                  <a:lnTo>
                    <a:pt x="0" y="73"/>
                  </a:lnTo>
                  <a:lnTo>
                    <a:pt x="0" y="0"/>
                  </a:lnTo>
                  <a:lnTo>
                    <a:pt x="73" y="0"/>
                  </a:lnTo>
                  <a:lnTo>
                    <a:pt x="73" y="7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grpSp>
      <p:grpSp>
        <p:nvGrpSpPr>
          <p:cNvPr id="1015" name="组合 315">
            <a:extLst>
              <a:ext uri="{FF2B5EF4-FFF2-40B4-BE49-F238E27FC236}">
                <a16:creationId xmlns:a16="http://schemas.microsoft.com/office/drawing/2014/main" id="{F4DD247D-F00C-4AEE-ABCA-E6CDA7CA23E7}"/>
              </a:ext>
            </a:extLst>
          </p:cNvPr>
          <p:cNvGrpSpPr>
            <a:grpSpLocks/>
          </p:cNvGrpSpPr>
          <p:nvPr/>
        </p:nvGrpSpPr>
        <p:grpSpPr bwMode="auto">
          <a:xfrm>
            <a:off x="1575183" y="1882549"/>
            <a:ext cx="286530" cy="62313"/>
            <a:chOff x="2851150" y="1166813"/>
            <a:chExt cx="923925" cy="203200"/>
          </a:xfrm>
        </p:grpSpPr>
        <p:sp>
          <p:nvSpPr>
            <p:cNvPr id="1016" name="Freeform 240">
              <a:extLst>
                <a:ext uri="{FF2B5EF4-FFF2-40B4-BE49-F238E27FC236}">
                  <a16:creationId xmlns:a16="http://schemas.microsoft.com/office/drawing/2014/main" id="{52817DB5-01A2-4C74-8F6B-F7A853C0204E}"/>
                </a:ext>
              </a:extLst>
            </p:cNvPr>
            <p:cNvSpPr>
              <a:spLocks noChangeArrowheads="1"/>
            </p:cNvSpPr>
            <p:nvPr/>
          </p:nvSpPr>
          <p:spPr bwMode="auto">
            <a:xfrm>
              <a:off x="2851150" y="1166813"/>
              <a:ext cx="923925" cy="188913"/>
            </a:xfrm>
            <a:custGeom>
              <a:avLst/>
              <a:gdLst>
                <a:gd name="T0" fmla="*/ 2147483646 w 2201"/>
                <a:gd name="T1" fmla="*/ 2147483646 h 447"/>
                <a:gd name="T2" fmla="*/ 2147483646 w 2201"/>
                <a:gd name="T3" fmla="*/ 2147483646 h 447"/>
                <a:gd name="T4" fmla="*/ 2147483646 w 2201"/>
                <a:gd name="T5" fmla="*/ 2147483646 h 447"/>
                <a:gd name="T6" fmla="*/ 2147483646 w 2201"/>
                <a:gd name="T7" fmla="*/ 2147483646 h 447"/>
                <a:gd name="T8" fmla="*/ 2147483646 w 2201"/>
                <a:gd name="T9" fmla="*/ 2147483646 h 447"/>
                <a:gd name="T10" fmla="*/ 2147483646 w 2201"/>
                <a:gd name="T11" fmla="*/ 2147483646 h 447"/>
                <a:gd name="T12" fmla="*/ 2147483646 w 2201"/>
                <a:gd name="T13" fmla="*/ 2147483646 h 447"/>
                <a:gd name="T14" fmla="*/ 2147483646 w 2201"/>
                <a:gd name="T15" fmla="*/ 2147483646 h 447"/>
                <a:gd name="T16" fmla="*/ 2147483646 w 2201"/>
                <a:gd name="T17" fmla="*/ 2147483646 h 447"/>
                <a:gd name="T18" fmla="*/ 2147483646 w 2201"/>
                <a:gd name="T19" fmla="*/ 2147483646 h 447"/>
                <a:gd name="T20" fmla="*/ 2147483646 w 2201"/>
                <a:gd name="T21" fmla="*/ 2147483646 h 447"/>
                <a:gd name="T22" fmla="*/ 2147483646 w 2201"/>
                <a:gd name="T23" fmla="*/ 2147483646 h 447"/>
                <a:gd name="T24" fmla="*/ 2147483646 w 2201"/>
                <a:gd name="T25" fmla="*/ 2147483646 h 447"/>
                <a:gd name="T26" fmla="*/ 2147483646 w 2201"/>
                <a:gd name="T27" fmla="*/ 2147483646 h 447"/>
                <a:gd name="T28" fmla="*/ 2147483646 w 2201"/>
                <a:gd name="T29" fmla="*/ 2147483646 h 447"/>
                <a:gd name="T30" fmla="*/ 2147483646 w 2201"/>
                <a:gd name="T31" fmla="*/ 2147483646 h 447"/>
                <a:gd name="T32" fmla="*/ 2147483646 w 2201"/>
                <a:gd name="T33" fmla="*/ 2147483646 h 447"/>
                <a:gd name="T34" fmla="*/ 0 w 2201"/>
                <a:gd name="T35" fmla="*/ 2147483646 h 447"/>
                <a:gd name="T36" fmla="*/ 0 w 2201"/>
                <a:gd name="T37" fmla="*/ 2147483646 h 447"/>
                <a:gd name="T38" fmla="*/ 2147483646 w 2201"/>
                <a:gd name="T39" fmla="*/ 0 h 447"/>
                <a:gd name="T40" fmla="*/ 2147483646 w 2201"/>
                <a:gd name="T41" fmla="*/ 0 h 447"/>
                <a:gd name="T42" fmla="*/ 2147483646 w 2201"/>
                <a:gd name="T43" fmla="*/ 2147483646 h 447"/>
                <a:gd name="T44" fmla="*/ 2147483646 w 2201"/>
                <a:gd name="T45" fmla="*/ 2147483646 h 447"/>
                <a:gd name="T46" fmla="*/ 2147483646 w 2201"/>
                <a:gd name="T47" fmla="*/ 2147483646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17" name="Freeform 241">
              <a:extLst>
                <a:ext uri="{FF2B5EF4-FFF2-40B4-BE49-F238E27FC236}">
                  <a16:creationId xmlns:a16="http://schemas.microsoft.com/office/drawing/2014/main" id="{FD663C91-9ABA-499D-B99F-075EEAA14D33}"/>
                </a:ext>
              </a:extLst>
            </p:cNvPr>
            <p:cNvSpPr>
              <a:spLocks noChangeArrowheads="1"/>
            </p:cNvSpPr>
            <p:nvPr/>
          </p:nvSpPr>
          <p:spPr bwMode="auto">
            <a:xfrm>
              <a:off x="2940050" y="1230313"/>
              <a:ext cx="68263"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18" name="Freeform 242">
              <a:extLst>
                <a:ext uri="{FF2B5EF4-FFF2-40B4-BE49-F238E27FC236}">
                  <a16:creationId xmlns:a16="http://schemas.microsoft.com/office/drawing/2014/main" id="{125926A4-0025-4245-BB6D-7B7FA28797EE}"/>
                </a:ext>
              </a:extLst>
            </p:cNvPr>
            <p:cNvSpPr>
              <a:spLocks noChangeArrowheads="1"/>
            </p:cNvSpPr>
            <p:nvPr/>
          </p:nvSpPr>
          <p:spPr bwMode="auto">
            <a:xfrm>
              <a:off x="3041650" y="1230313"/>
              <a:ext cx="68263"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19" name="Freeform 243">
              <a:extLst>
                <a:ext uri="{FF2B5EF4-FFF2-40B4-BE49-F238E27FC236}">
                  <a16:creationId xmlns:a16="http://schemas.microsoft.com/office/drawing/2014/main" id="{12CB0109-9693-489C-A063-C0DBEB30A3FA}"/>
                </a:ext>
              </a:extLst>
            </p:cNvPr>
            <p:cNvSpPr>
              <a:spLocks noChangeArrowheads="1"/>
            </p:cNvSpPr>
            <p:nvPr/>
          </p:nvSpPr>
          <p:spPr bwMode="auto">
            <a:xfrm>
              <a:off x="3143250" y="1230313"/>
              <a:ext cx="68263" cy="50800"/>
            </a:xfrm>
            <a:custGeom>
              <a:avLst/>
              <a:gdLst>
                <a:gd name="T0" fmla="*/ 0 w 160"/>
                <a:gd name="T1" fmla="*/ 2147483646 h 123"/>
                <a:gd name="T2" fmla="*/ 0 w 160"/>
                <a:gd name="T3" fmla="*/ 2147483646 h 123"/>
                <a:gd name="T4" fmla="*/ 2147483646 w 160"/>
                <a:gd name="T5" fmla="*/ 2147483646 h 123"/>
                <a:gd name="T6" fmla="*/ 2147483646 w 160"/>
                <a:gd name="T7" fmla="*/ 2147483646 h 123"/>
                <a:gd name="T8" fmla="*/ 2147483646 w 160"/>
                <a:gd name="T9" fmla="*/ 2147483646 h 123"/>
                <a:gd name="T10" fmla="*/ 2147483646 w 160"/>
                <a:gd name="T11" fmla="*/ 0 h 123"/>
                <a:gd name="T12" fmla="*/ 2147483646 w 160"/>
                <a:gd name="T13" fmla="*/ 0 h 123"/>
                <a:gd name="T14" fmla="*/ 2147483646 w 160"/>
                <a:gd name="T15" fmla="*/ 2147483646 h 123"/>
                <a:gd name="T16" fmla="*/ 0 w 160"/>
                <a:gd name="T17" fmla="*/ 2147483646 h 123"/>
                <a:gd name="T18" fmla="*/ 0 w 160"/>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20" name="Freeform 244">
              <a:extLst>
                <a:ext uri="{FF2B5EF4-FFF2-40B4-BE49-F238E27FC236}">
                  <a16:creationId xmlns:a16="http://schemas.microsoft.com/office/drawing/2014/main" id="{12E56C53-9D1B-4986-A922-A5CCD13F6565}"/>
                </a:ext>
              </a:extLst>
            </p:cNvPr>
            <p:cNvSpPr>
              <a:spLocks noChangeArrowheads="1"/>
            </p:cNvSpPr>
            <p:nvPr/>
          </p:nvSpPr>
          <p:spPr bwMode="auto">
            <a:xfrm>
              <a:off x="3244850" y="1230313"/>
              <a:ext cx="66675"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21" name="Freeform 245">
              <a:extLst>
                <a:ext uri="{FF2B5EF4-FFF2-40B4-BE49-F238E27FC236}">
                  <a16:creationId xmlns:a16="http://schemas.microsoft.com/office/drawing/2014/main" id="{2F3E7BE6-A7F9-4519-AEAF-41C0A160D7F7}"/>
                </a:ext>
              </a:extLst>
            </p:cNvPr>
            <p:cNvSpPr>
              <a:spLocks noChangeArrowheads="1"/>
            </p:cNvSpPr>
            <p:nvPr/>
          </p:nvSpPr>
          <p:spPr bwMode="auto">
            <a:xfrm>
              <a:off x="3346450" y="1230313"/>
              <a:ext cx="66675" cy="50800"/>
            </a:xfrm>
            <a:custGeom>
              <a:avLst/>
              <a:gdLst>
                <a:gd name="T0" fmla="*/ 0 w 161"/>
                <a:gd name="T1" fmla="*/ 2147483646 h 123"/>
                <a:gd name="T2" fmla="*/ 0 w 161"/>
                <a:gd name="T3" fmla="*/ 2147483646 h 123"/>
                <a:gd name="T4" fmla="*/ 2147483646 w 161"/>
                <a:gd name="T5" fmla="*/ 2147483646 h 123"/>
                <a:gd name="T6" fmla="*/ 2147483646 w 161"/>
                <a:gd name="T7" fmla="*/ 2147483646 h 123"/>
                <a:gd name="T8" fmla="*/ 2147483646 w 161"/>
                <a:gd name="T9" fmla="*/ 2147483646 h 123"/>
                <a:gd name="T10" fmla="*/ 2147483646 w 161"/>
                <a:gd name="T11" fmla="*/ 0 h 123"/>
                <a:gd name="T12" fmla="*/ 2147483646 w 161"/>
                <a:gd name="T13" fmla="*/ 0 h 123"/>
                <a:gd name="T14" fmla="*/ 2147483646 w 161"/>
                <a:gd name="T15" fmla="*/ 2147483646 h 123"/>
                <a:gd name="T16" fmla="*/ 0 w 161"/>
                <a:gd name="T17" fmla="*/ 2147483646 h 123"/>
                <a:gd name="T18" fmla="*/ 0 w 161"/>
                <a:gd name="T19" fmla="*/ 2147483646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46" name="Freeform 246">
              <a:extLst>
                <a:ext uri="{FF2B5EF4-FFF2-40B4-BE49-F238E27FC236}">
                  <a16:creationId xmlns:a16="http://schemas.microsoft.com/office/drawing/2014/main" id="{8DD7AFAB-3E89-4C06-859C-D2BEF95027E5}"/>
                </a:ext>
              </a:extLst>
            </p:cNvPr>
            <p:cNvSpPr>
              <a:spLocks noChangeArrowheads="1"/>
            </p:cNvSpPr>
            <p:nvPr/>
          </p:nvSpPr>
          <p:spPr bwMode="auto">
            <a:xfrm>
              <a:off x="3522663" y="1219200"/>
              <a:ext cx="127000" cy="30163"/>
            </a:xfrm>
            <a:custGeom>
              <a:avLst/>
              <a:gdLst>
                <a:gd name="T0" fmla="*/ 2147483646 w 303"/>
                <a:gd name="T1" fmla="*/ 2147483646 h 72"/>
                <a:gd name="T2" fmla="*/ 2147483646 w 303"/>
                <a:gd name="T3" fmla="*/ 2147483646 h 72"/>
                <a:gd name="T4" fmla="*/ 0 w 303"/>
                <a:gd name="T5" fmla="*/ 2147483646 h 72"/>
                <a:gd name="T6" fmla="*/ 0 w 303"/>
                <a:gd name="T7" fmla="*/ 0 h 72"/>
                <a:gd name="T8" fmla="*/ 2147483646 w 303"/>
                <a:gd name="T9" fmla="*/ 0 h 72"/>
                <a:gd name="T10" fmla="*/ 2147483646 w 303"/>
                <a:gd name="T11" fmla="*/ 2147483646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3" h="72">
                  <a:moveTo>
                    <a:pt x="303" y="72"/>
                  </a:moveTo>
                  <a:lnTo>
                    <a:pt x="303" y="72"/>
                  </a:lnTo>
                  <a:lnTo>
                    <a:pt x="0" y="72"/>
                  </a:lnTo>
                  <a:lnTo>
                    <a:pt x="0" y="0"/>
                  </a:lnTo>
                  <a:lnTo>
                    <a:pt x="303" y="0"/>
                  </a:lnTo>
                  <a:lnTo>
                    <a:pt x="303" y="72"/>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47" name="Freeform 247">
              <a:extLst>
                <a:ext uri="{FF2B5EF4-FFF2-40B4-BE49-F238E27FC236}">
                  <a16:creationId xmlns:a16="http://schemas.microsoft.com/office/drawing/2014/main" id="{A52709D5-9899-47D9-AA7E-1F72E8D3123C}"/>
                </a:ext>
              </a:extLst>
            </p:cNvPr>
            <p:cNvSpPr>
              <a:spLocks noChangeArrowheads="1"/>
            </p:cNvSpPr>
            <p:nvPr/>
          </p:nvSpPr>
          <p:spPr bwMode="auto">
            <a:xfrm>
              <a:off x="3544888" y="1311275"/>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48" name="Freeform 248">
              <a:extLst>
                <a:ext uri="{FF2B5EF4-FFF2-40B4-BE49-F238E27FC236}">
                  <a16:creationId xmlns:a16="http://schemas.microsoft.com/office/drawing/2014/main" id="{7F92CC4F-24D0-4B9A-8121-8A97E50C7D4E}"/>
                </a:ext>
              </a:extLst>
            </p:cNvPr>
            <p:cNvSpPr>
              <a:spLocks noChangeArrowheads="1"/>
            </p:cNvSpPr>
            <p:nvPr/>
          </p:nvSpPr>
          <p:spPr bwMode="auto">
            <a:xfrm>
              <a:off x="3633788" y="1311275"/>
              <a:ext cx="58738" cy="58738"/>
            </a:xfrm>
            <a:custGeom>
              <a:avLst/>
              <a:gdLst>
                <a:gd name="T0" fmla="*/ 2147483646 w 138"/>
                <a:gd name="T1" fmla="*/ 2147483646 h 139"/>
                <a:gd name="T2" fmla="*/ 2147483646 w 138"/>
                <a:gd name="T3" fmla="*/ 2147483646 h 139"/>
                <a:gd name="T4" fmla="*/ 0 w 138"/>
                <a:gd name="T5" fmla="*/ 2147483646 h 139"/>
                <a:gd name="T6" fmla="*/ 2147483646 w 138"/>
                <a:gd name="T7" fmla="*/ 0 h 139"/>
                <a:gd name="T8" fmla="*/ 2147483646 w 138"/>
                <a:gd name="T9" fmla="*/ 2147483646 h 139"/>
                <a:gd name="T10" fmla="*/ 2147483646 w 138"/>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49" name="Freeform 249">
              <a:extLst>
                <a:ext uri="{FF2B5EF4-FFF2-40B4-BE49-F238E27FC236}">
                  <a16:creationId xmlns:a16="http://schemas.microsoft.com/office/drawing/2014/main" id="{C7D1E2C1-C55E-4747-A2F9-A180DBB753C1}"/>
                </a:ext>
              </a:extLst>
            </p:cNvPr>
            <p:cNvSpPr>
              <a:spLocks noChangeArrowheads="1"/>
            </p:cNvSpPr>
            <p:nvPr/>
          </p:nvSpPr>
          <p:spPr bwMode="auto">
            <a:xfrm>
              <a:off x="3522663" y="1260475"/>
              <a:ext cx="31750" cy="31750"/>
            </a:xfrm>
            <a:custGeom>
              <a:avLst/>
              <a:gdLst>
                <a:gd name="T0" fmla="*/ 2147483646 w 73"/>
                <a:gd name="T1" fmla="*/ 2147483646 h 73"/>
                <a:gd name="T2" fmla="*/ 2147483646 w 73"/>
                <a:gd name="T3" fmla="*/ 2147483646 h 73"/>
                <a:gd name="T4" fmla="*/ 0 w 73"/>
                <a:gd name="T5" fmla="*/ 2147483646 h 73"/>
                <a:gd name="T6" fmla="*/ 0 w 73"/>
                <a:gd name="T7" fmla="*/ 0 h 73"/>
                <a:gd name="T8" fmla="*/ 2147483646 w 73"/>
                <a:gd name="T9" fmla="*/ 0 h 73"/>
                <a:gd name="T10" fmla="*/ 2147483646 w 73"/>
                <a:gd name="T11" fmla="*/ 2147483646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73">
                  <a:moveTo>
                    <a:pt x="73" y="73"/>
                  </a:moveTo>
                  <a:lnTo>
                    <a:pt x="73" y="73"/>
                  </a:lnTo>
                  <a:lnTo>
                    <a:pt x="0" y="73"/>
                  </a:lnTo>
                  <a:lnTo>
                    <a:pt x="0" y="0"/>
                  </a:lnTo>
                  <a:lnTo>
                    <a:pt x="73" y="0"/>
                  </a:lnTo>
                  <a:lnTo>
                    <a:pt x="73" y="7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50" name="Freeform 250">
              <a:extLst>
                <a:ext uri="{FF2B5EF4-FFF2-40B4-BE49-F238E27FC236}">
                  <a16:creationId xmlns:a16="http://schemas.microsoft.com/office/drawing/2014/main" id="{F18AF2E4-892B-4BEE-8F08-2D1A3F4E4F8B}"/>
                </a:ext>
              </a:extLst>
            </p:cNvPr>
            <p:cNvSpPr>
              <a:spLocks noChangeArrowheads="1"/>
            </p:cNvSpPr>
            <p:nvPr/>
          </p:nvSpPr>
          <p:spPr bwMode="auto">
            <a:xfrm>
              <a:off x="3571875" y="1260475"/>
              <a:ext cx="30163" cy="31750"/>
            </a:xfrm>
            <a:custGeom>
              <a:avLst/>
              <a:gdLst>
                <a:gd name="T0" fmla="*/ 2147483646 w 73"/>
                <a:gd name="T1" fmla="*/ 2147483646 h 73"/>
                <a:gd name="T2" fmla="*/ 2147483646 w 73"/>
                <a:gd name="T3" fmla="*/ 2147483646 h 73"/>
                <a:gd name="T4" fmla="*/ 0 w 73"/>
                <a:gd name="T5" fmla="*/ 2147483646 h 73"/>
                <a:gd name="T6" fmla="*/ 0 w 73"/>
                <a:gd name="T7" fmla="*/ 0 h 73"/>
                <a:gd name="T8" fmla="*/ 2147483646 w 73"/>
                <a:gd name="T9" fmla="*/ 0 h 73"/>
                <a:gd name="T10" fmla="*/ 2147483646 w 73"/>
                <a:gd name="T11" fmla="*/ 2147483646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73">
                  <a:moveTo>
                    <a:pt x="73" y="73"/>
                  </a:moveTo>
                  <a:lnTo>
                    <a:pt x="73" y="73"/>
                  </a:lnTo>
                  <a:lnTo>
                    <a:pt x="0" y="73"/>
                  </a:lnTo>
                  <a:lnTo>
                    <a:pt x="0" y="0"/>
                  </a:lnTo>
                  <a:lnTo>
                    <a:pt x="73" y="0"/>
                  </a:lnTo>
                  <a:lnTo>
                    <a:pt x="73" y="7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sp>
          <p:nvSpPr>
            <p:cNvPr id="1051" name="Freeform 251">
              <a:extLst>
                <a:ext uri="{FF2B5EF4-FFF2-40B4-BE49-F238E27FC236}">
                  <a16:creationId xmlns:a16="http://schemas.microsoft.com/office/drawing/2014/main" id="{DF485BAB-838B-4753-B508-4F4F0F9452A0}"/>
                </a:ext>
              </a:extLst>
            </p:cNvPr>
            <p:cNvSpPr>
              <a:spLocks noChangeArrowheads="1"/>
            </p:cNvSpPr>
            <p:nvPr/>
          </p:nvSpPr>
          <p:spPr bwMode="auto">
            <a:xfrm>
              <a:off x="3619500" y="1260475"/>
              <a:ext cx="30163" cy="31750"/>
            </a:xfrm>
            <a:custGeom>
              <a:avLst/>
              <a:gdLst>
                <a:gd name="T0" fmla="*/ 2147483646 w 73"/>
                <a:gd name="T1" fmla="*/ 2147483646 h 73"/>
                <a:gd name="T2" fmla="*/ 2147483646 w 73"/>
                <a:gd name="T3" fmla="*/ 2147483646 h 73"/>
                <a:gd name="T4" fmla="*/ 0 w 73"/>
                <a:gd name="T5" fmla="*/ 2147483646 h 73"/>
                <a:gd name="T6" fmla="*/ 0 w 73"/>
                <a:gd name="T7" fmla="*/ 0 h 73"/>
                <a:gd name="T8" fmla="*/ 2147483646 w 73"/>
                <a:gd name="T9" fmla="*/ 0 h 73"/>
                <a:gd name="T10" fmla="*/ 2147483646 w 73"/>
                <a:gd name="T11" fmla="*/ 2147483646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73">
                  <a:moveTo>
                    <a:pt x="73" y="73"/>
                  </a:moveTo>
                  <a:lnTo>
                    <a:pt x="73" y="73"/>
                  </a:lnTo>
                  <a:lnTo>
                    <a:pt x="0" y="73"/>
                  </a:lnTo>
                  <a:lnTo>
                    <a:pt x="0" y="0"/>
                  </a:lnTo>
                  <a:lnTo>
                    <a:pt x="73" y="0"/>
                  </a:lnTo>
                  <a:lnTo>
                    <a:pt x="73" y="73"/>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defTabSz="685310">
                <a:defRPr/>
              </a:pPr>
              <a:endParaRPr lang="zh-CN" altLang="en-US" sz="1199">
                <a:solidFill>
                  <a:srgbClr val="1D1D1A"/>
                </a:solidFill>
                <a:latin typeface=" 微软雅黑"/>
                <a:ea typeface="黑体" panose="02010609060101010101" pitchFamily="49" charset="-122"/>
              </a:endParaRPr>
            </a:p>
          </p:txBody>
        </p:sp>
      </p:grpSp>
      <p:sp>
        <p:nvSpPr>
          <p:cNvPr id="1054" name="TextBox 125">
            <a:extLst>
              <a:ext uri="{FF2B5EF4-FFF2-40B4-BE49-F238E27FC236}">
                <a16:creationId xmlns:a16="http://schemas.microsoft.com/office/drawing/2014/main" id="{664DAAF1-2BAB-4A38-8D05-868B9A5168BA}"/>
              </a:ext>
            </a:extLst>
          </p:cNvPr>
          <p:cNvSpPr txBox="1"/>
          <p:nvPr/>
        </p:nvSpPr>
        <p:spPr>
          <a:xfrm>
            <a:off x="481267" y="1092367"/>
            <a:ext cx="504449" cy="307777"/>
          </a:xfrm>
          <a:prstGeom prst="rect">
            <a:avLst/>
          </a:prstGeom>
          <a:noFill/>
        </p:spPr>
        <p:txBody>
          <a:bodyPr wrap="square" lIns="0" rIns="0" rtlCol="0">
            <a:spAutoFit/>
          </a:bodyPr>
          <a:lstStyle/>
          <a:p>
            <a:pPr algn="ctr" defTabSz="685526">
              <a:spcBef>
                <a:spcPct val="0"/>
              </a:spcBef>
              <a:spcAft>
                <a:spcPct val="0"/>
              </a:spcAft>
              <a:defRPr/>
            </a:pPr>
            <a:r>
              <a:rPr lang="en-US" altLang="zh-CN" sz="700" b="1" dirty="0">
                <a:solidFill>
                  <a:srgbClr val="C00000"/>
                </a:solidFill>
                <a:latin typeface="微软雅黑" panose="020B0503020204020204" pitchFamily="34" charset="-122"/>
                <a:ea typeface="微软雅黑" panose="020B0503020204020204" pitchFamily="34" charset="-122"/>
              </a:rPr>
              <a:t>Agent</a:t>
            </a:r>
            <a:r>
              <a:rPr lang="zh-CN" altLang="en-US" sz="700" b="1" dirty="0">
                <a:solidFill>
                  <a:srgbClr val="C00000"/>
                </a:solidFill>
                <a:latin typeface="微软雅黑" panose="020B0503020204020204" pitchFamily="34" charset="-122"/>
                <a:ea typeface="微软雅黑" panose="020B0503020204020204" pitchFamily="34" charset="-122"/>
              </a:rPr>
              <a:t> </a:t>
            </a:r>
            <a:r>
              <a:rPr lang="en-US" altLang="zh-CN" sz="700" b="1" dirty="0">
                <a:solidFill>
                  <a:srgbClr val="C00000"/>
                </a:solidFill>
                <a:latin typeface="微软雅黑" panose="020B0503020204020204" pitchFamily="34" charset="-122"/>
                <a:ea typeface="微软雅黑" panose="020B0503020204020204" pitchFamily="34" charset="-122"/>
              </a:rPr>
              <a:t>Gateway</a:t>
            </a:r>
          </a:p>
        </p:txBody>
      </p:sp>
      <p:sp>
        <p:nvSpPr>
          <p:cNvPr id="1055" name="矩形 1054">
            <a:extLst>
              <a:ext uri="{FF2B5EF4-FFF2-40B4-BE49-F238E27FC236}">
                <a16:creationId xmlns:a16="http://schemas.microsoft.com/office/drawing/2014/main" id="{AD620DCC-A929-4AC4-A768-74574E57E047}"/>
              </a:ext>
            </a:extLst>
          </p:cNvPr>
          <p:cNvSpPr/>
          <p:nvPr/>
        </p:nvSpPr>
        <p:spPr>
          <a:xfrm>
            <a:off x="1092410" y="1148198"/>
            <a:ext cx="285658" cy="211528"/>
          </a:xfrm>
          <a:prstGeom prst="rect">
            <a:avLst/>
          </a:prstGeom>
          <a:ln w="15875">
            <a:solidFill>
              <a:sysClr val="window" lastClr="FFFFFF">
                <a:lumMod val="75000"/>
              </a:sysClr>
            </a:solidFill>
          </a:ln>
        </p:spPr>
        <p:txBody>
          <a:bodyPr wrap="square" rtlCol="0" anchor="ctr">
            <a:noAutofit/>
          </a:bodyPr>
          <a:lstStyle/>
          <a:p>
            <a:pPr defTabSz="685173">
              <a:defRPr/>
            </a:pPr>
            <a:endParaRPr lang="zh-CN" altLang="en-US" sz="900" b="1"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1056" name="Freeform 99">
            <a:extLst>
              <a:ext uri="{FF2B5EF4-FFF2-40B4-BE49-F238E27FC236}">
                <a16:creationId xmlns:a16="http://schemas.microsoft.com/office/drawing/2014/main" id="{97391B32-BAEF-47F5-815A-32449716DF9A}"/>
              </a:ext>
            </a:extLst>
          </p:cNvPr>
          <p:cNvSpPr>
            <a:spLocks noEditPoints="1"/>
          </p:cNvSpPr>
          <p:nvPr/>
        </p:nvSpPr>
        <p:spPr bwMode="auto">
          <a:xfrm>
            <a:off x="1128624" y="1172870"/>
            <a:ext cx="215896" cy="170427"/>
          </a:xfrm>
          <a:custGeom>
            <a:avLst/>
            <a:gdLst>
              <a:gd name="T0" fmla="*/ 21 w 170"/>
              <a:gd name="T1" fmla="*/ 134 h 170"/>
              <a:gd name="T2" fmla="*/ 10 w 170"/>
              <a:gd name="T3" fmla="*/ 100 h 170"/>
              <a:gd name="T4" fmla="*/ 0 w 170"/>
              <a:gd name="T5" fmla="*/ 159 h 170"/>
              <a:gd name="T6" fmla="*/ 0 w 170"/>
              <a:gd name="T7" fmla="*/ 162 h 170"/>
              <a:gd name="T8" fmla="*/ 1 w 170"/>
              <a:gd name="T9" fmla="*/ 164 h 170"/>
              <a:gd name="T10" fmla="*/ 5 w 170"/>
              <a:gd name="T11" fmla="*/ 168 h 170"/>
              <a:gd name="T12" fmla="*/ 6 w 170"/>
              <a:gd name="T13" fmla="*/ 169 h 170"/>
              <a:gd name="T14" fmla="*/ 8 w 170"/>
              <a:gd name="T15" fmla="*/ 169 h 170"/>
              <a:gd name="T16" fmla="*/ 59 w 170"/>
              <a:gd name="T17" fmla="*/ 170 h 170"/>
              <a:gd name="T18" fmla="*/ 59 w 170"/>
              <a:gd name="T19" fmla="*/ 149 h 170"/>
              <a:gd name="T20" fmla="*/ 76 w 170"/>
              <a:gd name="T21" fmla="*/ 109 h 170"/>
              <a:gd name="T22" fmla="*/ 61 w 170"/>
              <a:gd name="T23" fmla="*/ 94 h 170"/>
              <a:gd name="T24" fmla="*/ 21 w 170"/>
              <a:gd name="T25" fmla="*/ 58 h 170"/>
              <a:gd name="T26" fmla="*/ 61 w 170"/>
              <a:gd name="T27" fmla="*/ 75 h 170"/>
              <a:gd name="T28" fmla="*/ 76 w 170"/>
              <a:gd name="T29" fmla="*/ 75 h 170"/>
              <a:gd name="T30" fmla="*/ 36 w 170"/>
              <a:gd name="T31" fmla="*/ 21 h 170"/>
              <a:gd name="T32" fmla="*/ 69 w 170"/>
              <a:gd name="T33" fmla="*/ 10 h 170"/>
              <a:gd name="T34" fmla="*/ 10 w 170"/>
              <a:gd name="T35" fmla="*/ 0 h 170"/>
              <a:gd name="T36" fmla="*/ 7 w 170"/>
              <a:gd name="T37" fmla="*/ 0 h 170"/>
              <a:gd name="T38" fmla="*/ 5 w 170"/>
              <a:gd name="T39" fmla="*/ 1 h 170"/>
              <a:gd name="T40" fmla="*/ 2 w 170"/>
              <a:gd name="T41" fmla="*/ 4 h 170"/>
              <a:gd name="T42" fmla="*/ 1 w 170"/>
              <a:gd name="T43" fmla="*/ 6 h 170"/>
              <a:gd name="T44" fmla="*/ 0 w 170"/>
              <a:gd name="T45" fmla="*/ 8 h 170"/>
              <a:gd name="T46" fmla="*/ 0 w 170"/>
              <a:gd name="T47" fmla="*/ 58 h 170"/>
              <a:gd name="T48" fmla="*/ 102 w 170"/>
              <a:gd name="T49" fmla="*/ 78 h 170"/>
              <a:gd name="T50" fmla="*/ 149 w 170"/>
              <a:gd name="T51" fmla="*/ 35 h 170"/>
              <a:gd name="T52" fmla="*/ 160 w 170"/>
              <a:gd name="T53" fmla="*/ 69 h 170"/>
              <a:gd name="T54" fmla="*/ 170 w 170"/>
              <a:gd name="T55" fmla="*/ 10 h 170"/>
              <a:gd name="T56" fmla="*/ 170 w 170"/>
              <a:gd name="T57" fmla="*/ 7 h 170"/>
              <a:gd name="T58" fmla="*/ 169 w 170"/>
              <a:gd name="T59" fmla="*/ 5 h 170"/>
              <a:gd name="T60" fmla="*/ 165 w 170"/>
              <a:gd name="T61" fmla="*/ 1 h 170"/>
              <a:gd name="T62" fmla="*/ 164 w 170"/>
              <a:gd name="T63" fmla="*/ 0 h 170"/>
              <a:gd name="T64" fmla="*/ 162 w 170"/>
              <a:gd name="T65" fmla="*/ 0 h 170"/>
              <a:gd name="T66" fmla="*/ 111 w 170"/>
              <a:gd name="T67" fmla="*/ 0 h 170"/>
              <a:gd name="T68" fmla="*/ 111 w 170"/>
              <a:gd name="T69" fmla="*/ 21 h 170"/>
              <a:gd name="T70" fmla="*/ 94 w 170"/>
              <a:gd name="T71" fmla="*/ 61 h 170"/>
              <a:gd name="T72" fmla="*/ 102 w 170"/>
              <a:gd name="T73" fmla="*/ 78 h 170"/>
              <a:gd name="T74" fmla="*/ 149 w 170"/>
              <a:gd name="T75" fmla="*/ 112 h 170"/>
              <a:gd name="T76" fmla="*/ 110 w 170"/>
              <a:gd name="T77" fmla="*/ 95 h 170"/>
              <a:gd name="T78" fmla="*/ 95 w 170"/>
              <a:gd name="T79" fmla="*/ 95 h 170"/>
              <a:gd name="T80" fmla="*/ 135 w 170"/>
              <a:gd name="T81" fmla="*/ 149 h 170"/>
              <a:gd name="T82" fmla="*/ 102 w 170"/>
              <a:gd name="T83" fmla="*/ 159 h 170"/>
              <a:gd name="T84" fmla="*/ 160 w 170"/>
              <a:gd name="T85" fmla="*/ 170 h 170"/>
              <a:gd name="T86" fmla="*/ 163 w 170"/>
              <a:gd name="T87" fmla="*/ 169 h 170"/>
              <a:gd name="T88" fmla="*/ 165 w 170"/>
              <a:gd name="T89" fmla="*/ 168 h 170"/>
              <a:gd name="T90" fmla="*/ 168 w 170"/>
              <a:gd name="T91" fmla="*/ 165 h 170"/>
              <a:gd name="T92" fmla="*/ 169 w 170"/>
              <a:gd name="T93" fmla="*/ 163 h 170"/>
              <a:gd name="T94" fmla="*/ 170 w 170"/>
              <a:gd name="T95" fmla="*/ 161 h 170"/>
              <a:gd name="T96" fmla="*/ 170 w 170"/>
              <a:gd name="T97" fmla="*/ 1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70">
                <a:moveTo>
                  <a:pt x="61" y="94"/>
                </a:moveTo>
                <a:cubicBezTo>
                  <a:pt x="21" y="134"/>
                  <a:pt x="21" y="134"/>
                  <a:pt x="21" y="134"/>
                </a:cubicBezTo>
                <a:cubicBezTo>
                  <a:pt x="21" y="111"/>
                  <a:pt x="21" y="111"/>
                  <a:pt x="21" y="111"/>
                </a:cubicBezTo>
                <a:cubicBezTo>
                  <a:pt x="21" y="105"/>
                  <a:pt x="16" y="100"/>
                  <a:pt x="10" y="100"/>
                </a:cubicBezTo>
                <a:cubicBezTo>
                  <a:pt x="5" y="100"/>
                  <a:pt x="0" y="105"/>
                  <a:pt x="0" y="111"/>
                </a:cubicBezTo>
                <a:cubicBezTo>
                  <a:pt x="0" y="159"/>
                  <a:pt x="0" y="159"/>
                  <a:pt x="0" y="159"/>
                </a:cubicBezTo>
                <a:cubicBezTo>
                  <a:pt x="0" y="160"/>
                  <a:pt x="0" y="161"/>
                  <a:pt x="0" y="161"/>
                </a:cubicBezTo>
                <a:cubicBezTo>
                  <a:pt x="0" y="162"/>
                  <a:pt x="0" y="162"/>
                  <a:pt x="0" y="162"/>
                </a:cubicBezTo>
                <a:cubicBezTo>
                  <a:pt x="1" y="163"/>
                  <a:pt x="1" y="163"/>
                  <a:pt x="1" y="163"/>
                </a:cubicBezTo>
                <a:cubicBezTo>
                  <a:pt x="1" y="164"/>
                  <a:pt x="1" y="164"/>
                  <a:pt x="1" y="164"/>
                </a:cubicBezTo>
                <a:cubicBezTo>
                  <a:pt x="2" y="165"/>
                  <a:pt x="2" y="165"/>
                  <a:pt x="2" y="165"/>
                </a:cubicBezTo>
                <a:cubicBezTo>
                  <a:pt x="2" y="166"/>
                  <a:pt x="3" y="167"/>
                  <a:pt x="5" y="168"/>
                </a:cubicBezTo>
                <a:cubicBezTo>
                  <a:pt x="5" y="168"/>
                  <a:pt x="5" y="168"/>
                  <a:pt x="5" y="168"/>
                </a:cubicBezTo>
                <a:cubicBezTo>
                  <a:pt x="6" y="169"/>
                  <a:pt x="6" y="169"/>
                  <a:pt x="6" y="169"/>
                </a:cubicBezTo>
                <a:cubicBezTo>
                  <a:pt x="7" y="169"/>
                  <a:pt x="7" y="169"/>
                  <a:pt x="7" y="169"/>
                </a:cubicBezTo>
                <a:cubicBezTo>
                  <a:pt x="8" y="169"/>
                  <a:pt x="8" y="169"/>
                  <a:pt x="8" y="169"/>
                </a:cubicBezTo>
                <a:cubicBezTo>
                  <a:pt x="9" y="170"/>
                  <a:pt x="10" y="170"/>
                  <a:pt x="10" y="170"/>
                </a:cubicBezTo>
                <a:cubicBezTo>
                  <a:pt x="59" y="170"/>
                  <a:pt x="59" y="170"/>
                  <a:pt x="59" y="170"/>
                </a:cubicBezTo>
                <a:cubicBezTo>
                  <a:pt x="65" y="170"/>
                  <a:pt x="69" y="165"/>
                  <a:pt x="69" y="159"/>
                </a:cubicBezTo>
                <a:cubicBezTo>
                  <a:pt x="69" y="153"/>
                  <a:pt x="65" y="149"/>
                  <a:pt x="59" y="149"/>
                </a:cubicBezTo>
                <a:cubicBezTo>
                  <a:pt x="36" y="149"/>
                  <a:pt x="36" y="149"/>
                  <a:pt x="36" y="149"/>
                </a:cubicBezTo>
                <a:cubicBezTo>
                  <a:pt x="76" y="109"/>
                  <a:pt x="76" y="109"/>
                  <a:pt x="76" y="109"/>
                </a:cubicBezTo>
                <a:cubicBezTo>
                  <a:pt x="80" y="105"/>
                  <a:pt x="80" y="98"/>
                  <a:pt x="76" y="94"/>
                </a:cubicBezTo>
                <a:cubicBezTo>
                  <a:pt x="72" y="90"/>
                  <a:pt x="65" y="90"/>
                  <a:pt x="61" y="94"/>
                </a:cubicBezTo>
                <a:close/>
                <a:moveTo>
                  <a:pt x="10" y="69"/>
                </a:moveTo>
                <a:cubicBezTo>
                  <a:pt x="16" y="69"/>
                  <a:pt x="21" y="64"/>
                  <a:pt x="21" y="58"/>
                </a:cubicBezTo>
                <a:cubicBezTo>
                  <a:pt x="21" y="35"/>
                  <a:pt x="21" y="35"/>
                  <a:pt x="21" y="35"/>
                </a:cubicBezTo>
                <a:cubicBezTo>
                  <a:pt x="61" y="75"/>
                  <a:pt x="61" y="75"/>
                  <a:pt x="61" y="75"/>
                </a:cubicBezTo>
                <a:cubicBezTo>
                  <a:pt x="63" y="77"/>
                  <a:pt x="66" y="78"/>
                  <a:pt x="68" y="78"/>
                </a:cubicBezTo>
                <a:cubicBezTo>
                  <a:pt x="71" y="78"/>
                  <a:pt x="74" y="77"/>
                  <a:pt x="76" y="75"/>
                </a:cubicBezTo>
                <a:cubicBezTo>
                  <a:pt x="80" y="71"/>
                  <a:pt x="80" y="65"/>
                  <a:pt x="76" y="61"/>
                </a:cubicBezTo>
                <a:cubicBezTo>
                  <a:pt x="36" y="21"/>
                  <a:pt x="36" y="21"/>
                  <a:pt x="36" y="21"/>
                </a:cubicBezTo>
                <a:cubicBezTo>
                  <a:pt x="59" y="21"/>
                  <a:pt x="59" y="21"/>
                  <a:pt x="59" y="21"/>
                </a:cubicBezTo>
                <a:cubicBezTo>
                  <a:pt x="65" y="21"/>
                  <a:pt x="69" y="16"/>
                  <a:pt x="69" y="10"/>
                </a:cubicBezTo>
                <a:cubicBezTo>
                  <a:pt x="69" y="4"/>
                  <a:pt x="65" y="0"/>
                  <a:pt x="59" y="0"/>
                </a:cubicBezTo>
                <a:cubicBezTo>
                  <a:pt x="10" y="0"/>
                  <a:pt x="10" y="0"/>
                  <a:pt x="10" y="0"/>
                </a:cubicBezTo>
                <a:cubicBezTo>
                  <a:pt x="10" y="0"/>
                  <a:pt x="9" y="0"/>
                  <a:pt x="8" y="0"/>
                </a:cubicBezTo>
                <a:cubicBezTo>
                  <a:pt x="7" y="0"/>
                  <a:pt x="7" y="0"/>
                  <a:pt x="7" y="0"/>
                </a:cubicBezTo>
                <a:cubicBezTo>
                  <a:pt x="6" y="0"/>
                  <a:pt x="6" y="0"/>
                  <a:pt x="6" y="0"/>
                </a:cubicBezTo>
                <a:cubicBezTo>
                  <a:pt x="6" y="1"/>
                  <a:pt x="6" y="1"/>
                  <a:pt x="5" y="1"/>
                </a:cubicBezTo>
                <a:cubicBezTo>
                  <a:pt x="5" y="1"/>
                  <a:pt x="5" y="1"/>
                  <a:pt x="5" y="1"/>
                </a:cubicBezTo>
                <a:cubicBezTo>
                  <a:pt x="3" y="2"/>
                  <a:pt x="2" y="3"/>
                  <a:pt x="2" y="4"/>
                </a:cubicBezTo>
                <a:cubicBezTo>
                  <a:pt x="1" y="5"/>
                  <a:pt x="1" y="5"/>
                  <a:pt x="1" y="5"/>
                </a:cubicBezTo>
                <a:cubicBezTo>
                  <a:pt x="1" y="6"/>
                  <a:pt x="1" y="6"/>
                  <a:pt x="1" y="6"/>
                </a:cubicBezTo>
                <a:cubicBezTo>
                  <a:pt x="0" y="7"/>
                  <a:pt x="0" y="7"/>
                  <a:pt x="0" y="7"/>
                </a:cubicBezTo>
                <a:cubicBezTo>
                  <a:pt x="0" y="8"/>
                  <a:pt x="0" y="8"/>
                  <a:pt x="0" y="8"/>
                </a:cubicBezTo>
                <a:cubicBezTo>
                  <a:pt x="0" y="9"/>
                  <a:pt x="0" y="9"/>
                  <a:pt x="0" y="10"/>
                </a:cubicBezTo>
                <a:cubicBezTo>
                  <a:pt x="0" y="58"/>
                  <a:pt x="0" y="58"/>
                  <a:pt x="0" y="58"/>
                </a:cubicBezTo>
                <a:cubicBezTo>
                  <a:pt x="0" y="64"/>
                  <a:pt x="5" y="69"/>
                  <a:pt x="10" y="69"/>
                </a:cubicBezTo>
                <a:close/>
                <a:moveTo>
                  <a:pt x="102" y="78"/>
                </a:moveTo>
                <a:cubicBezTo>
                  <a:pt x="104" y="78"/>
                  <a:pt x="107" y="77"/>
                  <a:pt x="109" y="75"/>
                </a:cubicBezTo>
                <a:cubicBezTo>
                  <a:pt x="149" y="35"/>
                  <a:pt x="149" y="35"/>
                  <a:pt x="149" y="35"/>
                </a:cubicBezTo>
                <a:cubicBezTo>
                  <a:pt x="149" y="58"/>
                  <a:pt x="149" y="58"/>
                  <a:pt x="149" y="58"/>
                </a:cubicBezTo>
                <a:cubicBezTo>
                  <a:pt x="149" y="64"/>
                  <a:pt x="154" y="69"/>
                  <a:pt x="160" y="69"/>
                </a:cubicBezTo>
                <a:cubicBezTo>
                  <a:pt x="165" y="69"/>
                  <a:pt x="170" y="64"/>
                  <a:pt x="170" y="58"/>
                </a:cubicBezTo>
                <a:cubicBezTo>
                  <a:pt x="170" y="10"/>
                  <a:pt x="170" y="10"/>
                  <a:pt x="170" y="10"/>
                </a:cubicBezTo>
                <a:cubicBezTo>
                  <a:pt x="170" y="9"/>
                  <a:pt x="170" y="9"/>
                  <a:pt x="170" y="8"/>
                </a:cubicBezTo>
                <a:cubicBezTo>
                  <a:pt x="170" y="7"/>
                  <a:pt x="170" y="7"/>
                  <a:pt x="170" y="7"/>
                </a:cubicBezTo>
                <a:cubicBezTo>
                  <a:pt x="169" y="6"/>
                  <a:pt x="169" y="6"/>
                  <a:pt x="169" y="6"/>
                </a:cubicBezTo>
                <a:cubicBezTo>
                  <a:pt x="169" y="6"/>
                  <a:pt x="169" y="5"/>
                  <a:pt x="169" y="5"/>
                </a:cubicBezTo>
                <a:cubicBezTo>
                  <a:pt x="168" y="4"/>
                  <a:pt x="168" y="4"/>
                  <a:pt x="168" y="4"/>
                </a:cubicBezTo>
                <a:cubicBezTo>
                  <a:pt x="167" y="3"/>
                  <a:pt x="166" y="2"/>
                  <a:pt x="165" y="1"/>
                </a:cubicBezTo>
                <a:cubicBezTo>
                  <a:pt x="165" y="1"/>
                  <a:pt x="165" y="1"/>
                  <a:pt x="165" y="1"/>
                </a:cubicBezTo>
                <a:cubicBezTo>
                  <a:pt x="164" y="0"/>
                  <a:pt x="164" y="0"/>
                  <a:pt x="164" y="0"/>
                </a:cubicBezTo>
                <a:cubicBezTo>
                  <a:pt x="162" y="0"/>
                  <a:pt x="162" y="0"/>
                  <a:pt x="162" y="0"/>
                </a:cubicBezTo>
                <a:cubicBezTo>
                  <a:pt x="162" y="0"/>
                  <a:pt x="162" y="0"/>
                  <a:pt x="162" y="0"/>
                </a:cubicBezTo>
                <a:cubicBezTo>
                  <a:pt x="161" y="0"/>
                  <a:pt x="160" y="0"/>
                  <a:pt x="160" y="0"/>
                </a:cubicBezTo>
                <a:cubicBezTo>
                  <a:pt x="111" y="0"/>
                  <a:pt x="111" y="0"/>
                  <a:pt x="111" y="0"/>
                </a:cubicBezTo>
                <a:cubicBezTo>
                  <a:pt x="105" y="0"/>
                  <a:pt x="101" y="4"/>
                  <a:pt x="101" y="10"/>
                </a:cubicBezTo>
                <a:cubicBezTo>
                  <a:pt x="101" y="16"/>
                  <a:pt x="105" y="21"/>
                  <a:pt x="111" y="21"/>
                </a:cubicBezTo>
                <a:cubicBezTo>
                  <a:pt x="134" y="21"/>
                  <a:pt x="134" y="21"/>
                  <a:pt x="134" y="21"/>
                </a:cubicBezTo>
                <a:cubicBezTo>
                  <a:pt x="94" y="61"/>
                  <a:pt x="94" y="61"/>
                  <a:pt x="94" y="61"/>
                </a:cubicBezTo>
                <a:cubicBezTo>
                  <a:pt x="90" y="65"/>
                  <a:pt x="90" y="71"/>
                  <a:pt x="94" y="75"/>
                </a:cubicBezTo>
                <a:cubicBezTo>
                  <a:pt x="96" y="77"/>
                  <a:pt x="99" y="78"/>
                  <a:pt x="102" y="78"/>
                </a:cubicBezTo>
                <a:close/>
                <a:moveTo>
                  <a:pt x="160" y="101"/>
                </a:moveTo>
                <a:cubicBezTo>
                  <a:pt x="154" y="101"/>
                  <a:pt x="149" y="106"/>
                  <a:pt x="149" y="112"/>
                </a:cubicBezTo>
                <a:cubicBezTo>
                  <a:pt x="149" y="134"/>
                  <a:pt x="149" y="134"/>
                  <a:pt x="149" y="134"/>
                </a:cubicBezTo>
                <a:cubicBezTo>
                  <a:pt x="110" y="95"/>
                  <a:pt x="110" y="95"/>
                  <a:pt x="110" y="95"/>
                </a:cubicBezTo>
                <a:cubicBezTo>
                  <a:pt x="108" y="93"/>
                  <a:pt x="105" y="92"/>
                  <a:pt x="102" y="92"/>
                </a:cubicBezTo>
                <a:cubicBezTo>
                  <a:pt x="100" y="92"/>
                  <a:pt x="97" y="93"/>
                  <a:pt x="95" y="95"/>
                </a:cubicBezTo>
                <a:cubicBezTo>
                  <a:pt x="91" y="99"/>
                  <a:pt x="91" y="105"/>
                  <a:pt x="95" y="109"/>
                </a:cubicBezTo>
                <a:cubicBezTo>
                  <a:pt x="135" y="149"/>
                  <a:pt x="135" y="149"/>
                  <a:pt x="135" y="149"/>
                </a:cubicBezTo>
                <a:cubicBezTo>
                  <a:pt x="112" y="149"/>
                  <a:pt x="112" y="149"/>
                  <a:pt x="112" y="149"/>
                </a:cubicBezTo>
                <a:cubicBezTo>
                  <a:pt x="106" y="149"/>
                  <a:pt x="102" y="154"/>
                  <a:pt x="102" y="159"/>
                </a:cubicBezTo>
                <a:cubicBezTo>
                  <a:pt x="102" y="165"/>
                  <a:pt x="106" y="170"/>
                  <a:pt x="112" y="170"/>
                </a:cubicBezTo>
                <a:cubicBezTo>
                  <a:pt x="160" y="170"/>
                  <a:pt x="160" y="170"/>
                  <a:pt x="160" y="170"/>
                </a:cubicBezTo>
                <a:cubicBezTo>
                  <a:pt x="160" y="170"/>
                  <a:pt x="161" y="170"/>
                  <a:pt x="162" y="169"/>
                </a:cubicBezTo>
                <a:cubicBezTo>
                  <a:pt x="163" y="169"/>
                  <a:pt x="163" y="169"/>
                  <a:pt x="163" y="169"/>
                </a:cubicBezTo>
                <a:cubicBezTo>
                  <a:pt x="164" y="169"/>
                  <a:pt x="164" y="169"/>
                  <a:pt x="164" y="169"/>
                </a:cubicBezTo>
                <a:cubicBezTo>
                  <a:pt x="165" y="168"/>
                  <a:pt x="165" y="168"/>
                  <a:pt x="165" y="168"/>
                </a:cubicBezTo>
                <a:cubicBezTo>
                  <a:pt x="165" y="168"/>
                  <a:pt x="165" y="168"/>
                  <a:pt x="165" y="168"/>
                </a:cubicBezTo>
                <a:cubicBezTo>
                  <a:pt x="167" y="167"/>
                  <a:pt x="168" y="166"/>
                  <a:pt x="168" y="165"/>
                </a:cubicBezTo>
                <a:cubicBezTo>
                  <a:pt x="169" y="164"/>
                  <a:pt x="169" y="164"/>
                  <a:pt x="169" y="164"/>
                </a:cubicBezTo>
                <a:cubicBezTo>
                  <a:pt x="169" y="163"/>
                  <a:pt x="169" y="163"/>
                  <a:pt x="169" y="163"/>
                </a:cubicBezTo>
                <a:cubicBezTo>
                  <a:pt x="170" y="162"/>
                  <a:pt x="170" y="162"/>
                  <a:pt x="170" y="162"/>
                </a:cubicBezTo>
                <a:cubicBezTo>
                  <a:pt x="170" y="161"/>
                  <a:pt x="170" y="161"/>
                  <a:pt x="170" y="161"/>
                </a:cubicBezTo>
                <a:cubicBezTo>
                  <a:pt x="170" y="161"/>
                  <a:pt x="170" y="160"/>
                  <a:pt x="170" y="159"/>
                </a:cubicBezTo>
                <a:cubicBezTo>
                  <a:pt x="170" y="112"/>
                  <a:pt x="170" y="112"/>
                  <a:pt x="170" y="112"/>
                </a:cubicBezTo>
                <a:cubicBezTo>
                  <a:pt x="170" y="106"/>
                  <a:pt x="165" y="101"/>
                  <a:pt x="160" y="101"/>
                </a:cubicBezTo>
                <a:close/>
              </a:path>
            </a:pathLst>
          </a:custGeom>
          <a:solidFill>
            <a:srgbClr val="C00000"/>
          </a:solidFill>
          <a:ln w="12700" cap="flat" cmpd="sng" algn="ctr">
            <a:solidFill>
              <a:srgbClr val="E7E6E6">
                <a:lumMod val="75000"/>
              </a:srgbClr>
            </a:solidFill>
            <a:prstDash val="solid"/>
            <a:miter lim="800000"/>
          </a:ln>
          <a:effectLst/>
        </p:spPr>
        <p:txBody>
          <a:bodyPr rot="0" spcFirstLastPara="0" vertOverflow="overflow" horzOverflow="overflow" vert="horz" wrap="square" lIns="68510" tIns="34255" rIns="68510" bIns="34255" numCol="1" spcCol="0" rtlCol="0" fromWordArt="0" anchor="ctr" anchorCtr="0" forceAA="0" compatLnSpc="1">
            <a:prstTxWarp prst="textNoShape">
              <a:avLst/>
            </a:prstTxWarp>
            <a:noAutofit/>
          </a:bodyPr>
          <a:lstStyle/>
          <a:p>
            <a:pPr algn="ctr" defTabSz="685173">
              <a:defRPr/>
            </a:pPr>
            <a:endParaRPr lang="zh-CN" altLang="en-US" sz="600" b="1">
              <a:solidFill>
                <a:srgbClr val="666666"/>
              </a:solidFill>
              <a:latin typeface="微软雅黑" panose="020B0503020204020204" pitchFamily="34" charset="-122"/>
              <a:ea typeface="微软雅黑" panose="020B0503020204020204" pitchFamily="34" charset="-122"/>
              <a:cs typeface="+mn-ea"/>
            </a:endParaRPr>
          </a:p>
        </p:txBody>
      </p:sp>
      <p:cxnSp>
        <p:nvCxnSpPr>
          <p:cNvPr id="17" name="直接连接符 16">
            <a:extLst>
              <a:ext uri="{FF2B5EF4-FFF2-40B4-BE49-F238E27FC236}">
                <a16:creationId xmlns:a16="http://schemas.microsoft.com/office/drawing/2014/main" id="{B5071349-D164-4C54-8688-0FF7FEF8FE09}"/>
              </a:ext>
            </a:extLst>
          </p:cNvPr>
          <p:cNvCxnSpPr>
            <a:cxnSpLocks/>
            <a:stCxn id="1055" idx="2"/>
          </p:cNvCxnSpPr>
          <p:nvPr/>
        </p:nvCxnSpPr>
        <p:spPr>
          <a:xfrm flipH="1">
            <a:off x="970351" y="1359727"/>
            <a:ext cx="264888" cy="179533"/>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a:extLst>
              <a:ext uri="{FF2B5EF4-FFF2-40B4-BE49-F238E27FC236}">
                <a16:creationId xmlns:a16="http://schemas.microsoft.com/office/drawing/2014/main" id="{275AD6E3-1F3E-45D0-8D29-EF49FD7FCC6D}"/>
              </a:ext>
            </a:extLst>
          </p:cNvPr>
          <p:cNvCxnSpPr>
            <a:cxnSpLocks/>
            <a:stCxn id="1055" idx="2"/>
          </p:cNvCxnSpPr>
          <p:nvPr/>
        </p:nvCxnSpPr>
        <p:spPr>
          <a:xfrm>
            <a:off x="1235239" y="1359726"/>
            <a:ext cx="258613" cy="199737"/>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1059" name="图片 1058" descr="笔记本电脑.png">
            <a:extLst>
              <a:ext uri="{FF2B5EF4-FFF2-40B4-BE49-F238E27FC236}">
                <a16:creationId xmlns:a16="http://schemas.microsoft.com/office/drawing/2014/main" id="{D88745E7-D89D-4C86-A35A-DA8797D6F0D5}"/>
              </a:ext>
            </a:extLst>
          </p:cNvPr>
          <p:cNvPicPr>
            <a:picLocks noChangeAspect="1"/>
          </p:cNvPicPr>
          <p:nvPr/>
        </p:nvPicPr>
        <p:blipFill>
          <a:blip r:embed="rId6" cstate="print"/>
          <a:stretch>
            <a:fillRect/>
          </a:stretch>
        </p:blipFill>
        <p:spPr>
          <a:xfrm>
            <a:off x="721288" y="2066241"/>
            <a:ext cx="506830" cy="317743"/>
          </a:xfrm>
          <a:prstGeom prst="rect">
            <a:avLst/>
          </a:prstGeom>
        </p:spPr>
      </p:pic>
      <p:pic>
        <p:nvPicPr>
          <p:cNvPr id="1060" name="图片 1059">
            <a:extLst>
              <a:ext uri="{FF2B5EF4-FFF2-40B4-BE49-F238E27FC236}">
                <a16:creationId xmlns:a16="http://schemas.microsoft.com/office/drawing/2014/main" id="{03AAE1B0-38F1-4EBC-978A-9294D05B3CB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60901" y="2105724"/>
            <a:ext cx="236395" cy="189369"/>
          </a:xfrm>
          <a:prstGeom prst="rect">
            <a:avLst/>
          </a:prstGeom>
        </p:spPr>
      </p:pic>
      <p:pic>
        <p:nvPicPr>
          <p:cNvPr id="1061" name="图片 1060" descr="笔记本电脑.png">
            <a:extLst>
              <a:ext uri="{FF2B5EF4-FFF2-40B4-BE49-F238E27FC236}">
                <a16:creationId xmlns:a16="http://schemas.microsoft.com/office/drawing/2014/main" id="{F399322F-9DA7-48C5-BCD0-5D434FE1B840}"/>
              </a:ext>
            </a:extLst>
          </p:cNvPr>
          <p:cNvPicPr>
            <a:picLocks noChangeAspect="1"/>
          </p:cNvPicPr>
          <p:nvPr/>
        </p:nvPicPr>
        <p:blipFill>
          <a:blip r:embed="rId6" cstate="print"/>
          <a:stretch>
            <a:fillRect/>
          </a:stretch>
        </p:blipFill>
        <p:spPr>
          <a:xfrm>
            <a:off x="1417229" y="2074860"/>
            <a:ext cx="506830" cy="317743"/>
          </a:xfrm>
          <a:prstGeom prst="rect">
            <a:avLst/>
          </a:prstGeom>
        </p:spPr>
      </p:pic>
      <p:pic>
        <p:nvPicPr>
          <p:cNvPr id="1062" name="图片 1061">
            <a:extLst>
              <a:ext uri="{FF2B5EF4-FFF2-40B4-BE49-F238E27FC236}">
                <a16:creationId xmlns:a16="http://schemas.microsoft.com/office/drawing/2014/main" id="{6019C24D-8439-45A0-A57B-752243D6D80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56842" y="2114343"/>
            <a:ext cx="236395" cy="189369"/>
          </a:xfrm>
          <a:prstGeom prst="rect">
            <a:avLst/>
          </a:prstGeom>
        </p:spPr>
      </p:pic>
      <p:sp>
        <p:nvSpPr>
          <p:cNvPr id="24" name="任意多边形: 形状 23">
            <a:extLst>
              <a:ext uri="{FF2B5EF4-FFF2-40B4-BE49-F238E27FC236}">
                <a16:creationId xmlns:a16="http://schemas.microsoft.com/office/drawing/2014/main" id="{721FF446-87A6-4F6A-9C0F-F65FB84D87EF}"/>
              </a:ext>
            </a:extLst>
          </p:cNvPr>
          <p:cNvSpPr/>
          <p:nvPr/>
        </p:nvSpPr>
        <p:spPr>
          <a:xfrm>
            <a:off x="973336" y="777021"/>
            <a:ext cx="3658119" cy="1622143"/>
          </a:xfrm>
          <a:custGeom>
            <a:avLst/>
            <a:gdLst>
              <a:gd name="connsiteX0" fmla="*/ 56953 w 4879397"/>
              <a:gd name="connsiteY0" fmla="*/ 1874296 h 2163702"/>
              <a:gd name="connsiteX1" fmla="*/ 15389 w 4879397"/>
              <a:gd name="connsiteY1" fmla="*/ 1236987 h 2163702"/>
              <a:gd name="connsiteX2" fmla="*/ 285553 w 4879397"/>
              <a:gd name="connsiteY2" fmla="*/ 731296 h 2163702"/>
              <a:gd name="connsiteX3" fmla="*/ 444880 w 4879397"/>
              <a:gd name="connsiteY3" fmla="*/ 440351 h 2163702"/>
              <a:gd name="connsiteX4" fmla="*/ 1892680 w 4879397"/>
              <a:gd name="connsiteY4" fmla="*/ 87060 h 2163702"/>
              <a:gd name="connsiteX5" fmla="*/ 3617571 w 4879397"/>
              <a:gd name="connsiteY5" fmla="*/ 45496 h 2163702"/>
              <a:gd name="connsiteX6" fmla="*/ 3562153 w 4879397"/>
              <a:gd name="connsiteY6" fmla="*/ 648169 h 2163702"/>
              <a:gd name="connsiteX7" fmla="*/ 2460716 w 4879397"/>
              <a:gd name="connsiteY7" fmla="*/ 1354751 h 2163702"/>
              <a:gd name="connsiteX8" fmla="*/ 2509207 w 4879397"/>
              <a:gd name="connsiteY8" fmla="*/ 1992060 h 2163702"/>
              <a:gd name="connsiteX9" fmla="*/ 4130189 w 4879397"/>
              <a:gd name="connsiteY9" fmla="*/ 682805 h 2163702"/>
              <a:gd name="connsiteX10" fmla="*/ 4857553 w 4879397"/>
              <a:gd name="connsiteY10" fmla="*/ 1347824 h 2163702"/>
              <a:gd name="connsiteX11" fmla="*/ 4691298 w 4879397"/>
              <a:gd name="connsiteY11" fmla="*/ 2109824 h 2163702"/>
              <a:gd name="connsiteX12" fmla="*/ 4712080 w 4879397"/>
              <a:gd name="connsiteY12" fmla="*/ 2040551 h 216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79397" h="2163702">
                <a:moveTo>
                  <a:pt x="56953" y="1874296"/>
                </a:moveTo>
                <a:cubicBezTo>
                  <a:pt x="17121" y="1650891"/>
                  <a:pt x="-22711" y="1427487"/>
                  <a:pt x="15389" y="1236987"/>
                </a:cubicBezTo>
                <a:cubicBezTo>
                  <a:pt x="53489" y="1046487"/>
                  <a:pt x="285553" y="731296"/>
                  <a:pt x="285553" y="731296"/>
                </a:cubicBezTo>
                <a:cubicBezTo>
                  <a:pt x="357135" y="598523"/>
                  <a:pt x="177025" y="547724"/>
                  <a:pt x="444880" y="440351"/>
                </a:cubicBezTo>
                <a:cubicBezTo>
                  <a:pt x="712735" y="332978"/>
                  <a:pt x="1363898" y="152869"/>
                  <a:pt x="1892680" y="87060"/>
                </a:cubicBezTo>
                <a:cubicBezTo>
                  <a:pt x="2421462" y="21251"/>
                  <a:pt x="3339326" y="-48022"/>
                  <a:pt x="3617571" y="45496"/>
                </a:cubicBezTo>
                <a:cubicBezTo>
                  <a:pt x="3895816" y="139014"/>
                  <a:pt x="3754962" y="429960"/>
                  <a:pt x="3562153" y="648169"/>
                </a:cubicBezTo>
                <a:cubicBezTo>
                  <a:pt x="3369344" y="866378"/>
                  <a:pt x="2636207" y="1130769"/>
                  <a:pt x="2460716" y="1354751"/>
                </a:cubicBezTo>
                <a:cubicBezTo>
                  <a:pt x="2285225" y="1578733"/>
                  <a:pt x="2230962" y="2104051"/>
                  <a:pt x="2509207" y="1992060"/>
                </a:cubicBezTo>
                <a:cubicBezTo>
                  <a:pt x="2787452" y="1880069"/>
                  <a:pt x="3738798" y="790178"/>
                  <a:pt x="4130189" y="682805"/>
                </a:cubicBezTo>
                <a:cubicBezTo>
                  <a:pt x="4521580" y="575432"/>
                  <a:pt x="4764035" y="1109988"/>
                  <a:pt x="4857553" y="1347824"/>
                </a:cubicBezTo>
                <a:cubicBezTo>
                  <a:pt x="4951071" y="1585660"/>
                  <a:pt x="4715543" y="1994370"/>
                  <a:pt x="4691298" y="2109824"/>
                </a:cubicBezTo>
                <a:cubicBezTo>
                  <a:pt x="4667053" y="2225278"/>
                  <a:pt x="4689566" y="2132914"/>
                  <a:pt x="4712080" y="2040551"/>
                </a:cubicBezTo>
              </a:path>
            </a:pathLst>
          </a:custGeom>
          <a:noFill/>
          <a:ln w="127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9"/>
          </a:p>
        </p:txBody>
      </p:sp>
      <p:sp>
        <p:nvSpPr>
          <p:cNvPr id="25" name="任意多边形: 形状 24">
            <a:extLst>
              <a:ext uri="{FF2B5EF4-FFF2-40B4-BE49-F238E27FC236}">
                <a16:creationId xmlns:a16="http://schemas.microsoft.com/office/drawing/2014/main" id="{D9F998EC-EF8D-4605-8351-5FEF59D21076}"/>
              </a:ext>
            </a:extLst>
          </p:cNvPr>
          <p:cNvSpPr/>
          <p:nvPr/>
        </p:nvSpPr>
        <p:spPr>
          <a:xfrm>
            <a:off x="1262470" y="674382"/>
            <a:ext cx="6649436" cy="1637648"/>
          </a:xfrm>
          <a:custGeom>
            <a:avLst/>
            <a:gdLst>
              <a:gd name="connsiteX0" fmla="*/ 620325 w 8869378"/>
              <a:gd name="connsiteY0" fmla="*/ 1858802 h 2184384"/>
              <a:gd name="connsiteX1" fmla="*/ 170052 w 8869378"/>
              <a:gd name="connsiteY1" fmla="*/ 888984 h 2184384"/>
              <a:gd name="connsiteX2" fmla="*/ 3134925 w 8869378"/>
              <a:gd name="connsiteY2" fmla="*/ 258602 h 2184384"/>
              <a:gd name="connsiteX3" fmla="*/ 2899398 w 8869378"/>
              <a:gd name="connsiteY3" fmla="*/ 1921148 h 2184384"/>
              <a:gd name="connsiteX4" fmla="*/ 3966198 w 8869378"/>
              <a:gd name="connsiteY4" fmla="*/ 217039 h 2184384"/>
              <a:gd name="connsiteX5" fmla="*/ 7547598 w 8869378"/>
              <a:gd name="connsiteY5" fmla="*/ 168548 h 2184384"/>
              <a:gd name="connsiteX6" fmla="*/ 7180452 w 8869378"/>
              <a:gd name="connsiteY6" fmla="*/ 1547075 h 2184384"/>
              <a:gd name="connsiteX7" fmla="*/ 7263580 w 8869378"/>
              <a:gd name="connsiteY7" fmla="*/ 1914221 h 2184384"/>
              <a:gd name="connsiteX8" fmla="*/ 8184907 w 8869378"/>
              <a:gd name="connsiteY8" fmla="*/ 688093 h 2184384"/>
              <a:gd name="connsiteX9" fmla="*/ 8842998 w 8869378"/>
              <a:gd name="connsiteY9" fmla="*/ 1470875 h 2184384"/>
              <a:gd name="connsiteX10" fmla="*/ 8676743 w 8869378"/>
              <a:gd name="connsiteY10" fmla="*/ 2184384 h 218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869378" h="2184384">
                <a:moveTo>
                  <a:pt x="620325" y="1858802"/>
                </a:moveTo>
                <a:cubicBezTo>
                  <a:pt x="185638" y="1507243"/>
                  <a:pt x="-249048" y="1155684"/>
                  <a:pt x="170052" y="888984"/>
                </a:cubicBezTo>
                <a:cubicBezTo>
                  <a:pt x="589152" y="622284"/>
                  <a:pt x="2680034" y="86575"/>
                  <a:pt x="3134925" y="258602"/>
                </a:cubicBezTo>
                <a:cubicBezTo>
                  <a:pt x="3589816" y="430629"/>
                  <a:pt x="2760853" y="1928075"/>
                  <a:pt x="2899398" y="1921148"/>
                </a:cubicBezTo>
                <a:cubicBezTo>
                  <a:pt x="3037944" y="1914221"/>
                  <a:pt x="3191498" y="509139"/>
                  <a:pt x="3966198" y="217039"/>
                </a:cubicBezTo>
                <a:cubicBezTo>
                  <a:pt x="4740898" y="-75061"/>
                  <a:pt x="7011889" y="-53125"/>
                  <a:pt x="7547598" y="168548"/>
                </a:cubicBezTo>
                <a:cubicBezTo>
                  <a:pt x="8083307" y="390221"/>
                  <a:pt x="7227788" y="1256129"/>
                  <a:pt x="7180452" y="1547075"/>
                </a:cubicBezTo>
                <a:cubicBezTo>
                  <a:pt x="7133116" y="1838021"/>
                  <a:pt x="7096171" y="2057385"/>
                  <a:pt x="7263580" y="1914221"/>
                </a:cubicBezTo>
                <a:cubicBezTo>
                  <a:pt x="7430989" y="1771057"/>
                  <a:pt x="7921671" y="761984"/>
                  <a:pt x="8184907" y="688093"/>
                </a:cubicBezTo>
                <a:cubicBezTo>
                  <a:pt x="8448143" y="614202"/>
                  <a:pt x="8761025" y="1221493"/>
                  <a:pt x="8842998" y="1470875"/>
                </a:cubicBezTo>
                <a:cubicBezTo>
                  <a:pt x="8924971" y="1720257"/>
                  <a:pt x="8800857" y="1952320"/>
                  <a:pt x="8676743" y="2184384"/>
                </a:cubicBezTo>
              </a:path>
            </a:pathLst>
          </a:cu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49"/>
          </a:p>
        </p:txBody>
      </p:sp>
      <p:sp>
        <p:nvSpPr>
          <p:cNvPr id="354" name="矩形 353">
            <a:extLst>
              <a:ext uri="{FF2B5EF4-FFF2-40B4-BE49-F238E27FC236}">
                <a16:creationId xmlns:a16="http://schemas.microsoft.com/office/drawing/2014/main" id="{786307E9-1696-4A69-A1BA-989FCC1694FE}"/>
              </a:ext>
            </a:extLst>
          </p:cNvPr>
          <p:cNvSpPr/>
          <p:nvPr/>
        </p:nvSpPr>
        <p:spPr>
          <a:xfrm>
            <a:off x="752929" y="2469148"/>
            <a:ext cx="1035344" cy="230832"/>
          </a:xfrm>
          <a:prstGeom prst="rect">
            <a:avLst/>
          </a:prstGeom>
        </p:spPr>
        <p:txBody>
          <a:bodyPr wrap="square">
            <a:spAutoFit/>
          </a:bodyPr>
          <a:lstStyle/>
          <a:p>
            <a:pPr algn="ctr" defTabSz="685526">
              <a:defRPr/>
            </a:pPr>
            <a:r>
              <a:rPr lang="en-US" altLang="zh-CN" sz="900" b="1" dirty="0">
                <a:solidFill>
                  <a:prstClr val="black"/>
                </a:solidFill>
                <a:latin typeface="微软雅黑" panose="020B0503020204020204" pitchFamily="34" charset="-122"/>
                <a:ea typeface="微软雅黑" panose="020B0503020204020204" pitchFamily="34" charset="-122"/>
              </a:rPr>
              <a:t>IPO Sponsor</a:t>
            </a:r>
            <a:endParaRPr lang="en-US" sz="900" b="1" dirty="0">
              <a:solidFill>
                <a:prstClr val="black"/>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F91FECD6-326C-4378-A393-2FFD52C385B4}"/>
              </a:ext>
            </a:extLst>
          </p:cNvPr>
          <p:cNvGrpSpPr/>
          <p:nvPr/>
        </p:nvGrpSpPr>
        <p:grpSpPr>
          <a:xfrm>
            <a:off x="1528890" y="4433380"/>
            <a:ext cx="506830" cy="317743"/>
            <a:chOff x="1388228" y="4457070"/>
            <a:chExt cx="676037" cy="423823"/>
          </a:xfrm>
        </p:grpSpPr>
        <p:pic>
          <p:nvPicPr>
            <p:cNvPr id="206" name="图片 205" descr="笔记本电脑.png">
              <a:extLst>
                <a:ext uri="{FF2B5EF4-FFF2-40B4-BE49-F238E27FC236}">
                  <a16:creationId xmlns:a16="http://schemas.microsoft.com/office/drawing/2014/main" id="{CCA620E6-32D1-4BAB-ADBE-01AEA0E7C425}"/>
                </a:ext>
              </a:extLst>
            </p:cNvPr>
            <p:cNvPicPr>
              <a:picLocks noChangeAspect="1"/>
            </p:cNvPicPr>
            <p:nvPr/>
          </p:nvPicPr>
          <p:blipFill>
            <a:blip r:embed="rId6" cstate="print"/>
            <a:stretch>
              <a:fillRect/>
            </a:stretch>
          </p:blipFill>
          <p:spPr>
            <a:xfrm>
              <a:off x="1388228" y="4457070"/>
              <a:ext cx="676037" cy="423823"/>
            </a:xfrm>
            <a:prstGeom prst="rect">
              <a:avLst/>
            </a:prstGeom>
          </p:spPr>
        </p:pic>
        <p:pic>
          <p:nvPicPr>
            <p:cNvPr id="207" name="图片 206">
              <a:extLst>
                <a:ext uri="{FF2B5EF4-FFF2-40B4-BE49-F238E27FC236}">
                  <a16:creationId xmlns:a16="http://schemas.microsoft.com/office/drawing/2014/main" id="{C71F59A8-4238-4895-8A52-C173F04FB3B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74452" y="4509735"/>
              <a:ext cx="315316" cy="252590"/>
            </a:xfrm>
            <a:prstGeom prst="rect">
              <a:avLst/>
            </a:prstGeom>
          </p:spPr>
        </p:pic>
      </p:grpSp>
      <p:grpSp>
        <p:nvGrpSpPr>
          <p:cNvPr id="4" name="组合 3">
            <a:extLst>
              <a:ext uri="{FF2B5EF4-FFF2-40B4-BE49-F238E27FC236}">
                <a16:creationId xmlns:a16="http://schemas.microsoft.com/office/drawing/2014/main" id="{D62464A2-1E48-4899-B71F-81E7F4110101}"/>
              </a:ext>
            </a:extLst>
          </p:cNvPr>
          <p:cNvGrpSpPr/>
          <p:nvPr/>
        </p:nvGrpSpPr>
        <p:grpSpPr>
          <a:xfrm>
            <a:off x="1580273" y="3718938"/>
            <a:ext cx="404064" cy="354916"/>
            <a:chOff x="2536627" y="4460152"/>
            <a:chExt cx="538963" cy="473406"/>
          </a:xfrm>
        </p:grpSpPr>
        <p:sp>
          <p:nvSpPr>
            <p:cNvPr id="209" name="矩形: 圆角 208">
              <a:extLst>
                <a:ext uri="{FF2B5EF4-FFF2-40B4-BE49-F238E27FC236}">
                  <a16:creationId xmlns:a16="http://schemas.microsoft.com/office/drawing/2014/main" id="{16F0B5B5-59E6-44E4-9B06-BB2EBF3F0FFD}"/>
                </a:ext>
              </a:extLst>
            </p:cNvPr>
            <p:cNvSpPr/>
            <p:nvPr/>
          </p:nvSpPr>
          <p:spPr>
            <a:xfrm>
              <a:off x="2536627" y="4460152"/>
              <a:ext cx="538963" cy="473406"/>
            </a:xfrm>
            <a:prstGeom prst="roundRect">
              <a:avLst>
                <a:gd name="adj" fmla="val 14591"/>
              </a:avLst>
            </a:prstGeom>
            <a:solidFill>
              <a:srgbClr val="FCC800">
                <a:lumMod val="20000"/>
                <a:lumOff val="80000"/>
              </a:srgbClr>
            </a:solidFill>
            <a:ln w="12700" cap="flat" cmpd="sng" algn="ctr">
              <a:solidFill>
                <a:srgbClr val="0070C0"/>
              </a:solidFill>
              <a:prstDash val="dash"/>
              <a:miter lim="800000"/>
            </a:ln>
            <a:effectLst/>
          </p:spPr>
          <p:txBody>
            <a:bodyPr rtlCol="0" anchor="ctr"/>
            <a:lstStyle/>
            <a:p>
              <a:pPr algn="ctr" defTabSz="685050">
                <a:defRPr/>
              </a:pPr>
              <a:endParaRPr lang="zh-CN" altLang="en-US" sz="105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10" name="矩形 209">
              <a:extLst>
                <a:ext uri="{FF2B5EF4-FFF2-40B4-BE49-F238E27FC236}">
                  <a16:creationId xmlns:a16="http://schemas.microsoft.com/office/drawing/2014/main" id="{45F204D7-D9DA-4236-A7D5-CB73A85AF24F}"/>
                </a:ext>
              </a:extLst>
            </p:cNvPr>
            <p:cNvSpPr/>
            <p:nvPr/>
          </p:nvSpPr>
          <p:spPr>
            <a:xfrm>
              <a:off x="2637809" y="4539316"/>
              <a:ext cx="381026" cy="282148"/>
            </a:xfrm>
            <a:prstGeom prst="rect">
              <a:avLst/>
            </a:prstGeom>
            <a:ln w="15875">
              <a:solidFill>
                <a:sysClr val="window" lastClr="FFFFFF">
                  <a:lumMod val="75000"/>
                </a:sysClr>
              </a:solidFill>
            </a:ln>
          </p:spPr>
          <p:txBody>
            <a:bodyPr wrap="square" rtlCol="0" anchor="ctr">
              <a:noAutofit/>
            </a:bodyPr>
            <a:lstStyle/>
            <a:p>
              <a:pPr defTabSz="685173">
                <a:defRPr/>
              </a:pPr>
              <a:endParaRPr lang="zh-CN" altLang="en-US" sz="900" b="1"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211" name="Freeform 99">
              <a:extLst>
                <a:ext uri="{FF2B5EF4-FFF2-40B4-BE49-F238E27FC236}">
                  <a16:creationId xmlns:a16="http://schemas.microsoft.com/office/drawing/2014/main" id="{0FD8B2E2-5BE3-4390-8580-E1D739B42BCD}"/>
                </a:ext>
              </a:extLst>
            </p:cNvPr>
            <p:cNvSpPr>
              <a:spLocks noEditPoints="1"/>
            </p:cNvSpPr>
            <p:nvPr/>
          </p:nvSpPr>
          <p:spPr bwMode="auto">
            <a:xfrm>
              <a:off x="2686114" y="4572225"/>
              <a:ext cx="287974" cy="227325"/>
            </a:xfrm>
            <a:custGeom>
              <a:avLst/>
              <a:gdLst>
                <a:gd name="T0" fmla="*/ 21 w 170"/>
                <a:gd name="T1" fmla="*/ 134 h 170"/>
                <a:gd name="T2" fmla="*/ 10 w 170"/>
                <a:gd name="T3" fmla="*/ 100 h 170"/>
                <a:gd name="T4" fmla="*/ 0 w 170"/>
                <a:gd name="T5" fmla="*/ 159 h 170"/>
                <a:gd name="T6" fmla="*/ 0 w 170"/>
                <a:gd name="T7" fmla="*/ 162 h 170"/>
                <a:gd name="T8" fmla="*/ 1 w 170"/>
                <a:gd name="T9" fmla="*/ 164 h 170"/>
                <a:gd name="T10" fmla="*/ 5 w 170"/>
                <a:gd name="T11" fmla="*/ 168 h 170"/>
                <a:gd name="T12" fmla="*/ 6 w 170"/>
                <a:gd name="T13" fmla="*/ 169 h 170"/>
                <a:gd name="T14" fmla="*/ 8 w 170"/>
                <a:gd name="T15" fmla="*/ 169 h 170"/>
                <a:gd name="T16" fmla="*/ 59 w 170"/>
                <a:gd name="T17" fmla="*/ 170 h 170"/>
                <a:gd name="T18" fmla="*/ 59 w 170"/>
                <a:gd name="T19" fmla="*/ 149 h 170"/>
                <a:gd name="T20" fmla="*/ 76 w 170"/>
                <a:gd name="T21" fmla="*/ 109 h 170"/>
                <a:gd name="T22" fmla="*/ 61 w 170"/>
                <a:gd name="T23" fmla="*/ 94 h 170"/>
                <a:gd name="T24" fmla="*/ 21 w 170"/>
                <a:gd name="T25" fmla="*/ 58 h 170"/>
                <a:gd name="T26" fmla="*/ 61 w 170"/>
                <a:gd name="T27" fmla="*/ 75 h 170"/>
                <a:gd name="T28" fmla="*/ 76 w 170"/>
                <a:gd name="T29" fmla="*/ 75 h 170"/>
                <a:gd name="T30" fmla="*/ 36 w 170"/>
                <a:gd name="T31" fmla="*/ 21 h 170"/>
                <a:gd name="T32" fmla="*/ 69 w 170"/>
                <a:gd name="T33" fmla="*/ 10 h 170"/>
                <a:gd name="T34" fmla="*/ 10 w 170"/>
                <a:gd name="T35" fmla="*/ 0 h 170"/>
                <a:gd name="T36" fmla="*/ 7 w 170"/>
                <a:gd name="T37" fmla="*/ 0 h 170"/>
                <a:gd name="T38" fmla="*/ 5 w 170"/>
                <a:gd name="T39" fmla="*/ 1 h 170"/>
                <a:gd name="T40" fmla="*/ 2 w 170"/>
                <a:gd name="T41" fmla="*/ 4 h 170"/>
                <a:gd name="T42" fmla="*/ 1 w 170"/>
                <a:gd name="T43" fmla="*/ 6 h 170"/>
                <a:gd name="T44" fmla="*/ 0 w 170"/>
                <a:gd name="T45" fmla="*/ 8 h 170"/>
                <a:gd name="T46" fmla="*/ 0 w 170"/>
                <a:gd name="T47" fmla="*/ 58 h 170"/>
                <a:gd name="T48" fmla="*/ 102 w 170"/>
                <a:gd name="T49" fmla="*/ 78 h 170"/>
                <a:gd name="T50" fmla="*/ 149 w 170"/>
                <a:gd name="T51" fmla="*/ 35 h 170"/>
                <a:gd name="T52" fmla="*/ 160 w 170"/>
                <a:gd name="T53" fmla="*/ 69 h 170"/>
                <a:gd name="T54" fmla="*/ 170 w 170"/>
                <a:gd name="T55" fmla="*/ 10 h 170"/>
                <a:gd name="T56" fmla="*/ 170 w 170"/>
                <a:gd name="T57" fmla="*/ 7 h 170"/>
                <a:gd name="T58" fmla="*/ 169 w 170"/>
                <a:gd name="T59" fmla="*/ 5 h 170"/>
                <a:gd name="T60" fmla="*/ 165 w 170"/>
                <a:gd name="T61" fmla="*/ 1 h 170"/>
                <a:gd name="T62" fmla="*/ 164 w 170"/>
                <a:gd name="T63" fmla="*/ 0 h 170"/>
                <a:gd name="T64" fmla="*/ 162 w 170"/>
                <a:gd name="T65" fmla="*/ 0 h 170"/>
                <a:gd name="T66" fmla="*/ 111 w 170"/>
                <a:gd name="T67" fmla="*/ 0 h 170"/>
                <a:gd name="T68" fmla="*/ 111 w 170"/>
                <a:gd name="T69" fmla="*/ 21 h 170"/>
                <a:gd name="T70" fmla="*/ 94 w 170"/>
                <a:gd name="T71" fmla="*/ 61 h 170"/>
                <a:gd name="T72" fmla="*/ 102 w 170"/>
                <a:gd name="T73" fmla="*/ 78 h 170"/>
                <a:gd name="T74" fmla="*/ 149 w 170"/>
                <a:gd name="T75" fmla="*/ 112 h 170"/>
                <a:gd name="T76" fmla="*/ 110 w 170"/>
                <a:gd name="T77" fmla="*/ 95 h 170"/>
                <a:gd name="T78" fmla="*/ 95 w 170"/>
                <a:gd name="T79" fmla="*/ 95 h 170"/>
                <a:gd name="T80" fmla="*/ 135 w 170"/>
                <a:gd name="T81" fmla="*/ 149 h 170"/>
                <a:gd name="T82" fmla="*/ 102 w 170"/>
                <a:gd name="T83" fmla="*/ 159 h 170"/>
                <a:gd name="T84" fmla="*/ 160 w 170"/>
                <a:gd name="T85" fmla="*/ 170 h 170"/>
                <a:gd name="T86" fmla="*/ 163 w 170"/>
                <a:gd name="T87" fmla="*/ 169 h 170"/>
                <a:gd name="T88" fmla="*/ 165 w 170"/>
                <a:gd name="T89" fmla="*/ 168 h 170"/>
                <a:gd name="T90" fmla="*/ 168 w 170"/>
                <a:gd name="T91" fmla="*/ 165 h 170"/>
                <a:gd name="T92" fmla="*/ 169 w 170"/>
                <a:gd name="T93" fmla="*/ 163 h 170"/>
                <a:gd name="T94" fmla="*/ 170 w 170"/>
                <a:gd name="T95" fmla="*/ 161 h 170"/>
                <a:gd name="T96" fmla="*/ 170 w 170"/>
                <a:gd name="T97" fmla="*/ 1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70">
                  <a:moveTo>
                    <a:pt x="61" y="94"/>
                  </a:moveTo>
                  <a:cubicBezTo>
                    <a:pt x="21" y="134"/>
                    <a:pt x="21" y="134"/>
                    <a:pt x="21" y="134"/>
                  </a:cubicBezTo>
                  <a:cubicBezTo>
                    <a:pt x="21" y="111"/>
                    <a:pt x="21" y="111"/>
                    <a:pt x="21" y="111"/>
                  </a:cubicBezTo>
                  <a:cubicBezTo>
                    <a:pt x="21" y="105"/>
                    <a:pt x="16" y="100"/>
                    <a:pt x="10" y="100"/>
                  </a:cubicBezTo>
                  <a:cubicBezTo>
                    <a:pt x="5" y="100"/>
                    <a:pt x="0" y="105"/>
                    <a:pt x="0" y="111"/>
                  </a:cubicBezTo>
                  <a:cubicBezTo>
                    <a:pt x="0" y="159"/>
                    <a:pt x="0" y="159"/>
                    <a:pt x="0" y="159"/>
                  </a:cubicBezTo>
                  <a:cubicBezTo>
                    <a:pt x="0" y="160"/>
                    <a:pt x="0" y="161"/>
                    <a:pt x="0" y="161"/>
                  </a:cubicBezTo>
                  <a:cubicBezTo>
                    <a:pt x="0" y="162"/>
                    <a:pt x="0" y="162"/>
                    <a:pt x="0" y="162"/>
                  </a:cubicBezTo>
                  <a:cubicBezTo>
                    <a:pt x="1" y="163"/>
                    <a:pt x="1" y="163"/>
                    <a:pt x="1" y="163"/>
                  </a:cubicBezTo>
                  <a:cubicBezTo>
                    <a:pt x="1" y="164"/>
                    <a:pt x="1" y="164"/>
                    <a:pt x="1" y="164"/>
                  </a:cubicBezTo>
                  <a:cubicBezTo>
                    <a:pt x="2" y="165"/>
                    <a:pt x="2" y="165"/>
                    <a:pt x="2" y="165"/>
                  </a:cubicBezTo>
                  <a:cubicBezTo>
                    <a:pt x="2" y="166"/>
                    <a:pt x="3" y="167"/>
                    <a:pt x="5" y="168"/>
                  </a:cubicBezTo>
                  <a:cubicBezTo>
                    <a:pt x="5" y="168"/>
                    <a:pt x="5" y="168"/>
                    <a:pt x="5" y="168"/>
                  </a:cubicBezTo>
                  <a:cubicBezTo>
                    <a:pt x="6" y="169"/>
                    <a:pt x="6" y="169"/>
                    <a:pt x="6" y="169"/>
                  </a:cubicBezTo>
                  <a:cubicBezTo>
                    <a:pt x="7" y="169"/>
                    <a:pt x="7" y="169"/>
                    <a:pt x="7" y="169"/>
                  </a:cubicBezTo>
                  <a:cubicBezTo>
                    <a:pt x="8" y="169"/>
                    <a:pt x="8" y="169"/>
                    <a:pt x="8" y="169"/>
                  </a:cubicBezTo>
                  <a:cubicBezTo>
                    <a:pt x="9" y="170"/>
                    <a:pt x="10" y="170"/>
                    <a:pt x="10" y="170"/>
                  </a:cubicBezTo>
                  <a:cubicBezTo>
                    <a:pt x="59" y="170"/>
                    <a:pt x="59" y="170"/>
                    <a:pt x="59" y="170"/>
                  </a:cubicBezTo>
                  <a:cubicBezTo>
                    <a:pt x="65" y="170"/>
                    <a:pt x="69" y="165"/>
                    <a:pt x="69" y="159"/>
                  </a:cubicBezTo>
                  <a:cubicBezTo>
                    <a:pt x="69" y="153"/>
                    <a:pt x="65" y="149"/>
                    <a:pt x="59" y="149"/>
                  </a:cubicBezTo>
                  <a:cubicBezTo>
                    <a:pt x="36" y="149"/>
                    <a:pt x="36" y="149"/>
                    <a:pt x="36" y="149"/>
                  </a:cubicBezTo>
                  <a:cubicBezTo>
                    <a:pt x="76" y="109"/>
                    <a:pt x="76" y="109"/>
                    <a:pt x="76" y="109"/>
                  </a:cubicBezTo>
                  <a:cubicBezTo>
                    <a:pt x="80" y="105"/>
                    <a:pt x="80" y="98"/>
                    <a:pt x="76" y="94"/>
                  </a:cubicBezTo>
                  <a:cubicBezTo>
                    <a:pt x="72" y="90"/>
                    <a:pt x="65" y="90"/>
                    <a:pt x="61" y="94"/>
                  </a:cubicBezTo>
                  <a:close/>
                  <a:moveTo>
                    <a:pt x="10" y="69"/>
                  </a:moveTo>
                  <a:cubicBezTo>
                    <a:pt x="16" y="69"/>
                    <a:pt x="21" y="64"/>
                    <a:pt x="21" y="58"/>
                  </a:cubicBezTo>
                  <a:cubicBezTo>
                    <a:pt x="21" y="35"/>
                    <a:pt x="21" y="35"/>
                    <a:pt x="21" y="35"/>
                  </a:cubicBezTo>
                  <a:cubicBezTo>
                    <a:pt x="61" y="75"/>
                    <a:pt x="61" y="75"/>
                    <a:pt x="61" y="75"/>
                  </a:cubicBezTo>
                  <a:cubicBezTo>
                    <a:pt x="63" y="77"/>
                    <a:pt x="66" y="78"/>
                    <a:pt x="68" y="78"/>
                  </a:cubicBezTo>
                  <a:cubicBezTo>
                    <a:pt x="71" y="78"/>
                    <a:pt x="74" y="77"/>
                    <a:pt x="76" y="75"/>
                  </a:cubicBezTo>
                  <a:cubicBezTo>
                    <a:pt x="80" y="71"/>
                    <a:pt x="80" y="65"/>
                    <a:pt x="76" y="61"/>
                  </a:cubicBezTo>
                  <a:cubicBezTo>
                    <a:pt x="36" y="21"/>
                    <a:pt x="36" y="21"/>
                    <a:pt x="36" y="21"/>
                  </a:cubicBezTo>
                  <a:cubicBezTo>
                    <a:pt x="59" y="21"/>
                    <a:pt x="59" y="21"/>
                    <a:pt x="59" y="21"/>
                  </a:cubicBezTo>
                  <a:cubicBezTo>
                    <a:pt x="65" y="21"/>
                    <a:pt x="69" y="16"/>
                    <a:pt x="69" y="10"/>
                  </a:cubicBezTo>
                  <a:cubicBezTo>
                    <a:pt x="69" y="4"/>
                    <a:pt x="65" y="0"/>
                    <a:pt x="59" y="0"/>
                  </a:cubicBezTo>
                  <a:cubicBezTo>
                    <a:pt x="10" y="0"/>
                    <a:pt x="10" y="0"/>
                    <a:pt x="10" y="0"/>
                  </a:cubicBezTo>
                  <a:cubicBezTo>
                    <a:pt x="10" y="0"/>
                    <a:pt x="9" y="0"/>
                    <a:pt x="8" y="0"/>
                  </a:cubicBezTo>
                  <a:cubicBezTo>
                    <a:pt x="7" y="0"/>
                    <a:pt x="7" y="0"/>
                    <a:pt x="7" y="0"/>
                  </a:cubicBezTo>
                  <a:cubicBezTo>
                    <a:pt x="6" y="0"/>
                    <a:pt x="6" y="0"/>
                    <a:pt x="6" y="0"/>
                  </a:cubicBezTo>
                  <a:cubicBezTo>
                    <a:pt x="6" y="1"/>
                    <a:pt x="6" y="1"/>
                    <a:pt x="5" y="1"/>
                  </a:cubicBezTo>
                  <a:cubicBezTo>
                    <a:pt x="5" y="1"/>
                    <a:pt x="5" y="1"/>
                    <a:pt x="5" y="1"/>
                  </a:cubicBezTo>
                  <a:cubicBezTo>
                    <a:pt x="3" y="2"/>
                    <a:pt x="2" y="3"/>
                    <a:pt x="2" y="4"/>
                  </a:cubicBezTo>
                  <a:cubicBezTo>
                    <a:pt x="1" y="5"/>
                    <a:pt x="1" y="5"/>
                    <a:pt x="1" y="5"/>
                  </a:cubicBezTo>
                  <a:cubicBezTo>
                    <a:pt x="1" y="6"/>
                    <a:pt x="1" y="6"/>
                    <a:pt x="1" y="6"/>
                  </a:cubicBezTo>
                  <a:cubicBezTo>
                    <a:pt x="0" y="7"/>
                    <a:pt x="0" y="7"/>
                    <a:pt x="0" y="7"/>
                  </a:cubicBezTo>
                  <a:cubicBezTo>
                    <a:pt x="0" y="8"/>
                    <a:pt x="0" y="8"/>
                    <a:pt x="0" y="8"/>
                  </a:cubicBezTo>
                  <a:cubicBezTo>
                    <a:pt x="0" y="9"/>
                    <a:pt x="0" y="9"/>
                    <a:pt x="0" y="10"/>
                  </a:cubicBezTo>
                  <a:cubicBezTo>
                    <a:pt x="0" y="58"/>
                    <a:pt x="0" y="58"/>
                    <a:pt x="0" y="58"/>
                  </a:cubicBezTo>
                  <a:cubicBezTo>
                    <a:pt x="0" y="64"/>
                    <a:pt x="5" y="69"/>
                    <a:pt x="10" y="69"/>
                  </a:cubicBezTo>
                  <a:close/>
                  <a:moveTo>
                    <a:pt x="102" y="78"/>
                  </a:moveTo>
                  <a:cubicBezTo>
                    <a:pt x="104" y="78"/>
                    <a:pt x="107" y="77"/>
                    <a:pt x="109" y="75"/>
                  </a:cubicBezTo>
                  <a:cubicBezTo>
                    <a:pt x="149" y="35"/>
                    <a:pt x="149" y="35"/>
                    <a:pt x="149" y="35"/>
                  </a:cubicBezTo>
                  <a:cubicBezTo>
                    <a:pt x="149" y="58"/>
                    <a:pt x="149" y="58"/>
                    <a:pt x="149" y="58"/>
                  </a:cubicBezTo>
                  <a:cubicBezTo>
                    <a:pt x="149" y="64"/>
                    <a:pt x="154" y="69"/>
                    <a:pt x="160" y="69"/>
                  </a:cubicBezTo>
                  <a:cubicBezTo>
                    <a:pt x="165" y="69"/>
                    <a:pt x="170" y="64"/>
                    <a:pt x="170" y="58"/>
                  </a:cubicBezTo>
                  <a:cubicBezTo>
                    <a:pt x="170" y="10"/>
                    <a:pt x="170" y="10"/>
                    <a:pt x="170" y="10"/>
                  </a:cubicBezTo>
                  <a:cubicBezTo>
                    <a:pt x="170" y="9"/>
                    <a:pt x="170" y="9"/>
                    <a:pt x="170" y="8"/>
                  </a:cubicBezTo>
                  <a:cubicBezTo>
                    <a:pt x="170" y="7"/>
                    <a:pt x="170" y="7"/>
                    <a:pt x="170" y="7"/>
                  </a:cubicBezTo>
                  <a:cubicBezTo>
                    <a:pt x="169" y="6"/>
                    <a:pt x="169" y="6"/>
                    <a:pt x="169" y="6"/>
                  </a:cubicBezTo>
                  <a:cubicBezTo>
                    <a:pt x="169" y="6"/>
                    <a:pt x="169" y="5"/>
                    <a:pt x="169" y="5"/>
                  </a:cubicBezTo>
                  <a:cubicBezTo>
                    <a:pt x="168" y="4"/>
                    <a:pt x="168" y="4"/>
                    <a:pt x="168" y="4"/>
                  </a:cubicBezTo>
                  <a:cubicBezTo>
                    <a:pt x="167" y="3"/>
                    <a:pt x="166" y="2"/>
                    <a:pt x="165" y="1"/>
                  </a:cubicBezTo>
                  <a:cubicBezTo>
                    <a:pt x="165" y="1"/>
                    <a:pt x="165" y="1"/>
                    <a:pt x="165" y="1"/>
                  </a:cubicBezTo>
                  <a:cubicBezTo>
                    <a:pt x="164" y="0"/>
                    <a:pt x="164" y="0"/>
                    <a:pt x="164" y="0"/>
                  </a:cubicBezTo>
                  <a:cubicBezTo>
                    <a:pt x="162" y="0"/>
                    <a:pt x="162" y="0"/>
                    <a:pt x="162" y="0"/>
                  </a:cubicBezTo>
                  <a:cubicBezTo>
                    <a:pt x="162" y="0"/>
                    <a:pt x="162" y="0"/>
                    <a:pt x="162" y="0"/>
                  </a:cubicBezTo>
                  <a:cubicBezTo>
                    <a:pt x="161" y="0"/>
                    <a:pt x="160" y="0"/>
                    <a:pt x="160" y="0"/>
                  </a:cubicBezTo>
                  <a:cubicBezTo>
                    <a:pt x="111" y="0"/>
                    <a:pt x="111" y="0"/>
                    <a:pt x="111" y="0"/>
                  </a:cubicBezTo>
                  <a:cubicBezTo>
                    <a:pt x="105" y="0"/>
                    <a:pt x="101" y="4"/>
                    <a:pt x="101" y="10"/>
                  </a:cubicBezTo>
                  <a:cubicBezTo>
                    <a:pt x="101" y="16"/>
                    <a:pt x="105" y="21"/>
                    <a:pt x="111" y="21"/>
                  </a:cubicBezTo>
                  <a:cubicBezTo>
                    <a:pt x="134" y="21"/>
                    <a:pt x="134" y="21"/>
                    <a:pt x="134" y="21"/>
                  </a:cubicBezTo>
                  <a:cubicBezTo>
                    <a:pt x="94" y="61"/>
                    <a:pt x="94" y="61"/>
                    <a:pt x="94" y="61"/>
                  </a:cubicBezTo>
                  <a:cubicBezTo>
                    <a:pt x="90" y="65"/>
                    <a:pt x="90" y="71"/>
                    <a:pt x="94" y="75"/>
                  </a:cubicBezTo>
                  <a:cubicBezTo>
                    <a:pt x="96" y="77"/>
                    <a:pt x="99" y="78"/>
                    <a:pt x="102" y="78"/>
                  </a:cubicBezTo>
                  <a:close/>
                  <a:moveTo>
                    <a:pt x="160" y="101"/>
                  </a:moveTo>
                  <a:cubicBezTo>
                    <a:pt x="154" y="101"/>
                    <a:pt x="149" y="106"/>
                    <a:pt x="149" y="112"/>
                  </a:cubicBezTo>
                  <a:cubicBezTo>
                    <a:pt x="149" y="134"/>
                    <a:pt x="149" y="134"/>
                    <a:pt x="149" y="134"/>
                  </a:cubicBezTo>
                  <a:cubicBezTo>
                    <a:pt x="110" y="95"/>
                    <a:pt x="110" y="95"/>
                    <a:pt x="110" y="95"/>
                  </a:cubicBezTo>
                  <a:cubicBezTo>
                    <a:pt x="108" y="93"/>
                    <a:pt x="105" y="92"/>
                    <a:pt x="102" y="92"/>
                  </a:cubicBezTo>
                  <a:cubicBezTo>
                    <a:pt x="100" y="92"/>
                    <a:pt x="97" y="93"/>
                    <a:pt x="95" y="95"/>
                  </a:cubicBezTo>
                  <a:cubicBezTo>
                    <a:pt x="91" y="99"/>
                    <a:pt x="91" y="105"/>
                    <a:pt x="95" y="109"/>
                  </a:cubicBezTo>
                  <a:cubicBezTo>
                    <a:pt x="135" y="149"/>
                    <a:pt x="135" y="149"/>
                    <a:pt x="135" y="149"/>
                  </a:cubicBezTo>
                  <a:cubicBezTo>
                    <a:pt x="112" y="149"/>
                    <a:pt x="112" y="149"/>
                    <a:pt x="112" y="149"/>
                  </a:cubicBezTo>
                  <a:cubicBezTo>
                    <a:pt x="106" y="149"/>
                    <a:pt x="102" y="154"/>
                    <a:pt x="102" y="159"/>
                  </a:cubicBezTo>
                  <a:cubicBezTo>
                    <a:pt x="102" y="165"/>
                    <a:pt x="106" y="170"/>
                    <a:pt x="112" y="170"/>
                  </a:cubicBezTo>
                  <a:cubicBezTo>
                    <a:pt x="160" y="170"/>
                    <a:pt x="160" y="170"/>
                    <a:pt x="160" y="170"/>
                  </a:cubicBezTo>
                  <a:cubicBezTo>
                    <a:pt x="160" y="170"/>
                    <a:pt x="161" y="170"/>
                    <a:pt x="162" y="169"/>
                  </a:cubicBezTo>
                  <a:cubicBezTo>
                    <a:pt x="163" y="169"/>
                    <a:pt x="163" y="169"/>
                    <a:pt x="163" y="169"/>
                  </a:cubicBezTo>
                  <a:cubicBezTo>
                    <a:pt x="164" y="169"/>
                    <a:pt x="164" y="169"/>
                    <a:pt x="164" y="169"/>
                  </a:cubicBezTo>
                  <a:cubicBezTo>
                    <a:pt x="165" y="168"/>
                    <a:pt x="165" y="168"/>
                    <a:pt x="165" y="168"/>
                  </a:cubicBezTo>
                  <a:cubicBezTo>
                    <a:pt x="165" y="168"/>
                    <a:pt x="165" y="168"/>
                    <a:pt x="165" y="168"/>
                  </a:cubicBezTo>
                  <a:cubicBezTo>
                    <a:pt x="167" y="167"/>
                    <a:pt x="168" y="166"/>
                    <a:pt x="168" y="165"/>
                  </a:cubicBezTo>
                  <a:cubicBezTo>
                    <a:pt x="169" y="164"/>
                    <a:pt x="169" y="164"/>
                    <a:pt x="169" y="164"/>
                  </a:cubicBezTo>
                  <a:cubicBezTo>
                    <a:pt x="169" y="163"/>
                    <a:pt x="169" y="163"/>
                    <a:pt x="169" y="163"/>
                  </a:cubicBezTo>
                  <a:cubicBezTo>
                    <a:pt x="170" y="162"/>
                    <a:pt x="170" y="162"/>
                    <a:pt x="170" y="162"/>
                  </a:cubicBezTo>
                  <a:cubicBezTo>
                    <a:pt x="170" y="161"/>
                    <a:pt x="170" y="161"/>
                    <a:pt x="170" y="161"/>
                  </a:cubicBezTo>
                  <a:cubicBezTo>
                    <a:pt x="170" y="161"/>
                    <a:pt x="170" y="160"/>
                    <a:pt x="170" y="159"/>
                  </a:cubicBezTo>
                  <a:cubicBezTo>
                    <a:pt x="170" y="112"/>
                    <a:pt x="170" y="112"/>
                    <a:pt x="170" y="112"/>
                  </a:cubicBezTo>
                  <a:cubicBezTo>
                    <a:pt x="170" y="106"/>
                    <a:pt x="165" y="101"/>
                    <a:pt x="160" y="101"/>
                  </a:cubicBezTo>
                  <a:close/>
                </a:path>
              </a:pathLst>
            </a:custGeom>
            <a:solidFill>
              <a:srgbClr val="C00000"/>
            </a:solidFill>
            <a:ln w="12700" cap="flat" cmpd="sng" algn="ctr">
              <a:solidFill>
                <a:srgbClr val="E7E6E6">
                  <a:lumMod val="75000"/>
                </a:srgbClr>
              </a:solidFill>
              <a:prstDash val="solid"/>
              <a:miter lim="800000"/>
            </a:ln>
            <a:effectLst/>
          </p:spPr>
          <p:txBody>
            <a:bodyPr rot="0" spcFirstLastPara="0" vertOverflow="overflow" horzOverflow="overflow" vert="horz" wrap="square" lIns="68510" tIns="34255" rIns="68510" bIns="34255" numCol="1" spcCol="0" rtlCol="0" fromWordArt="0" anchor="ctr" anchorCtr="0" forceAA="0" compatLnSpc="1">
              <a:prstTxWarp prst="textNoShape">
                <a:avLst/>
              </a:prstTxWarp>
              <a:noAutofit/>
            </a:bodyPr>
            <a:lstStyle/>
            <a:p>
              <a:pPr algn="ctr" defTabSz="685173">
                <a:defRPr/>
              </a:pPr>
              <a:endParaRPr lang="zh-CN" altLang="en-US" sz="600" b="1">
                <a:solidFill>
                  <a:srgbClr val="666666"/>
                </a:solidFill>
                <a:latin typeface="微软雅黑" panose="020B0503020204020204" pitchFamily="34" charset="-122"/>
                <a:ea typeface="微软雅黑" panose="020B0503020204020204" pitchFamily="34" charset="-122"/>
                <a:cs typeface="+mn-ea"/>
              </a:endParaRPr>
            </a:p>
          </p:txBody>
        </p:sp>
      </p:grpSp>
      <p:sp>
        <p:nvSpPr>
          <p:cNvPr id="215" name="矩形: 圆角 214">
            <a:extLst>
              <a:ext uri="{FF2B5EF4-FFF2-40B4-BE49-F238E27FC236}">
                <a16:creationId xmlns:a16="http://schemas.microsoft.com/office/drawing/2014/main" id="{790729BE-8026-47A0-83BD-72479A3869DC}"/>
              </a:ext>
            </a:extLst>
          </p:cNvPr>
          <p:cNvSpPr>
            <a:spLocks/>
          </p:cNvSpPr>
          <p:nvPr/>
        </p:nvSpPr>
        <p:spPr>
          <a:xfrm>
            <a:off x="1377424" y="3562148"/>
            <a:ext cx="809762" cy="1428119"/>
          </a:xfrm>
          <a:prstGeom prst="roundRect">
            <a:avLst/>
          </a:prstGeom>
          <a:noFill/>
          <a:ln w="6350">
            <a:solidFill>
              <a:srgbClr val="83817F"/>
            </a:solidFill>
            <a:prstDash val="dash"/>
          </a:ln>
        </p:spPr>
        <p:txBody>
          <a:bodyPr wrap="square" lIns="51401" tIns="25701" rIns="51401" bIns="25701" rtlCol="0" anchor="ctr">
            <a:noAutofit/>
          </a:bodyPr>
          <a:lstStyle/>
          <a:p>
            <a:pPr algn="ctr" defTabSz="685526" fontAlgn="base">
              <a:lnSpc>
                <a:spcPct val="150000"/>
              </a:lnSpc>
              <a:spcBef>
                <a:spcPct val="0"/>
              </a:spcBef>
              <a:spcAft>
                <a:spcPct val="0"/>
              </a:spcAft>
              <a:buClr>
                <a:prstClr val="black">
                  <a:lumMod val="50000"/>
                  <a:lumOff val="50000"/>
                </a:prstClr>
              </a:buClr>
              <a:buSzPct val="60000"/>
              <a:defRPr/>
            </a:pPr>
            <a:endParaRPr lang="zh-CN" altLang="en-US" sz="900" b="1" dirty="0">
              <a:solidFill>
                <a:srgbClr val="C00000"/>
              </a:solidFill>
              <a:latin typeface=" 微软雅黑"/>
              <a:ea typeface="微软雅黑" panose="020B0503020204020204" pitchFamily="34" charset="-122"/>
              <a:sym typeface="Arial" panose="020B0604020202020204" pitchFamily="34" charset="0"/>
            </a:endParaRPr>
          </a:p>
        </p:txBody>
      </p:sp>
      <p:sp>
        <p:nvSpPr>
          <p:cNvPr id="216" name="矩形 215">
            <a:extLst>
              <a:ext uri="{FF2B5EF4-FFF2-40B4-BE49-F238E27FC236}">
                <a16:creationId xmlns:a16="http://schemas.microsoft.com/office/drawing/2014/main" id="{06AB76AB-FD22-4752-85CC-65007FA8DC0E}"/>
              </a:ext>
            </a:extLst>
          </p:cNvPr>
          <p:cNvSpPr/>
          <p:nvPr/>
        </p:nvSpPr>
        <p:spPr>
          <a:xfrm>
            <a:off x="1230145" y="4758332"/>
            <a:ext cx="1118358" cy="230832"/>
          </a:xfrm>
          <a:prstGeom prst="rect">
            <a:avLst/>
          </a:prstGeom>
        </p:spPr>
        <p:txBody>
          <a:bodyPr wrap="square">
            <a:spAutoFit/>
          </a:bodyPr>
          <a:lstStyle/>
          <a:p>
            <a:pPr algn="ctr" defTabSz="685526">
              <a:defRPr/>
            </a:pPr>
            <a:r>
              <a:rPr lang="en-US" altLang="zh-CN" sz="900" b="1" dirty="0">
                <a:solidFill>
                  <a:prstClr val="black"/>
                </a:solidFill>
                <a:latin typeface="微软雅黑" panose="020B0503020204020204" pitchFamily="34" charset="-122"/>
                <a:ea typeface="微软雅黑" panose="020B0503020204020204" pitchFamily="34" charset="-122"/>
              </a:rPr>
              <a:t>IPO Sponsor</a:t>
            </a:r>
            <a:endParaRPr lang="en-US" sz="900" b="1" dirty="0">
              <a:solidFill>
                <a:prstClr val="black"/>
              </a:solidFill>
              <a:latin typeface="微软雅黑" panose="020B0503020204020204" pitchFamily="34" charset="-122"/>
              <a:ea typeface="微软雅黑" panose="020B0503020204020204" pitchFamily="34" charset="-122"/>
            </a:endParaRPr>
          </a:p>
        </p:txBody>
      </p:sp>
      <p:sp>
        <p:nvSpPr>
          <p:cNvPr id="219" name="矩形 218">
            <a:extLst>
              <a:ext uri="{FF2B5EF4-FFF2-40B4-BE49-F238E27FC236}">
                <a16:creationId xmlns:a16="http://schemas.microsoft.com/office/drawing/2014/main" id="{82A5A97A-5B66-48A1-811D-125D7A2FFA5A}"/>
              </a:ext>
            </a:extLst>
          </p:cNvPr>
          <p:cNvSpPr/>
          <p:nvPr/>
        </p:nvSpPr>
        <p:spPr>
          <a:xfrm>
            <a:off x="3239933" y="3476250"/>
            <a:ext cx="690786" cy="586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53" tIns="34277" rIns="68553" bIns="34277" numCol="1" spcCol="0" rtlCol="0" fromWordArt="0" anchor="ctr" anchorCtr="0" forceAA="0" compatLnSpc="1">
            <a:noAutofit/>
          </a:bodyPr>
          <a:lstStyle/>
          <a:p>
            <a:pPr algn="ctr"/>
            <a:endParaRPr lang="zh-CN" altLang="en-US" sz="1349"/>
          </a:p>
        </p:txBody>
      </p:sp>
      <p:sp>
        <p:nvSpPr>
          <p:cNvPr id="7" name="矩形 6">
            <a:extLst>
              <a:ext uri="{FF2B5EF4-FFF2-40B4-BE49-F238E27FC236}">
                <a16:creationId xmlns:a16="http://schemas.microsoft.com/office/drawing/2014/main" id="{5FE3074A-AF1F-4005-9D7E-B91E024D9071}"/>
              </a:ext>
            </a:extLst>
          </p:cNvPr>
          <p:cNvSpPr/>
          <p:nvPr/>
        </p:nvSpPr>
        <p:spPr>
          <a:xfrm>
            <a:off x="1765167" y="4419308"/>
            <a:ext cx="34276" cy="34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53" tIns="34277" rIns="68553" bIns="34277" numCol="1" spcCol="0" rtlCol="0" fromWordArt="0" anchor="ctr" anchorCtr="0" forceAA="0" compatLnSpc="1">
            <a:noAutofit/>
          </a:bodyPr>
          <a:lstStyle/>
          <a:p>
            <a:pPr algn="ctr"/>
            <a:endParaRPr lang="zh-CN" altLang="en-US" sz="1349"/>
          </a:p>
        </p:txBody>
      </p:sp>
      <p:cxnSp>
        <p:nvCxnSpPr>
          <p:cNvPr id="9" name="直接箭头连接符 8">
            <a:extLst>
              <a:ext uri="{FF2B5EF4-FFF2-40B4-BE49-F238E27FC236}">
                <a16:creationId xmlns:a16="http://schemas.microsoft.com/office/drawing/2014/main" id="{100F3370-12E7-4AB2-AF0A-1C4ECFF7A757}"/>
              </a:ext>
            </a:extLst>
          </p:cNvPr>
          <p:cNvCxnSpPr>
            <a:cxnSpLocks/>
          </p:cNvCxnSpPr>
          <p:nvPr/>
        </p:nvCxnSpPr>
        <p:spPr>
          <a:xfrm flipV="1">
            <a:off x="1782305" y="4073854"/>
            <a:ext cx="0" cy="3595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nvGrpSpPr>
          <p:cNvPr id="233" name="组合 232">
            <a:extLst>
              <a:ext uri="{FF2B5EF4-FFF2-40B4-BE49-F238E27FC236}">
                <a16:creationId xmlns:a16="http://schemas.microsoft.com/office/drawing/2014/main" id="{8619F6D4-C261-43C7-9F49-80D9F35022C3}"/>
              </a:ext>
            </a:extLst>
          </p:cNvPr>
          <p:cNvGrpSpPr/>
          <p:nvPr/>
        </p:nvGrpSpPr>
        <p:grpSpPr>
          <a:xfrm>
            <a:off x="2794466" y="4433380"/>
            <a:ext cx="506830" cy="317743"/>
            <a:chOff x="1388228" y="4457070"/>
            <a:chExt cx="676037" cy="423823"/>
          </a:xfrm>
        </p:grpSpPr>
        <p:pic>
          <p:nvPicPr>
            <p:cNvPr id="234" name="图片 233" descr="笔记本电脑.png">
              <a:extLst>
                <a:ext uri="{FF2B5EF4-FFF2-40B4-BE49-F238E27FC236}">
                  <a16:creationId xmlns:a16="http://schemas.microsoft.com/office/drawing/2014/main" id="{59FE86EB-6DA7-4B64-9F60-476112FF13FB}"/>
                </a:ext>
              </a:extLst>
            </p:cNvPr>
            <p:cNvPicPr>
              <a:picLocks noChangeAspect="1"/>
            </p:cNvPicPr>
            <p:nvPr/>
          </p:nvPicPr>
          <p:blipFill>
            <a:blip r:embed="rId6" cstate="print"/>
            <a:stretch>
              <a:fillRect/>
            </a:stretch>
          </p:blipFill>
          <p:spPr>
            <a:xfrm>
              <a:off x="1388228" y="4457070"/>
              <a:ext cx="676037" cy="423823"/>
            </a:xfrm>
            <a:prstGeom prst="rect">
              <a:avLst/>
            </a:prstGeom>
          </p:spPr>
        </p:pic>
        <p:pic>
          <p:nvPicPr>
            <p:cNvPr id="235" name="图片 234">
              <a:extLst>
                <a:ext uri="{FF2B5EF4-FFF2-40B4-BE49-F238E27FC236}">
                  <a16:creationId xmlns:a16="http://schemas.microsoft.com/office/drawing/2014/main" id="{B79B8395-6D8B-4CB1-AE58-32D4639ABE6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74452" y="4509735"/>
              <a:ext cx="315316" cy="252590"/>
            </a:xfrm>
            <a:prstGeom prst="rect">
              <a:avLst/>
            </a:prstGeom>
          </p:spPr>
        </p:pic>
      </p:grpSp>
      <p:grpSp>
        <p:nvGrpSpPr>
          <p:cNvPr id="236" name="组合 235">
            <a:extLst>
              <a:ext uri="{FF2B5EF4-FFF2-40B4-BE49-F238E27FC236}">
                <a16:creationId xmlns:a16="http://schemas.microsoft.com/office/drawing/2014/main" id="{9DC3F63D-5CCE-42A6-B1AF-85074C877B92}"/>
              </a:ext>
            </a:extLst>
          </p:cNvPr>
          <p:cNvGrpSpPr/>
          <p:nvPr/>
        </p:nvGrpSpPr>
        <p:grpSpPr>
          <a:xfrm>
            <a:off x="2845849" y="3718938"/>
            <a:ext cx="404064" cy="354916"/>
            <a:chOff x="2536627" y="4460152"/>
            <a:chExt cx="538963" cy="473406"/>
          </a:xfrm>
        </p:grpSpPr>
        <p:sp>
          <p:nvSpPr>
            <p:cNvPr id="237" name="矩形: 圆角 236">
              <a:extLst>
                <a:ext uri="{FF2B5EF4-FFF2-40B4-BE49-F238E27FC236}">
                  <a16:creationId xmlns:a16="http://schemas.microsoft.com/office/drawing/2014/main" id="{A00771AF-9358-4935-A6A0-368F021455D8}"/>
                </a:ext>
              </a:extLst>
            </p:cNvPr>
            <p:cNvSpPr/>
            <p:nvPr/>
          </p:nvSpPr>
          <p:spPr>
            <a:xfrm>
              <a:off x="2536627" y="4460152"/>
              <a:ext cx="538963" cy="473406"/>
            </a:xfrm>
            <a:prstGeom prst="roundRect">
              <a:avLst>
                <a:gd name="adj" fmla="val 14591"/>
              </a:avLst>
            </a:prstGeom>
            <a:solidFill>
              <a:srgbClr val="FCC800">
                <a:lumMod val="20000"/>
                <a:lumOff val="80000"/>
              </a:srgbClr>
            </a:solidFill>
            <a:ln w="12700" cap="flat" cmpd="sng" algn="ctr">
              <a:solidFill>
                <a:srgbClr val="0070C0"/>
              </a:solidFill>
              <a:prstDash val="dash"/>
              <a:miter lim="800000"/>
            </a:ln>
            <a:effectLst/>
          </p:spPr>
          <p:txBody>
            <a:bodyPr rtlCol="0" anchor="ctr"/>
            <a:lstStyle/>
            <a:p>
              <a:pPr algn="ctr" defTabSz="685050">
                <a:defRPr/>
              </a:pPr>
              <a:endParaRPr lang="zh-CN" altLang="en-US" sz="105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38" name="矩形 237">
              <a:extLst>
                <a:ext uri="{FF2B5EF4-FFF2-40B4-BE49-F238E27FC236}">
                  <a16:creationId xmlns:a16="http://schemas.microsoft.com/office/drawing/2014/main" id="{B5634AAE-684E-42AC-96C3-3E88AE26C39A}"/>
                </a:ext>
              </a:extLst>
            </p:cNvPr>
            <p:cNvSpPr/>
            <p:nvPr/>
          </p:nvSpPr>
          <p:spPr>
            <a:xfrm>
              <a:off x="2637809" y="4539316"/>
              <a:ext cx="381026" cy="282148"/>
            </a:xfrm>
            <a:prstGeom prst="rect">
              <a:avLst/>
            </a:prstGeom>
            <a:ln w="15875">
              <a:solidFill>
                <a:sysClr val="window" lastClr="FFFFFF">
                  <a:lumMod val="75000"/>
                </a:sysClr>
              </a:solidFill>
            </a:ln>
          </p:spPr>
          <p:txBody>
            <a:bodyPr wrap="square" rtlCol="0" anchor="ctr">
              <a:noAutofit/>
            </a:bodyPr>
            <a:lstStyle/>
            <a:p>
              <a:pPr defTabSz="685173">
                <a:defRPr/>
              </a:pPr>
              <a:endParaRPr lang="zh-CN" altLang="en-US" sz="900" b="1"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239" name="Freeform 99">
              <a:extLst>
                <a:ext uri="{FF2B5EF4-FFF2-40B4-BE49-F238E27FC236}">
                  <a16:creationId xmlns:a16="http://schemas.microsoft.com/office/drawing/2014/main" id="{84C4D069-5EB7-4FF6-AF6E-D86E197B8E97}"/>
                </a:ext>
              </a:extLst>
            </p:cNvPr>
            <p:cNvSpPr>
              <a:spLocks noEditPoints="1"/>
            </p:cNvSpPr>
            <p:nvPr/>
          </p:nvSpPr>
          <p:spPr bwMode="auto">
            <a:xfrm>
              <a:off x="2686114" y="4572225"/>
              <a:ext cx="287974" cy="227325"/>
            </a:xfrm>
            <a:custGeom>
              <a:avLst/>
              <a:gdLst>
                <a:gd name="T0" fmla="*/ 21 w 170"/>
                <a:gd name="T1" fmla="*/ 134 h 170"/>
                <a:gd name="T2" fmla="*/ 10 w 170"/>
                <a:gd name="T3" fmla="*/ 100 h 170"/>
                <a:gd name="T4" fmla="*/ 0 w 170"/>
                <a:gd name="T5" fmla="*/ 159 h 170"/>
                <a:gd name="T6" fmla="*/ 0 w 170"/>
                <a:gd name="T7" fmla="*/ 162 h 170"/>
                <a:gd name="T8" fmla="*/ 1 w 170"/>
                <a:gd name="T9" fmla="*/ 164 h 170"/>
                <a:gd name="T10" fmla="*/ 5 w 170"/>
                <a:gd name="T11" fmla="*/ 168 h 170"/>
                <a:gd name="T12" fmla="*/ 6 w 170"/>
                <a:gd name="T13" fmla="*/ 169 h 170"/>
                <a:gd name="T14" fmla="*/ 8 w 170"/>
                <a:gd name="T15" fmla="*/ 169 h 170"/>
                <a:gd name="T16" fmla="*/ 59 w 170"/>
                <a:gd name="T17" fmla="*/ 170 h 170"/>
                <a:gd name="T18" fmla="*/ 59 w 170"/>
                <a:gd name="T19" fmla="*/ 149 h 170"/>
                <a:gd name="T20" fmla="*/ 76 w 170"/>
                <a:gd name="T21" fmla="*/ 109 h 170"/>
                <a:gd name="T22" fmla="*/ 61 w 170"/>
                <a:gd name="T23" fmla="*/ 94 h 170"/>
                <a:gd name="T24" fmla="*/ 21 w 170"/>
                <a:gd name="T25" fmla="*/ 58 h 170"/>
                <a:gd name="T26" fmla="*/ 61 w 170"/>
                <a:gd name="T27" fmla="*/ 75 h 170"/>
                <a:gd name="T28" fmla="*/ 76 w 170"/>
                <a:gd name="T29" fmla="*/ 75 h 170"/>
                <a:gd name="T30" fmla="*/ 36 w 170"/>
                <a:gd name="T31" fmla="*/ 21 h 170"/>
                <a:gd name="T32" fmla="*/ 69 w 170"/>
                <a:gd name="T33" fmla="*/ 10 h 170"/>
                <a:gd name="T34" fmla="*/ 10 w 170"/>
                <a:gd name="T35" fmla="*/ 0 h 170"/>
                <a:gd name="T36" fmla="*/ 7 w 170"/>
                <a:gd name="T37" fmla="*/ 0 h 170"/>
                <a:gd name="T38" fmla="*/ 5 w 170"/>
                <a:gd name="T39" fmla="*/ 1 h 170"/>
                <a:gd name="T40" fmla="*/ 2 w 170"/>
                <a:gd name="T41" fmla="*/ 4 h 170"/>
                <a:gd name="T42" fmla="*/ 1 w 170"/>
                <a:gd name="T43" fmla="*/ 6 h 170"/>
                <a:gd name="T44" fmla="*/ 0 w 170"/>
                <a:gd name="T45" fmla="*/ 8 h 170"/>
                <a:gd name="T46" fmla="*/ 0 w 170"/>
                <a:gd name="T47" fmla="*/ 58 h 170"/>
                <a:gd name="T48" fmla="*/ 102 w 170"/>
                <a:gd name="T49" fmla="*/ 78 h 170"/>
                <a:gd name="T50" fmla="*/ 149 w 170"/>
                <a:gd name="T51" fmla="*/ 35 h 170"/>
                <a:gd name="T52" fmla="*/ 160 w 170"/>
                <a:gd name="T53" fmla="*/ 69 h 170"/>
                <a:gd name="T54" fmla="*/ 170 w 170"/>
                <a:gd name="T55" fmla="*/ 10 h 170"/>
                <a:gd name="T56" fmla="*/ 170 w 170"/>
                <a:gd name="T57" fmla="*/ 7 h 170"/>
                <a:gd name="T58" fmla="*/ 169 w 170"/>
                <a:gd name="T59" fmla="*/ 5 h 170"/>
                <a:gd name="T60" fmla="*/ 165 w 170"/>
                <a:gd name="T61" fmla="*/ 1 h 170"/>
                <a:gd name="T62" fmla="*/ 164 w 170"/>
                <a:gd name="T63" fmla="*/ 0 h 170"/>
                <a:gd name="T64" fmla="*/ 162 w 170"/>
                <a:gd name="T65" fmla="*/ 0 h 170"/>
                <a:gd name="T66" fmla="*/ 111 w 170"/>
                <a:gd name="T67" fmla="*/ 0 h 170"/>
                <a:gd name="T68" fmla="*/ 111 w 170"/>
                <a:gd name="T69" fmla="*/ 21 h 170"/>
                <a:gd name="T70" fmla="*/ 94 w 170"/>
                <a:gd name="T71" fmla="*/ 61 h 170"/>
                <a:gd name="T72" fmla="*/ 102 w 170"/>
                <a:gd name="T73" fmla="*/ 78 h 170"/>
                <a:gd name="T74" fmla="*/ 149 w 170"/>
                <a:gd name="T75" fmla="*/ 112 h 170"/>
                <a:gd name="T76" fmla="*/ 110 w 170"/>
                <a:gd name="T77" fmla="*/ 95 h 170"/>
                <a:gd name="T78" fmla="*/ 95 w 170"/>
                <a:gd name="T79" fmla="*/ 95 h 170"/>
                <a:gd name="T80" fmla="*/ 135 w 170"/>
                <a:gd name="T81" fmla="*/ 149 h 170"/>
                <a:gd name="T82" fmla="*/ 102 w 170"/>
                <a:gd name="T83" fmla="*/ 159 h 170"/>
                <a:gd name="T84" fmla="*/ 160 w 170"/>
                <a:gd name="T85" fmla="*/ 170 h 170"/>
                <a:gd name="T86" fmla="*/ 163 w 170"/>
                <a:gd name="T87" fmla="*/ 169 h 170"/>
                <a:gd name="T88" fmla="*/ 165 w 170"/>
                <a:gd name="T89" fmla="*/ 168 h 170"/>
                <a:gd name="T90" fmla="*/ 168 w 170"/>
                <a:gd name="T91" fmla="*/ 165 h 170"/>
                <a:gd name="T92" fmla="*/ 169 w 170"/>
                <a:gd name="T93" fmla="*/ 163 h 170"/>
                <a:gd name="T94" fmla="*/ 170 w 170"/>
                <a:gd name="T95" fmla="*/ 161 h 170"/>
                <a:gd name="T96" fmla="*/ 170 w 170"/>
                <a:gd name="T97" fmla="*/ 1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70">
                  <a:moveTo>
                    <a:pt x="61" y="94"/>
                  </a:moveTo>
                  <a:cubicBezTo>
                    <a:pt x="21" y="134"/>
                    <a:pt x="21" y="134"/>
                    <a:pt x="21" y="134"/>
                  </a:cubicBezTo>
                  <a:cubicBezTo>
                    <a:pt x="21" y="111"/>
                    <a:pt x="21" y="111"/>
                    <a:pt x="21" y="111"/>
                  </a:cubicBezTo>
                  <a:cubicBezTo>
                    <a:pt x="21" y="105"/>
                    <a:pt x="16" y="100"/>
                    <a:pt x="10" y="100"/>
                  </a:cubicBezTo>
                  <a:cubicBezTo>
                    <a:pt x="5" y="100"/>
                    <a:pt x="0" y="105"/>
                    <a:pt x="0" y="111"/>
                  </a:cubicBezTo>
                  <a:cubicBezTo>
                    <a:pt x="0" y="159"/>
                    <a:pt x="0" y="159"/>
                    <a:pt x="0" y="159"/>
                  </a:cubicBezTo>
                  <a:cubicBezTo>
                    <a:pt x="0" y="160"/>
                    <a:pt x="0" y="161"/>
                    <a:pt x="0" y="161"/>
                  </a:cubicBezTo>
                  <a:cubicBezTo>
                    <a:pt x="0" y="162"/>
                    <a:pt x="0" y="162"/>
                    <a:pt x="0" y="162"/>
                  </a:cubicBezTo>
                  <a:cubicBezTo>
                    <a:pt x="1" y="163"/>
                    <a:pt x="1" y="163"/>
                    <a:pt x="1" y="163"/>
                  </a:cubicBezTo>
                  <a:cubicBezTo>
                    <a:pt x="1" y="164"/>
                    <a:pt x="1" y="164"/>
                    <a:pt x="1" y="164"/>
                  </a:cubicBezTo>
                  <a:cubicBezTo>
                    <a:pt x="2" y="165"/>
                    <a:pt x="2" y="165"/>
                    <a:pt x="2" y="165"/>
                  </a:cubicBezTo>
                  <a:cubicBezTo>
                    <a:pt x="2" y="166"/>
                    <a:pt x="3" y="167"/>
                    <a:pt x="5" y="168"/>
                  </a:cubicBezTo>
                  <a:cubicBezTo>
                    <a:pt x="5" y="168"/>
                    <a:pt x="5" y="168"/>
                    <a:pt x="5" y="168"/>
                  </a:cubicBezTo>
                  <a:cubicBezTo>
                    <a:pt x="6" y="169"/>
                    <a:pt x="6" y="169"/>
                    <a:pt x="6" y="169"/>
                  </a:cubicBezTo>
                  <a:cubicBezTo>
                    <a:pt x="7" y="169"/>
                    <a:pt x="7" y="169"/>
                    <a:pt x="7" y="169"/>
                  </a:cubicBezTo>
                  <a:cubicBezTo>
                    <a:pt x="8" y="169"/>
                    <a:pt x="8" y="169"/>
                    <a:pt x="8" y="169"/>
                  </a:cubicBezTo>
                  <a:cubicBezTo>
                    <a:pt x="9" y="170"/>
                    <a:pt x="10" y="170"/>
                    <a:pt x="10" y="170"/>
                  </a:cubicBezTo>
                  <a:cubicBezTo>
                    <a:pt x="59" y="170"/>
                    <a:pt x="59" y="170"/>
                    <a:pt x="59" y="170"/>
                  </a:cubicBezTo>
                  <a:cubicBezTo>
                    <a:pt x="65" y="170"/>
                    <a:pt x="69" y="165"/>
                    <a:pt x="69" y="159"/>
                  </a:cubicBezTo>
                  <a:cubicBezTo>
                    <a:pt x="69" y="153"/>
                    <a:pt x="65" y="149"/>
                    <a:pt x="59" y="149"/>
                  </a:cubicBezTo>
                  <a:cubicBezTo>
                    <a:pt x="36" y="149"/>
                    <a:pt x="36" y="149"/>
                    <a:pt x="36" y="149"/>
                  </a:cubicBezTo>
                  <a:cubicBezTo>
                    <a:pt x="76" y="109"/>
                    <a:pt x="76" y="109"/>
                    <a:pt x="76" y="109"/>
                  </a:cubicBezTo>
                  <a:cubicBezTo>
                    <a:pt x="80" y="105"/>
                    <a:pt x="80" y="98"/>
                    <a:pt x="76" y="94"/>
                  </a:cubicBezTo>
                  <a:cubicBezTo>
                    <a:pt x="72" y="90"/>
                    <a:pt x="65" y="90"/>
                    <a:pt x="61" y="94"/>
                  </a:cubicBezTo>
                  <a:close/>
                  <a:moveTo>
                    <a:pt x="10" y="69"/>
                  </a:moveTo>
                  <a:cubicBezTo>
                    <a:pt x="16" y="69"/>
                    <a:pt x="21" y="64"/>
                    <a:pt x="21" y="58"/>
                  </a:cubicBezTo>
                  <a:cubicBezTo>
                    <a:pt x="21" y="35"/>
                    <a:pt x="21" y="35"/>
                    <a:pt x="21" y="35"/>
                  </a:cubicBezTo>
                  <a:cubicBezTo>
                    <a:pt x="61" y="75"/>
                    <a:pt x="61" y="75"/>
                    <a:pt x="61" y="75"/>
                  </a:cubicBezTo>
                  <a:cubicBezTo>
                    <a:pt x="63" y="77"/>
                    <a:pt x="66" y="78"/>
                    <a:pt x="68" y="78"/>
                  </a:cubicBezTo>
                  <a:cubicBezTo>
                    <a:pt x="71" y="78"/>
                    <a:pt x="74" y="77"/>
                    <a:pt x="76" y="75"/>
                  </a:cubicBezTo>
                  <a:cubicBezTo>
                    <a:pt x="80" y="71"/>
                    <a:pt x="80" y="65"/>
                    <a:pt x="76" y="61"/>
                  </a:cubicBezTo>
                  <a:cubicBezTo>
                    <a:pt x="36" y="21"/>
                    <a:pt x="36" y="21"/>
                    <a:pt x="36" y="21"/>
                  </a:cubicBezTo>
                  <a:cubicBezTo>
                    <a:pt x="59" y="21"/>
                    <a:pt x="59" y="21"/>
                    <a:pt x="59" y="21"/>
                  </a:cubicBezTo>
                  <a:cubicBezTo>
                    <a:pt x="65" y="21"/>
                    <a:pt x="69" y="16"/>
                    <a:pt x="69" y="10"/>
                  </a:cubicBezTo>
                  <a:cubicBezTo>
                    <a:pt x="69" y="4"/>
                    <a:pt x="65" y="0"/>
                    <a:pt x="59" y="0"/>
                  </a:cubicBezTo>
                  <a:cubicBezTo>
                    <a:pt x="10" y="0"/>
                    <a:pt x="10" y="0"/>
                    <a:pt x="10" y="0"/>
                  </a:cubicBezTo>
                  <a:cubicBezTo>
                    <a:pt x="10" y="0"/>
                    <a:pt x="9" y="0"/>
                    <a:pt x="8" y="0"/>
                  </a:cubicBezTo>
                  <a:cubicBezTo>
                    <a:pt x="7" y="0"/>
                    <a:pt x="7" y="0"/>
                    <a:pt x="7" y="0"/>
                  </a:cubicBezTo>
                  <a:cubicBezTo>
                    <a:pt x="6" y="0"/>
                    <a:pt x="6" y="0"/>
                    <a:pt x="6" y="0"/>
                  </a:cubicBezTo>
                  <a:cubicBezTo>
                    <a:pt x="6" y="1"/>
                    <a:pt x="6" y="1"/>
                    <a:pt x="5" y="1"/>
                  </a:cubicBezTo>
                  <a:cubicBezTo>
                    <a:pt x="5" y="1"/>
                    <a:pt x="5" y="1"/>
                    <a:pt x="5" y="1"/>
                  </a:cubicBezTo>
                  <a:cubicBezTo>
                    <a:pt x="3" y="2"/>
                    <a:pt x="2" y="3"/>
                    <a:pt x="2" y="4"/>
                  </a:cubicBezTo>
                  <a:cubicBezTo>
                    <a:pt x="1" y="5"/>
                    <a:pt x="1" y="5"/>
                    <a:pt x="1" y="5"/>
                  </a:cubicBezTo>
                  <a:cubicBezTo>
                    <a:pt x="1" y="6"/>
                    <a:pt x="1" y="6"/>
                    <a:pt x="1" y="6"/>
                  </a:cubicBezTo>
                  <a:cubicBezTo>
                    <a:pt x="0" y="7"/>
                    <a:pt x="0" y="7"/>
                    <a:pt x="0" y="7"/>
                  </a:cubicBezTo>
                  <a:cubicBezTo>
                    <a:pt x="0" y="8"/>
                    <a:pt x="0" y="8"/>
                    <a:pt x="0" y="8"/>
                  </a:cubicBezTo>
                  <a:cubicBezTo>
                    <a:pt x="0" y="9"/>
                    <a:pt x="0" y="9"/>
                    <a:pt x="0" y="10"/>
                  </a:cubicBezTo>
                  <a:cubicBezTo>
                    <a:pt x="0" y="58"/>
                    <a:pt x="0" y="58"/>
                    <a:pt x="0" y="58"/>
                  </a:cubicBezTo>
                  <a:cubicBezTo>
                    <a:pt x="0" y="64"/>
                    <a:pt x="5" y="69"/>
                    <a:pt x="10" y="69"/>
                  </a:cubicBezTo>
                  <a:close/>
                  <a:moveTo>
                    <a:pt x="102" y="78"/>
                  </a:moveTo>
                  <a:cubicBezTo>
                    <a:pt x="104" y="78"/>
                    <a:pt x="107" y="77"/>
                    <a:pt x="109" y="75"/>
                  </a:cubicBezTo>
                  <a:cubicBezTo>
                    <a:pt x="149" y="35"/>
                    <a:pt x="149" y="35"/>
                    <a:pt x="149" y="35"/>
                  </a:cubicBezTo>
                  <a:cubicBezTo>
                    <a:pt x="149" y="58"/>
                    <a:pt x="149" y="58"/>
                    <a:pt x="149" y="58"/>
                  </a:cubicBezTo>
                  <a:cubicBezTo>
                    <a:pt x="149" y="64"/>
                    <a:pt x="154" y="69"/>
                    <a:pt x="160" y="69"/>
                  </a:cubicBezTo>
                  <a:cubicBezTo>
                    <a:pt x="165" y="69"/>
                    <a:pt x="170" y="64"/>
                    <a:pt x="170" y="58"/>
                  </a:cubicBezTo>
                  <a:cubicBezTo>
                    <a:pt x="170" y="10"/>
                    <a:pt x="170" y="10"/>
                    <a:pt x="170" y="10"/>
                  </a:cubicBezTo>
                  <a:cubicBezTo>
                    <a:pt x="170" y="9"/>
                    <a:pt x="170" y="9"/>
                    <a:pt x="170" y="8"/>
                  </a:cubicBezTo>
                  <a:cubicBezTo>
                    <a:pt x="170" y="7"/>
                    <a:pt x="170" y="7"/>
                    <a:pt x="170" y="7"/>
                  </a:cubicBezTo>
                  <a:cubicBezTo>
                    <a:pt x="169" y="6"/>
                    <a:pt x="169" y="6"/>
                    <a:pt x="169" y="6"/>
                  </a:cubicBezTo>
                  <a:cubicBezTo>
                    <a:pt x="169" y="6"/>
                    <a:pt x="169" y="5"/>
                    <a:pt x="169" y="5"/>
                  </a:cubicBezTo>
                  <a:cubicBezTo>
                    <a:pt x="168" y="4"/>
                    <a:pt x="168" y="4"/>
                    <a:pt x="168" y="4"/>
                  </a:cubicBezTo>
                  <a:cubicBezTo>
                    <a:pt x="167" y="3"/>
                    <a:pt x="166" y="2"/>
                    <a:pt x="165" y="1"/>
                  </a:cubicBezTo>
                  <a:cubicBezTo>
                    <a:pt x="165" y="1"/>
                    <a:pt x="165" y="1"/>
                    <a:pt x="165" y="1"/>
                  </a:cubicBezTo>
                  <a:cubicBezTo>
                    <a:pt x="164" y="0"/>
                    <a:pt x="164" y="0"/>
                    <a:pt x="164" y="0"/>
                  </a:cubicBezTo>
                  <a:cubicBezTo>
                    <a:pt x="162" y="0"/>
                    <a:pt x="162" y="0"/>
                    <a:pt x="162" y="0"/>
                  </a:cubicBezTo>
                  <a:cubicBezTo>
                    <a:pt x="162" y="0"/>
                    <a:pt x="162" y="0"/>
                    <a:pt x="162" y="0"/>
                  </a:cubicBezTo>
                  <a:cubicBezTo>
                    <a:pt x="161" y="0"/>
                    <a:pt x="160" y="0"/>
                    <a:pt x="160" y="0"/>
                  </a:cubicBezTo>
                  <a:cubicBezTo>
                    <a:pt x="111" y="0"/>
                    <a:pt x="111" y="0"/>
                    <a:pt x="111" y="0"/>
                  </a:cubicBezTo>
                  <a:cubicBezTo>
                    <a:pt x="105" y="0"/>
                    <a:pt x="101" y="4"/>
                    <a:pt x="101" y="10"/>
                  </a:cubicBezTo>
                  <a:cubicBezTo>
                    <a:pt x="101" y="16"/>
                    <a:pt x="105" y="21"/>
                    <a:pt x="111" y="21"/>
                  </a:cubicBezTo>
                  <a:cubicBezTo>
                    <a:pt x="134" y="21"/>
                    <a:pt x="134" y="21"/>
                    <a:pt x="134" y="21"/>
                  </a:cubicBezTo>
                  <a:cubicBezTo>
                    <a:pt x="94" y="61"/>
                    <a:pt x="94" y="61"/>
                    <a:pt x="94" y="61"/>
                  </a:cubicBezTo>
                  <a:cubicBezTo>
                    <a:pt x="90" y="65"/>
                    <a:pt x="90" y="71"/>
                    <a:pt x="94" y="75"/>
                  </a:cubicBezTo>
                  <a:cubicBezTo>
                    <a:pt x="96" y="77"/>
                    <a:pt x="99" y="78"/>
                    <a:pt x="102" y="78"/>
                  </a:cubicBezTo>
                  <a:close/>
                  <a:moveTo>
                    <a:pt x="160" y="101"/>
                  </a:moveTo>
                  <a:cubicBezTo>
                    <a:pt x="154" y="101"/>
                    <a:pt x="149" y="106"/>
                    <a:pt x="149" y="112"/>
                  </a:cubicBezTo>
                  <a:cubicBezTo>
                    <a:pt x="149" y="134"/>
                    <a:pt x="149" y="134"/>
                    <a:pt x="149" y="134"/>
                  </a:cubicBezTo>
                  <a:cubicBezTo>
                    <a:pt x="110" y="95"/>
                    <a:pt x="110" y="95"/>
                    <a:pt x="110" y="95"/>
                  </a:cubicBezTo>
                  <a:cubicBezTo>
                    <a:pt x="108" y="93"/>
                    <a:pt x="105" y="92"/>
                    <a:pt x="102" y="92"/>
                  </a:cubicBezTo>
                  <a:cubicBezTo>
                    <a:pt x="100" y="92"/>
                    <a:pt x="97" y="93"/>
                    <a:pt x="95" y="95"/>
                  </a:cubicBezTo>
                  <a:cubicBezTo>
                    <a:pt x="91" y="99"/>
                    <a:pt x="91" y="105"/>
                    <a:pt x="95" y="109"/>
                  </a:cubicBezTo>
                  <a:cubicBezTo>
                    <a:pt x="135" y="149"/>
                    <a:pt x="135" y="149"/>
                    <a:pt x="135" y="149"/>
                  </a:cubicBezTo>
                  <a:cubicBezTo>
                    <a:pt x="112" y="149"/>
                    <a:pt x="112" y="149"/>
                    <a:pt x="112" y="149"/>
                  </a:cubicBezTo>
                  <a:cubicBezTo>
                    <a:pt x="106" y="149"/>
                    <a:pt x="102" y="154"/>
                    <a:pt x="102" y="159"/>
                  </a:cubicBezTo>
                  <a:cubicBezTo>
                    <a:pt x="102" y="165"/>
                    <a:pt x="106" y="170"/>
                    <a:pt x="112" y="170"/>
                  </a:cubicBezTo>
                  <a:cubicBezTo>
                    <a:pt x="160" y="170"/>
                    <a:pt x="160" y="170"/>
                    <a:pt x="160" y="170"/>
                  </a:cubicBezTo>
                  <a:cubicBezTo>
                    <a:pt x="160" y="170"/>
                    <a:pt x="161" y="170"/>
                    <a:pt x="162" y="169"/>
                  </a:cubicBezTo>
                  <a:cubicBezTo>
                    <a:pt x="163" y="169"/>
                    <a:pt x="163" y="169"/>
                    <a:pt x="163" y="169"/>
                  </a:cubicBezTo>
                  <a:cubicBezTo>
                    <a:pt x="164" y="169"/>
                    <a:pt x="164" y="169"/>
                    <a:pt x="164" y="169"/>
                  </a:cubicBezTo>
                  <a:cubicBezTo>
                    <a:pt x="165" y="168"/>
                    <a:pt x="165" y="168"/>
                    <a:pt x="165" y="168"/>
                  </a:cubicBezTo>
                  <a:cubicBezTo>
                    <a:pt x="165" y="168"/>
                    <a:pt x="165" y="168"/>
                    <a:pt x="165" y="168"/>
                  </a:cubicBezTo>
                  <a:cubicBezTo>
                    <a:pt x="167" y="167"/>
                    <a:pt x="168" y="166"/>
                    <a:pt x="168" y="165"/>
                  </a:cubicBezTo>
                  <a:cubicBezTo>
                    <a:pt x="169" y="164"/>
                    <a:pt x="169" y="164"/>
                    <a:pt x="169" y="164"/>
                  </a:cubicBezTo>
                  <a:cubicBezTo>
                    <a:pt x="169" y="163"/>
                    <a:pt x="169" y="163"/>
                    <a:pt x="169" y="163"/>
                  </a:cubicBezTo>
                  <a:cubicBezTo>
                    <a:pt x="170" y="162"/>
                    <a:pt x="170" y="162"/>
                    <a:pt x="170" y="162"/>
                  </a:cubicBezTo>
                  <a:cubicBezTo>
                    <a:pt x="170" y="161"/>
                    <a:pt x="170" y="161"/>
                    <a:pt x="170" y="161"/>
                  </a:cubicBezTo>
                  <a:cubicBezTo>
                    <a:pt x="170" y="161"/>
                    <a:pt x="170" y="160"/>
                    <a:pt x="170" y="159"/>
                  </a:cubicBezTo>
                  <a:cubicBezTo>
                    <a:pt x="170" y="112"/>
                    <a:pt x="170" y="112"/>
                    <a:pt x="170" y="112"/>
                  </a:cubicBezTo>
                  <a:cubicBezTo>
                    <a:pt x="170" y="106"/>
                    <a:pt x="165" y="101"/>
                    <a:pt x="160" y="101"/>
                  </a:cubicBezTo>
                  <a:close/>
                </a:path>
              </a:pathLst>
            </a:custGeom>
            <a:solidFill>
              <a:srgbClr val="C00000"/>
            </a:solidFill>
            <a:ln w="12700" cap="flat" cmpd="sng" algn="ctr">
              <a:solidFill>
                <a:srgbClr val="E7E6E6">
                  <a:lumMod val="75000"/>
                </a:srgbClr>
              </a:solidFill>
              <a:prstDash val="solid"/>
              <a:miter lim="800000"/>
            </a:ln>
            <a:effectLst/>
          </p:spPr>
          <p:txBody>
            <a:bodyPr rot="0" spcFirstLastPara="0" vertOverflow="overflow" horzOverflow="overflow" vert="horz" wrap="square" lIns="68510" tIns="34255" rIns="68510" bIns="34255" numCol="1" spcCol="0" rtlCol="0" fromWordArt="0" anchor="ctr" anchorCtr="0" forceAA="0" compatLnSpc="1">
              <a:prstTxWarp prst="textNoShape">
                <a:avLst/>
              </a:prstTxWarp>
              <a:noAutofit/>
            </a:bodyPr>
            <a:lstStyle/>
            <a:p>
              <a:pPr algn="ctr" defTabSz="685173">
                <a:defRPr/>
              </a:pPr>
              <a:endParaRPr lang="zh-CN" altLang="en-US" sz="600" b="1">
                <a:solidFill>
                  <a:srgbClr val="666666"/>
                </a:solidFill>
                <a:latin typeface="微软雅黑" panose="020B0503020204020204" pitchFamily="34" charset="-122"/>
                <a:ea typeface="微软雅黑" panose="020B0503020204020204" pitchFamily="34" charset="-122"/>
                <a:cs typeface="+mn-ea"/>
              </a:endParaRPr>
            </a:p>
          </p:txBody>
        </p:sp>
      </p:grpSp>
      <p:sp>
        <p:nvSpPr>
          <p:cNvPr id="240" name="矩形: 圆角 239">
            <a:extLst>
              <a:ext uri="{FF2B5EF4-FFF2-40B4-BE49-F238E27FC236}">
                <a16:creationId xmlns:a16="http://schemas.microsoft.com/office/drawing/2014/main" id="{EED8833B-C2A0-4A77-876C-049C805E93F4}"/>
              </a:ext>
            </a:extLst>
          </p:cNvPr>
          <p:cNvSpPr>
            <a:spLocks/>
          </p:cNvSpPr>
          <p:nvPr/>
        </p:nvSpPr>
        <p:spPr>
          <a:xfrm>
            <a:off x="2643000" y="3562148"/>
            <a:ext cx="809762" cy="1428119"/>
          </a:xfrm>
          <a:prstGeom prst="roundRect">
            <a:avLst/>
          </a:prstGeom>
          <a:noFill/>
          <a:ln w="6350">
            <a:solidFill>
              <a:srgbClr val="83817F"/>
            </a:solidFill>
            <a:prstDash val="dash"/>
          </a:ln>
        </p:spPr>
        <p:txBody>
          <a:bodyPr wrap="square" lIns="51401" tIns="25701" rIns="51401" bIns="25701" rtlCol="0" anchor="ctr">
            <a:noAutofit/>
          </a:bodyPr>
          <a:lstStyle/>
          <a:p>
            <a:pPr algn="ctr" defTabSz="685526" fontAlgn="base">
              <a:lnSpc>
                <a:spcPct val="150000"/>
              </a:lnSpc>
              <a:spcBef>
                <a:spcPct val="0"/>
              </a:spcBef>
              <a:spcAft>
                <a:spcPct val="0"/>
              </a:spcAft>
              <a:buClr>
                <a:prstClr val="black">
                  <a:lumMod val="50000"/>
                  <a:lumOff val="50000"/>
                </a:prstClr>
              </a:buClr>
              <a:buSzPct val="60000"/>
              <a:defRPr/>
            </a:pPr>
            <a:endParaRPr lang="zh-CN" altLang="en-US" sz="900" b="1" dirty="0">
              <a:solidFill>
                <a:srgbClr val="C00000"/>
              </a:solidFill>
              <a:latin typeface=" 微软雅黑"/>
              <a:ea typeface="微软雅黑" panose="020B0503020204020204" pitchFamily="34" charset="-122"/>
              <a:sym typeface="Arial" panose="020B0604020202020204" pitchFamily="34" charset="0"/>
            </a:endParaRPr>
          </a:p>
        </p:txBody>
      </p:sp>
      <p:sp>
        <p:nvSpPr>
          <p:cNvPr id="241" name="矩形 240">
            <a:extLst>
              <a:ext uri="{FF2B5EF4-FFF2-40B4-BE49-F238E27FC236}">
                <a16:creationId xmlns:a16="http://schemas.microsoft.com/office/drawing/2014/main" id="{6E1C270D-289A-42A2-8AE9-557B40527E89}"/>
              </a:ext>
            </a:extLst>
          </p:cNvPr>
          <p:cNvSpPr/>
          <p:nvPr/>
        </p:nvSpPr>
        <p:spPr>
          <a:xfrm>
            <a:off x="3030743" y="4419308"/>
            <a:ext cx="34276" cy="34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53" tIns="34277" rIns="68553" bIns="34277" numCol="1" spcCol="0" rtlCol="0" fromWordArt="0" anchor="ctr" anchorCtr="0" forceAA="0" compatLnSpc="1">
            <a:noAutofit/>
          </a:bodyPr>
          <a:lstStyle/>
          <a:p>
            <a:pPr algn="ctr"/>
            <a:endParaRPr lang="zh-CN" altLang="en-US" sz="1349"/>
          </a:p>
        </p:txBody>
      </p:sp>
      <p:cxnSp>
        <p:nvCxnSpPr>
          <p:cNvPr id="242" name="直接箭头连接符 241">
            <a:extLst>
              <a:ext uri="{FF2B5EF4-FFF2-40B4-BE49-F238E27FC236}">
                <a16:creationId xmlns:a16="http://schemas.microsoft.com/office/drawing/2014/main" id="{96C4E52A-A178-4908-ABA7-7F94FEB811F8}"/>
              </a:ext>
            </a:extLst>
          </p:cNvPr>
          <p:cNvCxnSpPr>
            <a:cxnSpLocks/>
          </p:cNvCxnSpPr>
          <p:nvPr/>
        </p:nvCxnSpPr>
        <p:spPr>
          <a:xfrm flipV="1">
            <a:off x="3047880" y="4073854"/>
            <a:ext cx="0" cy="3595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nvGrpSpPr>
          <p:cNvPr id="246" name="组合 245">
            <a:extLst>
              <a:ext uri="{FF2B5EF4-FFF2-40B4-BE49-F238E27FC236}">
                <a16:creationId xmlns:a16="http://schemas.microsoft.com/office/drawing/2014/main" id="{ED666110-5742-41F3-B573-66309B424A73}"/>
              </a:ext>
            </a:extLst>
          </p:cNvPr>
          <p:cNvGrpSpPr/>
          <p:nvPr/>
        </p:nvGrpSpPr>
        <p:grpSpPr>
          <a:xfrm>
            <a:off x="4050483" y="3714207"/>
            <a:ext cx="404064" cy="354916"/>
            <a:chOff x="2536627" y="4460152"/>
            <a:chExt cx="538963" cy="473406"/>
          </a:xfrm>
        </p:grpSpPr>
        <p:sp>
          <p:nvSpPr>
            <p:cNvPr id="247" name="矩形: 圆角 246">
              <a:extLst>
                <a:ext uri="{FF2B5EF4-FFF2-40B4-BE49-F238E27FC236}">
                  <a16:creationId xmlns:a16="http://schemas.microsoft.com/office/drawing/2014/main" id="{2D213A1C-E5CD-4BD4-AE5E-7B9972DDC032}"/>
                </a:ext>
              </a:extLst>
            </p:cNvPr>
            <p:cNvSpPr/>
            <p:nvPr/>
          </p:nvSpPr>
          <p:spPr>
            <a:xfrm>
              <a:off x="2536627" y="4460152"/>
              <a:ext cx="538963" cy="473406"/>
            </a:xfrm>
            <a:prstGeom prst="roundRect">
              <a:avLst>
                <a:gd name="adj" fmla="val 14591"/>
              </a:avLst>
            </a:prstGeom>
            <a:solidFill>
              <a:srgbClr val="FCC800">
                <a:lumMod val="20000"/>
                <a:lumOff val="80000"/>
              </a:srgbClr>
            </a:solidFill>
            <a:ln w="12700" cap="flat" cmpd="sng" algn="ctr">
              <a:solidFill>
                <a:srgbClr val="0070C0"/>
              </a:solidFill>
              <a:prstDash val="dash"/>
              <a:miter lim="800000"/>
            </a:ln>
            <a:effectLst/>
          </p:spPr>
          <p:txBody>
            <a:bodyPr rtlCol="0" anchor="ctr"/>
            <a:lstStyle/>
            <a:p>
              <a:pPr algn="ctr" defTabSz="685050">
                <a:defRPr/>
              </a:pPr>
              <a:endParaRPr lang="zh-CN" altLang="en-US" sz="105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48" name="矩形 247">
              <a:extLst>
                <a:ext uri="{FF2B5EF4-FFF2-40B4-BE49-F238E27FC236}">
                  <a16:creationId xmlns:a16="http://schemas.microsoft.com/office/drawing/2014/main" id="{0638DA7E-0CB5-4038-B6E3-9E052D234ACA}"/>
                </a:ext>
              </a:extLst>
            </p:cNvPr>
            <p:cNvSpPr/>
            <p:nvPr/>
          </p:nvSpPr>
          <p:spPr>
            <a:xfrm>
              <a:off x="2637809" y="4539316"/>
              <a:ext cx="381026" cy="282148"/>
            </a:xfrm>
            <a:prstGeom prst="rect">
              <a:avLst/>
            </a:prstGeom>
            <a:ln w="15875">
              <a:solidFill>
                <a:sysClr val="window" lastClr="FFFFFF">
                  <a:lumMod val="75000"/>
                </a:sysClr>
              </a:solidFill>
            </a:ln>
          </p:spPr>
          <p:txBody>
            <a:bodyPr wrap="square" rtlCol="0" anchor="ctr">
              <a:noAutofit/>
            </a:bodyPr>
            <a:lstStyle/>
            <a:p>
              <a:pPr defTabSz="685173">
                <a:defRPr/>
              </a:pPr>
              <a:endParaRPr lang="zh-CN" altLang="en-US" sz="900" b="1"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249" name="Freeform 99">
              <a:extLst>
                <a:ext uri="{FF2B5EF4-FFF2-40B4-BE49-F238E27FC236}">
                  <a16:creationId xmlns:a16="http://schemas.microsoft.com/office/drawing/2014/main" id="{B91B3769-4745-4EAC-AFE7-170B1B51DF95}"/>
                </a:ext>
              </a:extLst>
            </p:cNvPr>
            <p:cNvSpPr>
              <a:spLocks noEditPoints="1"/>
            </p:cNvSpPr>
            <p:nvPr/>
          </p:nvSpPr>
          <p:spPr bwMode="auto">
            <a:xfrm>
              <a:off x="2686114" y="4572225"/>
              <a:ext cx="287974" cy="227325"/>
            </a:xfrm>
            <a:custGeom>
              <a:avLst/>
              <a:gdLst>
                <a:gd name="T0" fmla="*/ 21 w 170"/>
                <a:gd name="T1" fmla="*/ 134 h 170"/>
                <a:gd name="T2" fmla="*/ 10 w 170"/>
                <a:gd name="T3" fmla="*/ 100 h 170"/>
                <a:gd name="T4" fmla="*/ 0 w 170"/>
                <a:gd name="T5" fmla="*/ 159 h 170"/>
                <a:gd name="T6" fmla="*/ 0 w 170"/>
                <a:gd name="T7" fmla="*/ 162 h 170"/>
                <a:gd name="T8" fmla="*/ 1 w 170"/>
                <a:gd name="T9" fmla="*/ 164 h 170"/>
                <a:gd name="T10" fmla="*/ 5 w 170"/>
                <a:gd name="T11" fmla="*/ 168 h 170"/>
                <a:gd name="T12" fmla="*/ 6 w 170"/>
                <a:gd name="T13" fmla="*/ 169 h 170"/>
                <a:gd name="T14" fmla="*/ 8 w 170"/>
                <a:gd name="T15" fmla="*/ 169 h 170"/>
                <a:gd name="T16" fmla="*/ 59 w 170"/>
                <a:gd name="T17" fmla="*/ 170 h 170"/>
                <a:gd name="T18" fmla="*/ 59 w 170"/>
                <a:gd name="T19" fmla="*/ 149 h 170"/>
                <a:gd name="T20" fmla="*/ 76 w 170"/>
                <a:gd name="T21" fmla="*/ 109 h 170"/>
                <a:gd name="T22" fmla="*/ 61 w 170"/>
                <a:gd name="T23" fmla="*/ 94 h 170"/>
                <a:gd name="T24" fmla="*/ 21 w 170"/>
                <a:gd name="T25" fmla="*/ 58 h 170"/>
                <a:gd name="T26" fmla="*/ 61 w 170"/>
                <a:gd name="T27" fmla="*/ 75 h 170"/>
                <a:gd name="T28" fmla="*/ 76 w 170"/>
                <a:gd name="T29" fmla="*/ 75 h 170"/>
                <a:gd name="T30" fmla="*/ 36 w 170"/>
                <a:gd name="T31" fmla="*/ 21 h 170"/>
                <a:gd name="T32" fmla="*/ 69 w 170"/>
                <a:gd name="T33" fmla="*/ 10 h 170"/>
                <a:gd name="T34" fmla="*/ 10 w 170"/>
                <a:gd name="T35" fmla="*/ 0 h 170"/>
                <a:gd name="T36" fmla="*/ 7 w 170"/>
                <a:gd name="T37" fmla="*/ 0 h 170"/>
                <a:gd name="T38" fmla="*/ 5 w 170"/>
                <a:gd name="T39" fmla="*/ 1 h 170"/>
                <a:gd name="T40" fmla="*/ 2 w 170"/>
                <a:gd name="T41" fmla="*/ 4 h 170"/>
                <a:gd name="T42" fmla="*/ 1 w 170"/>
                <a:gd name="T43" fmla="*/ 6 h 170"/>
                <a:gd name="T44" fmla="*/ 0 w 170"/>
                <a:gd name="T45" fmla="*/ 8 h 170"/>
                <a:gd name="T46" fmla="*/ 0 w 170"/>
                <a:gd name="T47" fmla="*/ 58 h 170"/>
                <a:gd name="T48" fmla="*/ 102 w 170"/>
                <a:gd name="T49" fmla="*/ 78 h 170"/>
                <a:gd name="T50" fmla="*/ 149 w 170"/>
                <a:gd name="T51" fmla="*/ 35 h 170"/>
                <a:gd name="T52" fmla="*/ 160 w 170"/>
                <a:gd name="T53" fmla="*/ 69 h 170"/>
                <a:gd name="T54" fmla="*/ 170 w 170"/>
                <a:gd name="T55" fmla="*/ 10 h 170"/>
                <a:gd name="T56" fmla="*/ 170 w 170"/>
                <a:gd name="T57" fmla="*/ 7 h 170"/>
                <a:gd name="T58" fmla="*/ 169 w 170"/>
                <a:gd name="T59" fmla="*/ 5 h 170"/>
                <a:gd name="T60" fmla="*/ 165 w 170"/>
                <a:gd name="T61" fmla="*/ 1 h 170"/>
                <a:gd name="T62" fmla="*/ 164 w 170"/>
                <a:gd name="T63" fmla="*/ 0 h 170"/>
                <a:gd name="T64" fmla="*/ 162 w 170"/>
                <a:gd name="T65" fmla="*/ 0 h 170"/>
                <a:gd name="T66" fmla="*/ 111 w 170"/>
                <a:gd name="T67" fmla="*/ 0 h 170"/>
                <a:gd name="T68" fmla="*/ 111 w 170"/>
                <a:gd name="T69" fmla="*/ 21 h 170"/>
                <a:gd name="T70" fmla="*/ 94 w 170"/>
                <a:gd name="T71" fmla="*/ 61 h 170"/>
                <a:gd name="T72" fmla="*/ 102 w 170"/>
                <a:gd name="T73" fmla="*/ 78 h 170"/>
                <a:gd name="T74" fmla="*/ 149 w 170"/>
                <a:gd name="T75" fmla="*/ 112 h 170"/>
                <a:gd name="T76" fmla="*/ 110 w 170"/>
                <a:gd name="T77" fmla="*/ 95 h 170"/>
                <a:gd name="T78" fmla="*/ 95 w 170"/>
                <a:gd name="T79" fmla="*/ 95 h 170"/>
                <a:gd name="T80" fmla="*/ 135 w 170"/>
                <a:gd name="T81" fmla="*/ 149 h 170"/>
                <a:gd name="T82" fmla="*/ 102 w 170"/>
                <a:gd name="T83" fmla="*/ 159 h 170"/>
                <a:gd name="T84" fmla="*/ 160 w 170"/>
                <a:gd name="T85" fmla="*/ 170 h 170"/>
                <a:gd name="T86" fmla="*/ 163 w 170"/>
                <a:gd name="T87" fmla="*/ 169 h 170"/>
                <a:gd name="T88" fmla="*/ 165 w 170"/>
                <a:gd name="T89" fmla="*/ 168 h 170"/>
                <a:gd name="T90" fmla="*/ 168 w 170"/>
                <a:gd name="T91" fmla="*/ 165 h 170"/>
                <a:gd name="T92" fmla="*/ 169 w 170"/>
                <a:gd name="T93" fmla="*/ 163 h 170"/>
                <a:gd name="T94" fmla="*/ 170 w 170"/>
                <a:gd name="T95" fmla="*/ 161 h 170"/>
                <a:gd name="T96" fmla="*/ 170 w 170"/>
                <a:gd name="T97" fmla="*/ 1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70">
                  <a:moveTo>
                    <a:pt x="61" y="94"/>
                  </a:moveTo>
                  <a:cubicBezTo>
                    <a:pt x="21" y="134"/>
                    <a:pt x="21" y="134"/>
                    <a:pt x="21" y="134"/>
                  </a:cubicBezTo>
                  <a:cubicBezTo>
                    <a:pt x="21" y="111"/>
                    <a:pt x="21" y="111"/>
                    <a:pt x="21" y="111"/>
                  </a:cubicBezTo>
                  <a:cubicBezTo>
                    <a:pt x="21" y="105"/>
                    <a:pt x="16" y="100"/>
                    <a:pt x="10" y="100"/>
                  </a:cubicBezTo>
                  <a:cubicBezTo>
                    <a:pt x="5" y="100"/>
                    <a:pt x="0" y="105"/>
                    <a:pt x="0" y="111"/>
                  </a:cubicBezTo>
                  <a:cubicBezTo>
                    <a:pt x="0" y="159"/>
                    <a:pt x="0" y="159"/>
                    <a:pt x="0" y="159"/>
                  </a:cubicBezTo>
                  <a:cubicBezTo>
                    <a:pt x="0" y="160"/>
                    <a:pt x="0" y="161"/>
                    <a:pt x="0" y="161"/>
                  </a:cubicBezTo>
                  <a:cubicBezTo>
                    <a:pt x="0" y="162"/>
                    <a:pt x="0" y="162"/>
                    <a:pt x="0" y="162"/>
                  </a:cubicBezTo>
                  <a:cubicBezTo>
                    <a:pt x="1" y="163"/>
                    <a:pt x="1" y="163"/>
                    <a:pt x="1" y="163"/>
                  </a:cubicBezTo>
                  <a:cubicBezTo>
                    <a:pt x="1" y="164"/>
                    <a:pt x="1" y="164"/>
                    <a:pt x="1" y="164"/>
                  </a:cubicBezTo>
                  <a:cubicBezTo>
                    <a:pt x="2" y="165"/>
                    <a:pt x="2" y="165"/>
                    <a:pt x="2" y="165"/>
                  </a:cubicBezTo>
                  <a:cubicBezTo>
                    <a:pt x="2" y="166"/>
                    <a:pt x="3" y="167"/>
                    <a:pt x="5" y="168"/>
                  </a:cubicBezTo>
                  <a:cubicBezTo>
                    <a:pt x="5" y="168"/>
                    <a:pt x="5" y="168"/>
                    <a:pt x="5" y="168"/>
                  </a:cubicBezTo>
                  <a:cubicBezTo>
                    <a:pt x="6" y="169"/>
                    <a:pt x="6" y="169"/>
                    <a:pt x="6" y="169"/>
                  </a:cubicBezTo>
                  <a:cubicBezTo>
                    <a:pt x="7" y="169"/>
                    <a:pt x="7" y="169"/>
                    <a:pt x="7" y="169"/>
                  </a:cubicBezTo>
                  <a:cubicBezTo>
                    <a:pt x="8" y="169"/>
                    <a:pt x="8" y="169"/>
                    <a:pt x="8" y="169"/>
                  </a:cubicBezTo>
                  <a:cubicBezTo>
                    <a:pt x="9" y="170"/>
                    <a:pt x="10" y="170"/>
                    <a:pt x="10" y="170"/>
                  </a:cubicBezTo>
                  <a:cubicBezTo>
                    <a:pt x="59" y="170"/>
                    <a:pt x="59" y="170"/>
                    <a:pt x="59" y="170"/>
                  </a:cubicBezTo>
                  <a:cubicBezTo>
                    <a:pt x="65" y="170"/>
                    <a:pt x="69" y="165"/>
                    <a:pt x="69" y="159"/>
                  </a:cubicBezTo>
                  <a:cubicBezTo>
                    <a:pt x="69" y="153"/>
                    <a:pt x="65" y="149"/>
                    <a:pt x="59" y="149"/>
                  </a:cubicBezTo>
                  <a:cubicBezTo>
                    <a:pt x="36" y="149"/>
                    <a:pt x="36" y="149"/>
                    <a:pt x="36" y="149"/>
                  </a:cubicBezTo>
                  <a:cubicBezTo>
                    <a:pt x="76" y="109"/>
                    <a:pt x="76" y="109"/>
                    <a:pt x="76" y="109"/>
                  </a:cubicBezTo>
                  <a:cubicBezTo>
                    <a:pt x="80" y="105"/>
                    <a:pt x="80" y="98"/>
                    <a:pt x="76" y="94"/>
                  </a:cubicBezTo>
                  <a:cubicBezTo>
                    <a:pt x="72" y="90"/>
                    <a:pt x="65" y="90"/>
                    <a:pt x="61" y="94"/>
                  </a:cubicBezTo>
                  <a:close/>
                  <a:moveTo>
                    <a:pt x="10" y="69"/>
                  </a:moveTo>
                  <a:cubicBezTo>
                    <a:pt x="16" y="69"/>
                    <a:pt x="21" y="64"/>
                    <a:pt x="21" y="58"/>
                  </a:cubicBezTo>
                  <a:cubicBezTo>
                    <a:pt x="21" y="35"/>
                    <a:pt x="21" y="35"/>
                    <a:pt x="21" y="35"/>
                  </a:cubicBezTo>
                  <a:cubicBezTo>
                    <a:pt x="61" y="75"/>
                    <a:pt x="61" y="75"/>
                    <a:pt x="61" y="75"/>
                  </a:cubicBezTo>
                  <a:cubicBezTo>
                    <a:pt x="63" y="77"/>
                    <a:pt x="66" y="78"/>
                    <a:pt x="68" y="78"/>
                  </a:cubicBezTo>
                  <a:cubicBezTo>
                    <a:pt x="71" y="78"/>
                    <a:pt x="74" y="77"/>
                    <a:pt x="76" y="75"/>
                  </a:cubicBezTo>
                  <a:cubicBezTo>
                    <a:pt x="80" y="71"/>
                    <a:pt x="80" y="65"/>
                    <a:pt x="76" y="61"/>
                  </a:cubicBezTo>
                  <a:cubicBezTo>
                    <a:pt x="36" y="21"/>
                    <a:pt x="36" y="21"/>
                    <a:pt x="36" y="21"/>
                  </a:cubicBezTo>
                  <a:cubicBezTo>
                    <a:pt x="59" y="21"/>
                    <a:pt x="59" y="21"/>
                    <a:pt x="59" y="21"/>
                  </a:cubicBezTo>
                  <a:cubicBezTo>
                    <a:pt x="65" y="21"/>
                    <a:pt x="69" y="16"/>
                    <a:pt x="69" y="10"/>
                  </a:cubicBezTo>
                  <a:cubicBezTo>
                    <a:pt x="69" y="4"/>
                    <a:pt x="65" y="0"/>
                    <a:pt x="59" y="0"/>
                  </a:cubicBezTo>
                  <a:cubicBezTo>
                    <a:pt x="10" y="0"/>
                    <a:pt x="10" y="0"/>
                    <a:pt x="10" y="0"/>
                  </a:cubicBezTo>
                  <a:cubicBezTo>
                    <a:pt x="10" y="0"/>
                    <a:pt x="9" y="0"/>
                    <a:pt x="8" y="0"/>
                  </a:cubicBezTo>
                  <a:cubicBezTo>
                    <a:pt x="7" y="0"/>
                    <a:pt x="7" y="0"/>
                    <a:pt x="7" y="0"/>
                  </a:cubicBezTo>
                  <a:cubicBezTo>
                    <a:pt x="6" y="0"/>
                    <a:pt x="6" y="0"/>
                    <a:pt x="6" y="0"/>
                  </a:cubicBezTo>
                  <a:cubicBezTo>
                    <a:pt x="6" y="1"/>
                    <a:pt x="6" y="1"/>
                    <a:pt x="5" y="1"/>
                  </a:cubicBezTo>
                  <a:cubicBezTo>
                    <a:pt x="5" y="1"/>
                    <a:pt x="5" y="1"/>
                    <a:pt x="5" y="1"/>
                  </a:cubicBezTo>
                  <a:cubicBezTo>
                    <a:pt x="3" y="2"/>
                    <a:pt x="2" y="3"/>
                    <a:pt x="2" y="4"/>
                  </a:cubicBezTo>
                  <a:cubicBezTo>
                    <a:pt x="1" y="5"/>
                    <a:pt x="1" y="5"/>
                    <a:pt x="1" y="5"/>
                  </a:cubicBezTo>
                  <a:cubicBezTo>
                    <a:pt x="1" y="6"/>
                    <a:pt x="1" y="6"/>
                    <a:pt x="1" y="6"/>
                  </a:cubicBezTo>
                  <a:cubicBezTo>
                    <a:pt x="0" y="7"/>
                    <a:pt x="0" y="7"/>
                    <a:pt x="0" y="7"/>
                  </a:cubicBezTo>
                  <a:cubicBezTo>
                    <a:pt x="0" y="8"/>
                    <a:pt x="0" y="8"/>
                    <a:pt x="0" y="8"/>
                  </a:cubicBezTo>
                  <a:cubicBezTo>
                    <a:pt x="0" y="9"/>
                    <a:pt x="0" y="9"/>
                    <a:pt x="0" y="10"/>
                  </a:cubicBezTo>
                  <a:cubicBezTo>
                    <a:pt x="0" y="58"/>
                    <a:pt x="0" y="58"/>
                    <a:pt x="0" y="58"/>
                  </a:cubicBezTo>
                  <a:cubicBezTo>
                    <a:pt x="0" y="64"/>
                    <a:pt x="5" y="69"/>
                    <a:pt x="10" y="69"/>
                  </a:cubicBezTo>
                  <a:close/>
                  <a:moveTo>
                    <a:pt x="102" y="78"/>
                  </a:moveTo>
                  <a:cubicBezTo>
                    <a:pt x="104" y="78"/>
                    <a:pt x="107" y="77"/>
                    <a:pt x="109" y="75"/>
                  </a:cubicBezTo>
                  <a:cubicBezTo>
                    <a:pt x="149" y="35"/>
                    <a:pt x="149" y="35"/>
                    <a:pt x="149" y="35"/>
                  </a:cubicBezTo>
                  <a:cubicBezTo>
                    <a:pt x="149" y="58"/>
                    <a:pt x="149" y="58"/>
                    <a:pt x="149" y="58"/>
                  </a:cubicBezTo>
                  <a:cubicBezTo>
                    <a:pt x="149" y="64"/>
                    <a:pt x="154" y="69"/>
                    <a:pt x="160" y="69"/>
                  </a:cubicBezTo>
                  <a:cubicBezTo>
                    <a:pt x="165" y="69"/>
                    <a:pt x="170" y="64"/>
                    <a:pt x="170" y="58"/>
                  </a:cubicBezTo>
                  <a:cubicBezTo>
                    <a:pt x="170" y="10"/>
                    <a:pt x="170" y="10"/>
                    <a:pt x="170" y="10"/>
                  </a:cubicBezTo>
                  <a:cubicBezTo>
                    <a:pt x="170" y="9"/>
                    <a:pt x="170" y="9"/>
                    <a:pt x="170" y="8"/>
                  </a:cubicBezTo>
                  <a:cubicBezTo>
                    <a:pt x="170" y="7"/>
                    <a:pt x="170" y="7"/>
                    <a:pt x="170" y="7"/>
                  </a:cubicBezTo>
                  <a:cubicBezTo>
                    <a:pt x="169" y="6"/>
                    <a:pt x="169" y="6"/>
                    <a:pt x="169" y="6"/>
                  </a:cubicBezTo>
                  <a:cubicBezTo>
                    <a:pt x="169" y="6"/>
                    <a:pt x="169" y="5"/>
                    <a:pt x="169" y="5"/>
                  </a:cubicBezTo>
                  <a:cubicBezTo>
                    <a:pt x="168" y="4"/>
                    <a:pt x="168" y="4"/>
                    <a:pt x="168" y="4"/>
                  </a:cubicBezTo>
                  <a:cubicBezTo>
                    <a:pt x="167" y="3"/>
                    <a:pt x="166" y="2"/>
                    <a:pt x="165" y="1"/>
                  </a:cubicBezTo>
                  <a:cubicBezTo>
                    <a:pt x="165" y="1"/>
                    <a:pt x="165" y="1"/>
                    <a:pt x="165" y="1"/>
                  </a:cubicBezTo>
                  <a:cubicBezTo>
                    <a:pt x="164" y="0"/>
                    <a:pt x="164" y="0"/>
                    <a:pt x="164" y="0"/>
                  </a:cubicBezTo>
                  <a:cubicBezTo>
                    <a:pt x="162" y="0"/>
                    <a:pt x="162" y="0"/>
                    <a:pt x="162" y="0"/>
                  </a:cubicBezTo>
                  <a:cubicBezTo>
                    <a:pt x="162" y="0"/>
                    <a:pt x="162" y="0"/>
                    <a:pt x="162" y="0"/>
                  </a:cubicBezTo>
                  <a:cubicBezTo>
                    <a:pt x="161" y="0"/>
                    <a:pt x="160" y="0"/>
                    <a:pt x="160" y="0"/>
                  </a:cubicBezTo>
                  <a:cubicBezTo>
                    <a:pt x="111" y="0"/>
                    <a:pt x="111" y="0"/>
                    <a:pt x="111" y="0"/>
                  </a:cubicBezTo>
                  <a:cubicBezTo>
                    <a:pt x="105" y="0"/>
                    <a:pt x="101" y="4"/>
                    <a:pt x="101" y="10"/>
                  </a:cubicBezTo>
                  <a:cubicBezTo>
                    <a:pt x="101" y="16"/>
                    <a:pt x="105" y="21"/>
                    <a:pt x="111" y="21"/>
                  </a:cubicBezTo>
                  <a:cubicBezTo>
                    <a:pt x="134" y="21"/>
                    <a:pt x="134" y="21"/>
                    <a:pt x="134" y="21"/>
                  </a:cubicBezTo>
                  <a:cubicBezTo>
                    <a:pt x="94" y="61"/>
                    <a:pt x="94" y="61"/>
                    <a:pt x="94" y="61"/>
                  </a:cubicBezTo>
                  <a:cubicBezTo>
                    <a:pt x="90" y="65"/>
                    <a:pt x="90" y="71"/>
                    <a:pt x="94" y="75"/>
                  </a:cubicBezTo>
                  <a:cubicBezTo>
                    <a:pt x="96" y="77"/>
                    <a:pt x="99" y="78"/>
                    <a:pt x="102" y="78"/>
                  </a:cubicBezTo>
                  <a:close/>
                  <a:moveTo>
                    <a:pt x="160" y="101"/>
                  </a:moveTo>
                  <a:cubicBezTo>
                    <a:pt x="154" y="101"/>
                    <a:pt x="149" y="106"/>
                    <a:pt x="149" y="112"/>
                  </a:cubicBezTo>
                  <a:cubicBezTo>
                    <a:pt x="149" y="134"/>
                    <a:pt x="149" y="134"/>
                    <a:pt x="149" y="134"/>
                  </a:cubicBezTo>
                  <a:cubicBezTo>
                    <a:pt x="110" y="95"/>
                    <a:pt x="110" y="95"/>
                    <a:pt x="110" y="95"/>
                  </a:cubicBezTo>
                  <a:cubicBezTo>
                    <a:pt x="108" y="93"/>
                    <a:pt x="105" y="92"/>
                    <a:pt x="102" y="92"/>
                  </a:cubicBezTo>
                  <a:cubicBezTo>
                    <a:pt x="100" y="92"/>
                    <a:pt x="97" y="93"/>
                    <a:pt x="95" y="95"/>
                  </a:cubicBezTo>
                  <a:cubicBezTo>
                    <a:pt x="91" y="99"/>
                    <a:pt x="91" y="105"/>
                    <a:pt x="95" y="109"/>
                  </a:cubicBezTo>
                  <a:cubicBezTo>
                    <a:pt x="135" y="149"/>
                    <a:pt x="135" y="149"/>
                    <a:pt x="135" y="149"/>
                  </a:cubicBezTo>
                  <a:cubicBezTo>
                    <a:pt x="112" y="149"/>
                    <a:pt x="112" y="149"/>
                    <a:pt x="112" y="149"/>
                  </a:cubicBezTo>
                  <a:cubicBezTo>
                    <a:pt x="106" y="149"/>
                    <a:pt x="102" y="154"/>
                    <a:pt x="102" y="159"/>
                  </a:cubicBezTo>
                  <a:cubicBezTo>
                    <a:pt x="102" y="165"/>
                    <a:pt x="106" y="170"/>
                    <a:pt x="112" y="170"/>
                  </a:cubicBezTo>
                  <a:cubicBezTo>
                    <a:pt x="160" y="170"/>
                    <a:pt x="160" y="170"/>
                    <a:pt x="160" y="170"/>
                  </a:cubicBezTo>
                  <a:cubicBezTo>
                    <a:pt x="160" y="170"/>
                    <a:pt x="161" y="170"/>
                    <a:pt x="162" y="169"/>
                  </a:cubicBezTo>
                  <a:cubicBezTo>
                    <a:pt x="163" y="169"/>
                    <a:pt x="163" y="169"/>
                    <a:pt x="163" y="169"/>
                  </a:cubicBezTo>
                  <a:cubicBezTo>
                    <a:pt x="164" y="169"/>
                    <a:pt x="164" y="169"/>
                    <a:pt x="164" y="169"/>
                  </a:cubicBezTo>
                  <a:cubicBezTo>
                    <a:pt x="165" y="168"/>
                    <a:pt x="165" y="168"/>
                    <a:pt x="165" y="168"/>
                  </a:cubicBezTo>
                  <a:cubicBezTo>
                    <a:pt x="165" y="168"/>
                    <a:pt x="165" y="168"/>
                    <a:pt x="165" y="168"/>
                  </a:cubicBezTo>
                  <a:cubicBezTo>
                    <a:pt x="167" y="167"/>
                    <a:pt x="168" y="166"/>
                    <a:pt x="168" y="165"/>
                  </a:cubicBezTo>
                  <a:cubicBezTo>
                    <a:pt x="169" y="164"/>
                    <a:pt x="169" y="164"/>
                    <a:pt x="169" y="164"/>
                  </a:cubicBezTo>
                  <a:cubicBezTo>
                    <a:pt x="169" y="163"/>
                    <a:pt x="169" y="163"/>
                    <a:pt x="169" y="163"/>
                  </a:cubicBezTo>
                  <a:cubicBezTo>
                    <a:pt x="170" y="162"/>
                    <a:pt x="170" y="162"/>
                    <a:pt x="170" y="162"/>
                  </a:cubicBezTo>
                  <a:cubicBezTo>
                    <a:pt x="170" y="161"/>
                    <a:pt x="170" y="161"/>
                    <a:pt x="170" y="161"/>
                  </a:cubicBezTo>
                  <a:cubicBezTo>
                    <a:pt x="170" y="161"/>
                    <a:pt x="170" y="160"/>
                    <a:pt x="170" y="159"/>
                  </a:cubicBezTo>
                  <a:cubicBezTo>
                    <a:pt x="170" y="112"/>
                    <a:pt x="170" y="112"/>
                    <a:pt x="170" y="112"/>
                  </a:cubicBezTo>
                  <a:cubicBezTo>
                    <a:pt x="170" y="106"/>
                    <a:pt x="165" y="101"/>
                    <a:pt x="160" y="101"/>
                  </a:cubicBezTo>
                  <a:close/>
                </a:path>
              </a:pathLst>
            </a:custGeom>
            <a:solidFill>
              <a:srgbClr val="C00000"/>
            </a:solidFill>
            <a:ln w="12700" cap="flat" cmpd="sng" algn="ctr">
              <a:solidFill>
                <a:srgbClr val="E7E6E6">
                  <a:lumMod val="75000"/>
                </a:srgbClr>
              </a:solidFill>
              <a:prstDash val="solid"/>
              <a:miter lim="800000"/>
            </a:ln>
            <a:effectLst/>
          </p:spPr>
          <p:txBody>
            <a:bodyPr rot="0" spcFirstLastPara="0" vertOverflow="overflow" horzOverflow="overflow" vert="horz" wrap="square" lIns="68510" tIns="34255" rIns="68510" bIns="34255" numCol="1" spcCol="0" rtlCol="0" fromWordArt="0" anchor="ctr" anchorCtr="0" forceAA="0" compatLnSpc="1">
              <a:prstTxWarp prst="textNoShape">
                <a:avLst/>
              </a:prstTxWarp>
              <a:noAutofit/>
            </a:bodyPr>
            <a:lstStyle/>
            <a:p>
              <a:pPr algn="ctr" defTabSz="685173">
                <a:defRPr/>
              </a:pPr>
              <a:endParaRPr lang="zh-CN" altLang="en-US" sz="600" b="1">
                <a:solidFill>
                  <a:srgbClr val="666666"/>
                </a:solidFill>
                <a:latin typeface="微软雅黑" panose="020B0503020204020204" pitchFamily="34" charset="-122"/>
                <a:ea typeface="微软雅黑" panose="020B0503020204020204" pitchFamily="34" charset="-122"/>
                <a:cs typeface="+mn-ea"/>
              </a:endParaRPr>
            </a:p>
          </p:txBody>
        </p:sp>
      </p:grpSp>
      <p:sp>
        <p:nvSpPr>
          <p:cNvPr id="250" name="矩形: 圆角 249">
            <a:extLst>
              <a:ext uri="{FF2B5EF4-FFF2-40B4-BE49-F238E27FC236}">
                <a16:creationId xmlns:a16="http://schemas.microsoft.com/office/drawing/2014/main" id="{7F6953C1-5E72-467E-92C5-9C7F6C6E2304}"/>
              </a:ext>
            </a:extLst>
          </p:cNvPr>
          <p:cNvSpPr>
            <a:spLocks/>
          </p:cNvSpPr>
          <p:nvPr/>
        </p:nvSpPr>
        <p:spPr>
          <a:xfrm>
            <a:off x="3929991" y="3562149"/>
            <a:ext cx="1238372" cy="677830"/>
          </a:xfrm>
          <a:prstGeom prst="roundRect">
            <a:avLst/>
          </a:prstGeom>
          <a:noFill/>
          <a:ln w="6350">
            <a:solidFill>
              <a:srgbClr val="83817F"/>
            </a:solidFill>
            <a:prstDash val="dash"/>
          </a:ln>
        </p:spPr>
        <p:txBody>
          <a:bodyPr wrap="square" lIns="51401" tIns="25701" rIns="51401" bIns="25701" rtlCol="0" anchor="ctr">
            <a:noAutofit/>
          </a:bodyPr>
          <a:lstStyle/>
          <a:p>
            <a:pPr algn="ctr" defTabSz="685526" fontAlgn="base">
              <a:lnSpc>
                <a:spcPct val="150000"/>
              </a:lnSpc>
              <a:spcBef>
                <a:spcPct val="0"/>
              </a:spcBef>
              <a:spcAft>
                <a:spcPct val="0"/>
              </a:spcAft>
              <a:buClr>
                <a:prstClr val="black">
                  <a:lumMod val="50000"/>
                  <a:lumOff val="50000"/>
                </a:prstClr>
              </a:buClr>
              <a:buSzPct val="60000"/>
              <a:defRPr/>
            </a:pPr>
            <a:endParaRPr lang="zh-CN" altLang="en-US" sz="900" b="1" dirty="0">
              <a:solidFill>
                <a:srgbClr val="C00000"/>
              </a:solidFill>
              <a:latin typeface=" 微软雅黑"/>
              <a:ea typeface="微软雅黑" panose="020B0503020204020204" pitchFamily="34" charset="-122"/>
              <a:sym typeface="Arial" panose="020B0604020202020204" pitchFamily="34" charset="0"/>
            </a:endParaRPr>
          </a:p>
        </p:txBody>
      </p:sp>
      <p:cxnSp>
        <p:nvCxnSpPr>
          <p:cNvPr id="11" name="直接连接符 10">
            <a:extLst>
              <a:ext uri="{FF2B5EF4-FFF2-40B4-BE49-F238E27FC236}">
                <a16:creationId xmlns:a16="http://schemas.microsoft.com/office/drawing/2014/main" id="{63FFE2B9-FDF4-4408-882E-EAF1E868F71B}"/>
              </a:ext>
            </a:extLst>
          </p:cNvPr>
          <p:cNvCxnSpPr>
            <a:stCxn id="209" idx="3"/>
            <a:endCxn id="237" idx="1"/>
          </p:cNvCxnSpPr>
          <p:nvPr/>
        </p:nvCxnSpPr>
        <p:spPr>
          <a:xfrm>
            <a:off x="1984337" y="3896396"/>
            <a:ext cx="861511" cy="0"/>
          </a:xfrm>
          <a:prstGeom prst="line">
            <a:avLst/>
          </a:prstGeom>
          <a:ln>
            <a:solidFill>
              <a:srgbClr val="92D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0CE4E2C7-49BD-4391-A0E7-B1C8C2849DCD}"/>
              </a:ext>
            </a:extLst>
          </p:cNvPr>
          <p:cNvCxnSpPr>
            <a:stCxn id="238" idx="3"/>
            <a:endCxn id="247" idx="1"/>
          </p:cNvCxnSpPr>
          <p:nvPr/>
        </p:nvCxnSpPr>
        <p:spPr>
          <a:xfrm>
            <a:off x="3207363" y="3884052"/>
            <a:ext cx="843120" cy="7613"/>
          </a:xfrm>
          <a:prstGeom prst="line">
            <a:avLst/>
          </a:prstGeom>
          <a:ln>
            <a:solidFill>
              <a:srgbClr val="92D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矩形 256">
            <a:extLst>
              <a:ext uri="{FF2B5EF4-FFF2-40B4-BE49-F238E27FC236}">
                <a16:creationId xmlns:a16="http://schemas.microsoft.com/office/drawing/2014/main" id="{6C23BBB0-25FF-4D22-AB29-0B427671AF7A}"/>
              </a:ext>
            </a:extLst>
          </p:cNvPr>
          <p:cNvSpPr/>
          <p:nvPr/>
        </p:nvSpPr>
        <p:spPr>
          <a:xfrm>
            <a:off x="2649104" y="4778834"/>
            <a:ext cx="797554" cy="230832"/>
          </a:xfrm>
          <a:prstGeom prst="rect">
            <a:avLst/>
          </a:prstGeom>
        </p:spPr>
        <p:txBody>
          <a:bodyPr wrap="square">
            <a:spAutoFit/>
          </a:bodyPr>
          <a:lstStyle/>
          <a:p>
            <a:pPr algn="ctr" defTabSz="685526">
              <a:defRPr/>
            </a:pPr>
            <a:r>
              <a:rPr lang="en-US" altLang="zh-CN" sz="900" b="1" dirty="0">
                <a:solidFill>
                  <a:prstClr val="black"/>
                </a:solidFill>
                <a:latin typeface="微软雅黑" panose="020B0503020204020204" pitchFamily="34" charset="-122"/>
                <a:ea typeface="微软雅黑" panose="020B0503020204020204" pitchFamily="34" charset="-122"/>
              </a:rPr>
              <a:t>UnionPay</a:t>
            </a:r>
            <a:endParaRPr lang="en-US" sz="900" b="1" dirty="0">
              <a:solidFill>
                <a:prstClr val="black"/>
              </a:solidFill>
              <a:latin typeface="微软雅黑" panose="020B0503020204020204" pitchFamily="34" charset="-122"/>
              <a:ea typeface="微软雅黑" panose="020B0503020204020204" pitchFamily="34" charset="-122"/>
            </a:endParaRPr>
          </a:p>
        </p:txBody>
      </p:sp>
      <p:sp>
        <p:nvSpPr>
          <p:cNvPr id="258" name="矩形 257">
            <a:extLst>
              <a:ext uri="{FF2B5EF4-FFF2-40B4-BE49-F238E27FC236}">
                <a16:creationId xmlns:a16="http://schemas.microsoft.com/office/drawing/2014/main" id="{C7163653-BD11-41A7-B465-FE2E67BED303}"/>
              </a:ext>
            </a:extLst>
          </p:cNvPr>
          <p:cNvSpPr/>
          <p:nvPr/>
        </p:nvSpPr>
        <p:spPr>
          <a:xfrm>
            <a:off x="4201714" y="4069023"/>
            <a:ext cx="797554" cy="207749"/>
          </a:xfrm>
          <a:prstGeom prst="rect">
            <a:avLst/>
          </a:prstGeom>
        </p:spPr>
        <p:txBody>
          <a:bodyPr wrap="square">
            <a:spAutoFit/>
          </a:bodyPr>
          <a:lstStyle/>
          <a:p>
            <a:pPr algn="ctr" defTabSz="685526">
              <a:defRPr/>
            </a:pPr>
            <a:r>
              <a:rPr lang="en-US" altLang="zh-CN" sz="750" b="1" dirty="0">
                <a:solidFill>
                  <a:prstClr val="black"/>
                </a:solidFill>
                <a:latin typeface="微软雅黑" panose="020B0503020204020204" pitchFamily="34" charset="-122"/>
                <a:ea typeface="微软雅黑" panose="020B0503020204020204" pitchFamily="34" charset="-122"/>
              </a:rPr>
              <a:t>Bank 1</a:t>
            </a:r>
            <a:endParaRPr lang="en-US" sz="750" b="1" dirty="0">
              <a:solidFill>
                <a:prstClr val="black"/>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3659EF21-CD4B-49F7-8451-F576898F1975}"/>
              </a:ext>
            </a:extLst>
          </p:cNvPr>
          <p:cNvSpPr/>
          <p:nvPr/>
        </p:nvSpPr>
        <p:spPr>
          <a:xfrm>
            <a:off x="5311490" y="3593535"/>
            <a:ext cx="2397571" cy="14973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53" tIns="34277" rIns="68553" bIns="34277" numCol="1" spcCol="0" rtlCol="0" fromWordArt="0" anchor="ctr" anchorCtr="0" forceAA="0" compatLnSpc="1">
            <a:noAutofit/>
          </a:bodyPr>
          <a:lstStyle/>
          <a:p>
            <a:pPr marL="171381" indent="-171381">
              <a:buFont typeface="+mj-ea"/>
              <a:buAutoNum type="circleNumDbPlain"/>
            </a:pPr>
            <a:r>
              <a:rPr lang="en-US" altLang="zh-CN" sz="1050" dirty="0">
                <a:solidFill>
                  <a:schemeClr val="bg2">
                    <a:lumMod val="10000"/>
                  </a:schemeClr>
                </a:solidFill>
                <a:latin typeface=" 微软雅黑"/>
              </a:rPr>
              <a:t>Agent</a:t>
            </a:r>
            <a:r>
              <a:rPr lang="zh-CN" altLang="en-US" sz="1050" dirty="0">
                <a:solidFill>
                  <a:schemeClr val="bg2">
                    <a:lumMod val="10000"/>
                  </a:schemeClr>
                </a:solidFill>
                <a:latin typeface=" 微软雅黑"/>
              </a:rPr>
              <a:t> </a:t>
            </a:r>
            <a:r>
              <a:rPr lang="en-US" altLang="zh-CN" sz="1050" dirty="0">
                <a:solidFill>
                  <a:schemeClr val="bg2">
                    <a:lumMod val="10000"/>
                  </a:schemeClr>
                </a:solidFill>
                <a:latin typeface=" 微软雅黑"/>
              </a:rPr>
              <a:t>registration</a:t>
            </a:r>
          </a:p>
          <a:p>
            <a:pPr marL="171381" indent="-171381">
              <a:buFont typeface="+mj-ea"/>
              <a:buAutoNum type="circleNumDbPlain"/>
            </a:pPr>
            <a:r>
              <a:rPr lang="en-US" altLang="zh-CN" sz="1050" dirty="0">
                <a:solidFill>
                  <a:schemeClr val="bg2">
                    <a:lumMod val="10000"/>
                  </a:schemeClr>
                </a:solidFill>
                <a:latin typeface=" 微软雅黑"/>
              </a:rPr>
              <a:t>Agent</a:t>
            </a:r>
            <a:r>
              <a:rPr lang="zh-CN" altLang="en-US" sz="1050" dirty="0">
                <a:solidFill>
                  <a:schemeClr val="bg2">
                    <a:lumMod val="10000"/>
                  </a:schemeClr>
                </a:solidFill>
                <a:latin typeface=" 微软雅黑"/>
              </a:rPr>
              <a:t> </a:t>
            </a:r>
            <a:r>
              <a:rPr lang="en-US" altLang="zh-CN" sz="1050" dirty="0">
                <a:solidFill>
                  <a:schemeClr val="bg2">
                    <a:lumMod val="10000"/>
                  </a:schemeClr>
                </a:solidFill>
                <a:latin typeface=" 微软雅黑"/>
              </a:rPr>
              <a:t>Gateway discovery</a:t>
            </a:r>
          </a:p>
          <a:p>
            <a:pPr marL="171381" indent="-171381">
              <a:buFont typeface="+mj-ea"/>
              <a:buAutoNum type="circleNumDbPlain"/>
            </a:pPr>
            <a:r>
              <a:rPr lang="en-US" altLang="zh-CN" sz="1050" dirty="0">
                <a:solidFill>
                  <a:schemeClr val="bg2">
                    <a:lumMod val="10000"/>
                  </a:schemeClr>
                </a:solidFill>
                <a:latin typeface=" 微软雅黑"/>
              </a:rPr>
              <a:t>Agent addressing</a:t>
            </a:r>
          </a:p>
          <a:p>
            <a:pPr marL="171381" indent="-171381">
              <a:buFont typeface="+mj-ea"/>
              <a:buAutoNum type="circleNumDbPlain"/>
            </a:pPr>
            <a:r>
              <a:rPr lang="en-US" altLang="zh-CN" sz="1050" dirty="0">
                <a:solidFill>
                  <a:schemeClr val="bg2">
                    <a:lumMod val="10000"/>
                  </a:schemeClr>
                </a:solidFill>
                <a:latin typeface=" 微软雅黑"/>
              </a:rPr>
              <a:t>Agent</a:t>
            </a:r>
            <a:r>
              <a:rPr lang="zh-CN" altLang="en-US" sz="1050" dirty="0">
                <a:solidFill>
                  <a:schemeClr val="bg2">
                    <a:lumMod val="10000"/>
                  </a:schemeClr>
                </a:solidFill>
                <a:latin typeface=" 微软雅黑"/>
              </a:rPr>
              <a:t> </a:t>
            </a:r>
            <a:r>
              <a:rPr lang="en-US" altLang="zh-CN" sz="1050" dirty="0">
                <a:solidFill>
                  <a:schemeClr val="bg2">
                    <a:lumMod val="10000"/>
                  </a:schemeClr>
                </a:solidFill>
                <a:latin typeface=" 微软雅黑"/>
              </a:rPr>
              <a:t>connection establishment</a:t>
            </a:r>
          </a:p>
          <a:p>
            <a:pPr marL="171381" indent="-171381">
              <a:buFont typeface="+mj-ea"/>
              <a:buAutoNum type="circleNumDbPlain"/>
            </a:pPr>
            <a:r>
              <a:rPr lang="en-US" altLang="zh-CN" sz="1050" dirty="0">
                <a:solidFill>
                  <a:schemeClr val="bg2">
                    <a:lumMod val="10000"/>
                  </a:schemeClr>
                </a:solidFill>
                <a:latin typeface=" 微软雅黑"/>
              </a:rPr>
              <a:t>Agent</a:t>
            </a:r>
            <a:r>
              <a:rPr lang="zh-CN" altLang="en-US" sz="1050" dirty="0">
                <a:solidFill>
                  <a:schemeClr val="bg2">
                    <a:lumMod val="10000"/>
                  </a:schemeClr>
                </a:solidFill>
                <a:latin typeface=" 微软雅黑"/>
              </a:rPr>
              <a:t> </a:t>
            </a:r>
            <a:r>
              <a:rPr lang="en-US" altLang="zh-CN" sz="1050" dirty="0">
                <a:solidFill>
                  <a:schemeClr val="bg2">
                    <a:lumMod val="10000"/>
                  </a:schemeClr>
                </a:solidFill>
                <a:latin typeface=" 微软雅黑"/>
              </a:rPr>
              <a:t>service-level interaction</a:t>
            </a:r>
          </a:p>
          <a:p>
            <a:pPr marL="171381" indent="-171381">
              <a:buFont typeface="+mj-ea"/>
              <a:buAutoNum type="circleNumDbPlain"/>
            </a:pPr>
            <a:r>
              <a:rPr lang="en-US" altLang="zh-CN" sz="1050" dirty="0">
                <a:solidFill>
                  <a:schemeClr val="bg2">
                    <a:lumMod val="10000"/>
                  </a:schemeClr>
                </a:solidFill>
                <a:latin typeface=" 微软雅黑"/>
              </a:rPr>
              <a:t>Underlay</a:t>
            </a:r>
            <a:r>
              <a:rPr lang="zh-CN" altLang="en-US" sz="1050" dirty="0">
                <a:solidFill>
                  <a:schemeClr val="bg2">
                    <a:lumMod val="10000"/>
                  </a:schemeClr>
                </a:solidFill>
                <a:latin typeface=" 微软雅黑"/>
              </a:rPr>
              <a:t> </a:t>
            </a:r>
            <a:r>
              <a:rPr lang="en-US" altLang="zh-CN" sz="1050" dirty="0">
                <a:solidFill>
                  <a:schemeClr val="bg2">
                    <a:lumMod val="10000"/>
                  </a:schemeClr>
                </a:solidFill>
                <a:latin typeface=" 微软雅黑"/>
              </a:rPr>
              <a:t>network assurance</a:t>
            </a:r>
          </a:p>
          <a:p>
            <a:endParaRPr lang="zh-CN" altLang="en-US" sz="825" dirty="0">
              <a:solidFill>
                <a:srgbClr val="000000"/>
              </a:solidFill>
              <a:latin typeface=" 微软雅黑"/>
            </a:endParaRPr>
          </a:p>
        </p:txBody>
      </p:sp>
      <p:sp>
        <p:nvSpPr>
          <p:cNvPr id="276" name="文本框 275">
            <a:extLst>
              <a:ext uri="{FF2B5EF4-FFF2-40B4-BE49-F238E27FC236}">
                <a16:creationId xmlns:a16="http://schemas.microsoft.com/office/drawing/2014/main" id="{E23D789C-A4D4-4714-9C39-E27BAA4BA64D}"/>
              </a:ext>
            </a:extLst>
          </p:cNvPr>
          <p:cNvSpPr txBox="1"/>
          <p:nvPr/>
        </p:nvSpPr>
        <p:spPr>
          <a:xfrm>
            <a:off x="1622098" y="4206005"/>
            <a:ext cx="141004" cy="126958"/>
          </a:xfrm>
          <a:prstGeom prst="rect">
            <a:avLst/>
          </a:prstGeom>
          <a:noFill/>
        </p:spPr>
        <p:txBody>
          <a:bodyPr wrap="square" lIns="0" tIns="0" rIns="0" bIns="0" rtlCol="0">
            <a:spAutoFit/>
          </a:bodyPr>
          <a:lstStyle/>
          <a:p>
            <a:pPr algn="ctr"/>
            <a:r>
              <a:rPr kumimoji="1" lang="zh-CN" altLang="en-US" sz="825" b="1" dirty="0">
                <a:solidFill>
                  <a:schemeClr val="bg2">
                    <a:lumMod val="10000"/>
                  </a:schemeClr>
                </a:solidFill>
                <a:latin typeface="微软雅黑" panose="020B0503020204020204" pitchFamily="34" charset="-122"/>
                <a:ea typeface="微软雅黑" panose="020B0503020204020204" pitchFamily="34" charset="-122"/>
              </a:rPr>
              <a:t>①</a:t>
            </a:r>
          </a:p>
        </p:txBody>
      </p:sp>
      <p:sp>
        <p:nvSpPr>
          <p:cNvPr id="277" name="文本框 276">
            <a:extLst>
              <a:ext uri="{FF2B5EF4-FFF2-40B4-BE49-F238E27FC236}">
                <a16:creationId xmlns:a16="http://schemas.microsoft.com/office/drawing/2014/main" id="{273DB048-9AE3-481E-9733-4DC0626E9D58}"/>
              </a:ext>
            </a:extLst>
          </p:cNvPr>
          <p:cNvSpPr txBox="1"/>
          <p:nvPr/>
        </p:nvSpPr>
        <p:spPr>
          <a:xfrm>
            <a:off x="2895972" y="4202480"/>
            <a:ext cx="141004" cy="126958"/>
          </a:xfrm>
          <a:prstGeom prst="rect">
            <a:avLst/>
          </a:prstGeom>
          <a:noFill/>
        </p:spPr>
        <p:txBody>
          <a:bodyPr wrap="square" lIns="0" tIns="0" rIns="0" bIns="0" rtlCol="0">
            <a:spAutoFit/>
          </a:bodyPr>
          <a:lstStyle/>
          <a:p>
            <a:pPr algn="ctr"/>
            <a:r>
              <a:rPr kumimoji="1" lang="zh-CN" altLang="en-US" sz="825" b="1" dirty="0">
                <a:solidFill>
                  <a:schemeClr val="bg2">
                    <a:lumMod val="10000"/>
                  </a:schemeClr>
                </a:solidFill>
                <a:latin typeface="微软雅黑" panose="020B0503020204020204" pitchFamily="34" charset="-122"/>
                <a:ea typeface="微软雅黑" panose="020B0503020204020204" pitchFamily="34" charset="-122"/>
              </a:rPr>
              <a:t>①</a:t>
            </a:r>
          </a:p>
        </p:txBody>
      </p:sp>
      <p:sp>
        <p:nvSpPr>
          <p:cNvPr id="278" name="文本框 277">
            <a:extLst>
              <a:ext uri="{FF2B5EF4-FFF2-40B4-BE49-F238E27FC236}">
                <a16:creationId xmlns:a16="http://schemas.microsoft.com/office/drawing/2014/main" id="{6AB0549E-7838-4024-B182-B1B7587874A9}"/>
              </a:ext>
            </a:extLst>
          </p:cNvPr>
          <p:cNvSpPr txBox="1"/>
          <p:nvPr/>
        </p:nvSpPr>
        <p:spPr>
          <a:xfrm>
            <a:off x="2354410" y="3749578"/>
            <a:ext cx="141004" cy="126958"/>
          </a:xfrm>
          <a:prstGeom prst="rect">
            <a:avLst/>
          </a:prstGeom>
          <a:noFill/>
        </p:spPr>
        <p:txBody>
          <a:bodyPr wrap="square" lIns="0" tIns="0" rIns="0" bIns="0" rtlCol="0">
            <a:spAutoFit/>
          </a:bodyPr>
          <a:lstStyle/>
          <a:p>
            <a:pPr algn="ctr"/>
            <a:r>
              <a:rPr kumimoji="1" lang="zh-CN" altLang="en-US" sz="825" b="1" dirty="0">
                <a:solidFill>
                  <a:schemeClr val="accent5">
                    <a:lumMod val="75000"/>
                  </a:schemeClr>
                </a:solidFill>
                <a:latin typeface="微软雅黑" panose="020B0503020204020204" pitchFamily="34" charset="-122"/>
                <a:ea typeface="微软雅黑" panose="020B0503020204020204" pitchFamily="34" charset="-122"/>
              </a:rPr>
              <a:t>②</a:t>
            </a:r>
          </a:p>
        </p:txBody>
      </p:sp>
      <p:sp>
        <p:nvSpPr>
          <p:cNvPr id="279" name="文本框 278">
            <a:extLst>
              <a:ext uri="{FF2B5EF4-FFF2-40B4-BE49-F238E27FC236}">
                <a16:creationId xmlns:a16="http://schemas.microsoft.com/office/drawing/2014/main" id="{2E90A7A8-F25C-4B65-9261-8C924FA0DA2E}"/>
              </a:ext>
            </a:extLst>
          </p:cNvPr>
          <p:cNvSpPr txBox="1"/>
          <p:nvPr/>
        </p:nvSpPr>
        <p:spPr>
          <a:xfrm>
            <a:off x="3643044" y="3749578"/>
            <a:ext cx="141004" cy="126958"/>
          </a:xfrm>
          <a:prstGeom prst="rect">
            <a:avLst/>
          </a:prstGeom>
          <a:noFill/>
        </p:spPr>
        <p:txBody>
          <a:bodyPr wrap="square" lIns="0" tIns="0" rIns="0" bIns="0" rtlCol="0">
            <a:spAutoFit/>
          </a:bodyPr>
          <a:lstStyle>
            <a:defPPr>
              <a:defRPr lang="en-US"/>
            </a:defPPr>
            <a:lvl1pPr>
              <a:defRPr kumimoji="1" sz="1100" b="1">
                <a:solidFill>
                  <a:schemeClr val="accent5">
                    <a:lumMod val="75000"/>
                  </a:schemeClr>
                </a:solidFill>
                <a:latin typeface="微软雅黑" panose="020B0503020204020204" pitchFamily="34" charset="-122"/>
                <a:ea typeface="微软雅黑" panose="020B0503020204020204" pitchFamily="34" charset="-122"/>
              </a:defRPr>
            </a:lvl1pPr>
          </a:lstStyle>
          <a:p>
            <a:pPr algn="ctr"/>
            <a:r>
              <a:rPr lang="zh-CN" altLang="en-US" sz="825" dirty="0"/>
              <a:t>②</a:t>
            </a:r>
          </a:p>
        </p:txBody>
      </p:sp>
      <p:sp>
        <p:nvSpPr>
          <p:cNvPr id="281" name="文本框 280">
            <a:extLst>
              <a:ext uri="{FF2B5EF4-FFF2-40B4-BE49-F238E27FC236}">
                <a16:creationId xmlns:a16="http://schemas.microsoft.com/office/drawing/2014/main" id="{FF6E5BE1-5D6E-42EC-B906-326C7EA1B490}"/>
              </a:ext>
            </a:extLst>
          </p:cNvPr>
          <p:cNvSpPr txBox="1"/>
          <p:nvPr/>
        </p:nvSpPr>
        <p:spPr>
          <a:xfrm>
            <a:off x="2723964" y="3687926"/>
            <a:ext cx="141004" cy="126958"/>
          </a:xfrm>
          <a:prstGeom prst="rect">
            <a:avLst/>
          </a:prstGeom>
          <a:noFill/>
        </p:spPr>
        <p:txBody>
          <a:bodyPr wrap="square" lIns="0" tIns="0" rIns="0" bIns="0" rtlCol="0">
            <a:spAutoFit/>
          </a:bodyPr>
          <a:lstStyle/>
          <a:p>
            <a:pPr algn="l"/>
            <a:r>
              <a:rPr kumimoji="1" lang="zh-CN" altLang="en-US" sz="825" b="1" dirty="0">
                <a:solidFill>
                  <a:schemeClr val="bg2">
                    <a:lumMod val="10000"/>
                  </a:schemeClr>
                </a:solidFill>
                <a:latin typeface="微软雅黑" panose="020B0503020204020204" pitchFamily="34" charset="-122"/>
                <a:ea typeface="微软雅黑" panose="020B0503020204020204" pitchFamily="34" charset="-122"/>
              </a:rPr>
              <a:t>③</a:t>
            </a:r>
          </a:p>
        </p:txBody>
      </p:sp>
      <p:grpSp>
        <p:nvGrpSpPr>
          <p:cNvPr id="285" name="组合 284">
            <a:extLst>
              <a:ext uri="{FF2B5EF4-FFF2-40B4-BE49-F238E27FC236}">
                <a16:creationId xmlns:a16="http://schemas.microsoft.com/office/drawing/2014/main" id="{ABBD5BA1-F0F4-4BF7-99CF-C5DF8A2B9352}"/>
              </a:ext>
            </a:extLst>
          </p:cNvPr>
          <p:cNvGrpSpPr/>
          <p:nvPr/>
        </p:nvGrpSpPr>
        <p:grpSpPr>
          <a:xfrm>
            <a:off x="4791154" y="3777240"/>
            <a:ext cx="332653" cy="228852"/>
            <a:chOff x="1388228" y="4457070"/>
            <a:chExt cx="676037" cy="423823"/>
          </a:xfrm>
        </p:grpSpPr>
        <p:pic>
          <p:nvPicPr>
            <p:cNvPr id="286" name="图片 285" descr="笔记本电脑.png">
              <a:extLst>
                <a:ext uri="{FF2B5EF4-FFF2-40B4-BE49-F238E27FC236}">
                  <a16:creationId xmlns:a16="http://schemas.microsoft.com/office/drawing/2014/main" id="{D66EAC2F-279E-4DE2-8690-94DE35952262}"/>
                </a:ext>
              </a:extLst>
            </p:cNvPr>
            <p:cNvPicPr>
              <a:picLocks noChangeAspect="1"/>
            </p:cNvPicPr>
            <p:nvPr/>
          </p:nvPicPr>
          <p:blipFill>
            <a:blip r:embed="rId6" cstate="print"/>
            <a:stretch>
              <a:fillRect/>
            </a:stretch>
          </p:blipFill>
          <p:spPr>
            <a:xfrm>
              <a:off x="1388228" y="4457070"/>
              <a:ext cx="676037" cy="423823"/>
            </a:xfrm>
            <a:prstGeom prst="rect">
              <a:avLst/>
            </a:prstGeom>
          </p:spPr>
        </p:pic>
        <p:pic>
          <p:nvPicPr>
            <p:cNvPr id="287" name="图片 286">
              <a:extLst>
                <a:ext uri="{FF2B5EF4-FFF2-40B4-BE49-F238E27FC236}">
                  <a16:creationId xmlns:a16="http://schemas.microsoft.com/office/drawing/2014/main" id="{C68536D3-9D9F-439D-8124-7DF22B0C7EE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74452" y="4509735"/>
              <a:ext cx="315316" cy="252590"/>
            </a:xfrm>
            <a:prstGeom prst="rect">
              <a:avLst/>
            </a:prstGeom>
          </p:spPr>
        </p:pic>
      </p:grpSp>
      <p:cxnSp>
        <p:nvCxnSpPr>
          <p:cNvPr id="21" name="直接箭头连接符 20">
            <a:extLst>
              <a:ext uri="{FF2B5EF4-FFF2-40B4-BE49-F238E27FC236}">
                <a16:creationId xmlns:a16="http://schemas.microsoft.com/office/drawing/2014/main" id="{93633E7F-3BB9-41CD-8B76-CB55F3DD015C}"/>
              </a:ext>
            </a:extLst>
          </p:cNvPr>
          <p:cNvCxnSpPr>
            <a:stCxn id="286" idx="1"/>
            <a:endCxn id="247" idx="3"/>
          </p:cNvCxnSpPr>
          <p:nvPr/>
        </p:nvCxnSpPr>
        <p:spPr>
          <a:xfrm flipH="1" flipV="1">
            <a:off x="4454548" y="3891665"/>
            <a:ext cx="33660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90" name="文本框 289">
            <a:extLst>
              <a:ext uri="{FF2B5EF4-FFF2-40B4-BE49-F238E27FC236}">
                <a16:creationId xmlns:a16="http://schemas.microsoft.com/office/drawing/2014/main" id="{8036F91C-7983-4C6A-9F29-C80E75F83B0F}"/>
              </a:ext>
            </a:extLst>
          </p:cNvPr>
          <p:cNvSpPr txBox="1"/>
          <p:nvPr/>
        </p:nvSpPr>
        <p:spPr>
          <a:xfrm>
            <a:off x="4584921" y="3739505"/>
            <a:ext cx="97772" cy="126958"/>
          </a:xfrm>
          <a:prstGeom prst="rect">
            <a:avLst/>
          </a:prstGeom>
          <a:noFill/>
        </p:spPr>
        <p:txBody>
          <a:bodyPr wrap="square" lIns="0" tIns="0" rIns="0" bIns="0" rtlCol="0">
            <a:spAutoFit/>
          </a:bodyPr>
          <a:lstStyle/>
          <a:p>
            <a:pPr algn="ctr"/>
            <a:r>
              <a:rPr kumimoji="1" lang="zh-CN" altLang="en-US" sz="825" b="1" dirty="0">
                <a:solidFill>
                  <a:schemeClr val="bg2">
                    <a:lumMod val="10000"/>
                  </a:schemeClr>
                </a:solidFill>
                <a:latin typeface="微软雅黑" panose="020B0503020204020204" pitchFamily="34" charset="-122"/>
                <a:ea typeface="微软雅黑" panose="020B0503020204020204" pitchFamily="34" charset="-122"/>
              </a:rPr>
              <a:t>①</a:t>
            </a:r>
          </a:p>
        </p:txBody>
      </p:sp>
      <p:grpSp>
        <p:nvGrpSpPr>
          <p:cNvPr id="303" name="组合 302">
            <a:extLst>
              <a:ext uri="{FF2B5EF4-FFF2-40B4-BE49-F238E27FC236}">
                <a16:creationId xmlns:a16="http://schemas.microsoft.com/office/drawing/2014/main" id="{EA06547E-DF82-4D47-8A07-2C06892FEFDB}"/>
              </a:ext>
            </a:extLst>
          </p:cNvPr>
          <p:cNvGrpSpPr/>
          <p:nvPr/>
        </p:nvGrpSpPr>
        <p:grpSpPr>
          <a:xfrm>
            <a:off x="4039520" y="4451525"/>
            <a:ext cx="404064" cy="354916"/>
            <a:chOff x="2536627" y="4460152"/>
            <a:chExt cx="538963" cy="473406"/>
          </a:xfrm>
        </p:grpSpPr>
        <p:sp>
          <p:nvSpPr>
            <p:cNvPr id="304" name="矩形: 圆角 303">
              <a:extLst>
                <a:ext uri="{FF2B5EF4-FFF2-40B4-BE49-F238E27FC236}">
                  <a16:creationId xmlns:a16="http://schemas.microsoft.com/office/drawing/2014/main" id="{D8973D91-4E9C-4F7F-8238-C6DB7D0DED32}"/>
                </a:ext>
              </a:extLst>
            </p:cNvPr>
            <p:cNvSpPr/>
            <p:nvPr/>
          </p:nvSpPr>
          <p:spPr>
            <a:xfrm>
              <a:off x="2536627" y="4460152"/>
              <a:ext cx="538963" cy="473406"/>
            </a:xfrm>
            <a:prstGeom prst="roundRect">
              <a:avLst>
                <a:gd name="adj" fmla="val 14591"/>
              </a:avLst>
            </a:prstGeom>
            <a:solidFill>
              <a:srgbClr val="FCC800">
                <a:lumMod val="20000"/>
                <a:lumOff val="80000"/>
              </a:srgbClr>
            </a:solidFill>
            <a:ln w="12700" cap="flat" cmpd="sng" algn="ctr">
              <a:solidFill>
                <a:srgbClr val="0070C0"/>
              </a:solidFill>
              <a:prstDash val="dash"/>
              <a:miter lim="800000"/>
            </a:ln>
            <a:effectLst/>
          </p:spPr>
          <p:txBody>
            <a:bodyPr rtlCol="0" anchor="ctr"/>
            <a:lstStyle/>
            <a:p>
              <a:pPr algn="ctr" defTabSz="685050">
                <a:defRPr/>
              </a:pPr>
              <a:endParaRPr lang="zh-CN" altLang="en-US" sz="105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305" name="矩形 304">
              <a:extLst>
                <a:ext uri="{FF2B5EF4-FFF2-40B4-BE49-F238E27FC236}">
                  <a16:creationId xmlns:a16="http://schemas.microsoft.com/office/drawing/2014/main" id="{40931099-8BF2-4E68-A247-7659E9451B9D}"/>
                </a:ext>
              </a:extLst>
            </p:cNvPr>
            <p:cNvSpPr/>
            <p:nvPr/>
          </p:nvSpPr>
          <p:spPr>
            <a:xfrm>
              <a:off x="2637809" y="4539316"/>
              <a:ext cx="381026" cy="282148"/>
            </a:xfrm>
            <a:prstGeom prst="rect">
              <a:avLst/>
            </a:prstGeom>
            <a:ln w="15875">
              <a:solidFill>
                <a:sysClr val="window" lastClr="FFFFFF">
                  <a:lumMod val="75000"/>
                </a:sysClr>
              </a:solidFill>
            </a:ln>
          </p:spPr>
          <p:txBody>
            <a:bodyPr wrap="square" rtlCol="0" anchor="ctr">
              <a:noAutofit/>
            </a:bodyPr>
            <a:lstStyle/>
            <a:p>
              <a:pPr defTabSz="685173">
                <a:defRPr/>
              </a:pPr>
              <a:endParaRPr lang="zh-CN" altLang="en-US" sz="900" b="1" dirty="0">
                <a:solidFill>
                  <a:prstClr val="black"/>
                </a:solidFill>
                <a:latin typeface="微软雅黑" panose="020B0503020204020204" pitchFamily="34" charset="-122"/>
                <a:ea typeface="微软雅黑" panose="020B0503020204020204" pitchFamily="34" charset="-122"/>
                <a:cs typeface="+mn-ea"/>
                <a:sym typeface="+mn-lt"/>
              </a:endParaRPr>
            </a:p>
          </p:txBody>
        </p:sp>
        <p:sp>
          <p:nvSpPr>
            <p:cNvPr id="306" name="Freeform 99">
              <a:extLst>
                <a:ext uri="{FF2B5EF4-FFF2-40B4-BE49-F238E27FC236}">
                  <a16:creationId xmlns:a16="http://schemas.microsoft.com/office/drawing/2014/main" id="{FDC1CC08-1F25-43BD-AB86-31B5EC3CF49A}"/>
                </a:ext>
              </a:extLst>
            </p:cNvPr>
            <p:cNvSpPr>
              <a:spLocks noEditPoints="1"/>
            </p:cNvSpPr>
            <p:nvPr/>
          </p:nvSpPr>
          <p:spPr bwMode="auto">
            <a:xfrm>
              <a:off x="2686114" y="4572225"/>
              <a:ext cx="287974" cy="227325"/>
            </a:xfrm>
            <a:custGeom>
              <a:avLst/>
              <a:gdLst>
                <a:gd name="T0" fmla="*/ 21 w 170"/>
                <a:gd name="T1" fmla="*/ 134 h 170"/>
                <a:gd name="T2" fmla="*/ 10 w 170"/>
                <a:gd name="T3" fmla="*/ 100 h 170"/>
                <a:gd name="T4" fmla="*/ 0 w 170"/>
                <a:gd name="T5" fmla="*/ 159 h 170"/>
                <a:gd name="T6" fmla="*/ 0 w 170"/>
                <a:gd name="T7" fmla="*/ 162 h 170"/>
                <a:gd name="T8" fmla="*/ 1 w 170"/>
                <a:gd name="T9" fmla="*/ 164 h 170"/>
                <a:gd name="T10" fmla="*/ 5 w 170"/>
                <a:gd name="T11" fmla="*/ 168 h 170"/>
                <a:gd name="T12" fmla="*/ 6 w 170"/>
                <a:gd name="T13" fmla="*/ 169 h 170"/>
                <a:gd name="T14" fmla="*/ 8 w 170"/>
                <a:gd name="T15" fmla="*/ 169 h 170"/>
                <a:gd name="T16" fmla="*/ 59 w 170"/>
                <a:gd name="T17" fmla="*/ 170 h 170"/>
                <a:gd name="T18" fmla="*/ 59 w 170"/>
                <a:gd name="T19" fmla="*/ 149 h 170"/>
                <a:gd name="T20" fmla="*/ 76 w 170"/>
                <a:gd name="T21" fmla="*/ 109 h 170"/>
                <a:gd name="T22" fmla="*/ 61 w 170"/>
                <a:gd name="T23" fmla="*/ 94 h 170"/>
                <a:gd name="T24" fmla="*/ 21 w 170"/>
                <a:gd name="T25" fmla="*/ 58 h 170"/>
                <a:gd name="T26" fmla="*/ 61 w 170"/>
                <a:gd name="T27" fmla="*/ 75 h 170"/>
                <a:gd name="T28" fmla="*/ 76 w 170"/>
                <a:gd name="T29" fmla="*/ 75 h 170"/>
                <a:gd name="T30" fmla="*/ 36 w 170"/>
                <a:gd name="T31" fmla="*/ 21 h 170"/>
                <a:gd name="T32" fmla="*/ 69 w 170"/>
                <a:gd name="T33" fmla="*/ 10 h 170"/>
                <a:gd name="T34" fmla="*/ 10 w 170"/>
                <a:gd name="T35" fmla="*/ 0 h 170"/>
                <a:gd name="T36" fmla="*/ 7 w 170"/>
                <a:gd name="T37" fmla="*/ 0 h 170"/>
                <a:gd name="T38" fmla="*/ 5 w 170"/>
                <a:gd name="T39" fmla="*/ 1 h 170"/>
                <a:gd name="T40" fmla="*/ 2 w 170"/>
                <a:gd name="T41" fmla="*/ 4 h 170"/>
                <a:gd name="T42" fmla="*/ 1 w 170"/>
                <a:gd name="T43" fmla="*/ 6 h 170"/>
                <a:gd name="T44" fmla="*/ 0 w 170"/>
                <a:gd name="T45" fmla="*/ 8 h 170"/>
                <a:gd name="T46" fmla="*/ 0 w 170"/>
                <a:gd name="T47" fmla="*/ 58 h 170"/>
                <a:gd name="T48" fmla="*/ 102 w 170"/>
                <a:gd name="T49" fmla="*/ 78 h 170"/>
                <a:gd name="T50" fmla="*/ 149 w 170"/>
                <a:gd name="T51" fmla="*/ 35 h 170"/>
                <a:gd name="T52" fmla="*/ 160 w 170"/>
                <a:gd name="T53" fmla="*/ 69 h 170"/>
                <a:gd name="T54" fmla="*/ 170 w 170"/>
                <a:gd name="T55" fmla="*/ 10 h 170"/>
                <a:gd name="T56" fmla="*/ 170 w 170"/>
                <a:gd name="T57" fmla="*/ 7 h 170"/>
                <a:gd name="T58" fmla="*/ 169 w 170"/>
                <a:gd name="T59" fmla="*/ 5 h 170"/>
                <a:gd name="T60" fmla="*/ 165 w 170"/>
                <a:gd name="T61" fmla="*/ 1 h 170"/>
                <a:gd name="T62" fmla="*/ 164 w 170"/>
                <a:gd name="T63" fmla="*/ 0 h 170"/>
                <a:gd name="T64" fmla="*/ 162 w 170"/>
                <a:gd name="T65" fmla="*/ 0 h 170"/>
                <a:gd name="T66" fmla="*/ 111 w 170"/>
                <a:gd name="T67" fmla="*/ 0 h 170"/>
                <a:gd name="T68" fmla="*/ 111 w 170"/>
                <a:gd name="T69" fmla="*/ 21 h 170"/>
                <a:gd name="T70" fmla="*/ 94 w 170"/>
                <a:gd name="T71" fmla="*/ 61 h 170"/>
                <a:gd name="T72" fmla="*/ 102 w 170"/>
                <a:gd name="T73" fmla="*/ 78 h 170"/>
                <a:gd name="T74" fmla="*/ 149 w 170"/>
                <a:gd name="T75" fmla="*/ 112 h 170"/>
                <a:gd name="T76" fmla="*/ 110 w 170"/>
                <a:gd name="T77" fmla="*/ 95 h 170"/>
                <a:gd name="T78" fmla="*/ 95 w 170"/>
                <a:gd name="T79" fmla="*/ 95 h 170"/>
                <a:gd name="T80" fmla="*/ 135 w 170"/>
                <a:gd name="T81" fmla="*/ 149 h 170"/>
                <a:gd name="T82" fmla="*/ 102 w 170"/>
                <a:gd name="T83" fmla="*/ 159 h 170"/>
                <a:gd name="T84" fmla="*/ 160 w 170"/>
                <a:gd name="T85" fmla="*/ 170 h 170"/>
                <a:gd name="T86" fmla="*/ 163 w 170"/>
                <a:gd name="T87" fmla="*/ 169 h 170"/>
                <a:gd name="T88" fmla="*/ 165 w 170"/>
                <a:gd name="T89" fmla="*/ 168 h 170"/>
                <a:gd name="T90" fmla="*/ 168 w 170"/>
                <a:gd name="T91" fmla="*/ 165 h 170"/>
                <a:gd name="T92" fmla="*/ 169 w 170"/>
                <a:gd name="T93" fmla="*/ 163 h 170"/>
                <a:gd name="T94" fmla="*/ 170 w 170"/>
                <a:gd name="T95" fmla="*/ 161 h 170"/>
                <a:gd name="T96" fmla="*/ 170 w 170"/>
                <a:gd name="T97" fmla="*/ 11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0" h="170">
                  <a:moveTo>
                    <a:pt x="61" y="94"/>
                  </a:moveTo>
                  <a:cubicBezTo>
                    <a:pt x="21" y="134"/>
                    <a:pt x="21" y="134"/>
                    <a:pt x="21" y="134"/>
                  </a:cubicBezTo>
                  <a:cubicBezTo>
                    <a:pt x="21" y="111"/>
                    <a:pt x="21" y="111"/>
                    <a:pt x="21" y="111"/>
                  </a:cubicBezTo>
                  <a:cubicBezTo>
                    <a:pt x="21" y="105"/>
                    <a:pt x="16" y="100"/>
                    <a:pt x="10" y="100"/>
                  </a:cubicBezTo>
                  <a:cubicBezTo>
                    <a:pt x="5" y="100"/>
                    <a:pt x="0" y="105"/>
                    <a:pt x="0" y="111"/>
                  </a:cubicBezTo>
                  <a:cubicBezTo>
                    <a:pt x="0" y="159"/>
                    <a:pt x="0" y="159"/>
                    <a:pt x="0" y="159"/>
                  </a:cubicBezTo>
                  <a:cubicBezTo>
                    <a:pt x="0" y="160"/>
                    <a:pt x="0" y="161"/>
                    <a:pt x="0" y="161"/>
                  </a:cubicBezTo>
                  <a:cubicBezTo>
                    <a:pt x="0" y="162"/>
                    <a:pt x="0" y="162"/>
                    <a:pt x="0" y="162"/>
                  </a:cubicBezTo>
                  <a:cubicBezTo>
                    <a:pt x="1" y="163"/>
                    <a:pt x="1" y="163"/>
                    <a:pt x="1" y="163"/>
                  </a:cubicBezTo>
                  <a:cubicBezTo>
                    <a:pt x="1" y="164"/>
                    <a:pt x="1" y="164"/>
                    <a:pt x="1" y="164"/>
                  </a:cubicBezTo>
                  <a:cubicBezTo>
                    <a:pt x="2" y="165"/>
                    <a:pt x="2" y="165"/>
                    <a:pt x="2" y="165"/>
                  </a:cubicBezTo>
                  <a:cubicBezTo>
                    <a:pt x="2" y="166"/>
                    <a:pt x="3" y="167"/>
                    <a:pt x="5" y="168"/>
                  </a:cubicBezTo>
                  <a:cubicBezTo>
                    <a:pt x="5" y="168"/>
                    <a:pt x="5" y="168"/>
                    <a:pt x="5" y="168"/>
                  </a:cubicBezTo>
                  <a:cubicBezTo>
                    <a:pt x="6" y="169"/>
                    <a:pt x="6" y="169"/>
                    <a:pt x="6" y="169"/>
                  </a:cubicBezTo>
                  <a:cubicBezTo>
                    <a:pt x="7" y="169"/>
                    <a:pt x="7" y="169"/>
                    <a:pt x="7" y="169"/>
                  </a:cubicBezTo>
                  <a:cubicBezTo>
                    <a:pt x="8" y="169"/>
                    <a:pt x="8" y="169"/>
                    <a:pt x="8" y="169"/>
                  </a:cubicBezTo>
                  <a:cubicBezTo>
                    <a:pt x="9" y="170"/>
                    <a:pt x="10" y="170"/>
                    <a:pt x="10" y="170"/>
                  </a:cubicBezTo>
                  <a:cubicBezTo>
                    <a:pt x="59" y="170"/>
                    <a:pt x="59" y="170"/>
                    <a:pt x="59" y="170"/>
                  </a:cubicBezTo>
                  <a:cubicBezTo>
                    <a:pt x="65" y="170"/>
                    <a:pt x="69" y="165"/>
                    <a:pt x="69" y="159"/>
                  </a:cubicBezTo>
                  <a:cubicBezTo>
                    <a:pt x="69" y="153"/>
                    <a:pt x="65" y="149"/>
                    <a:pt x="59" y="149"/>
                  </a:cubicBezTo>
                  <a:cubicBezTo>
                    <a:pt x="36" y="149"/>
                    <a:pt x="36" y="149"/>
                    <a:pt x="36" y="149"/>
                  </a:cubicBezTo>
                  <a:cubicBezTo>
                    <a:pt x="76" y="109"/>
                    <a:pt x="76" y="109"/>
                    <a:pt x="76" y="109"/>
                  </a:cubicBezTo>
                  <a:cubicBezTo>
                    <a:pt x="80" y="105"/>
                    <a:pt x="80" y="98"/>
                    <a:pt x="76" y="94"/>
                  </a:cubicBezTo>
                  <a:cubicBezTo>
                    <a:pt x="72" y="90"/>
                    <a:pt x="65" y="90"/>
                    <a:pt x="61" y="94"/>
                  </a:cubicBezTo>
                  <a:close/>
                  <a:moveTo>
                    <a:pt x="10" y="69"/>
                  </a:moveTo>
                  <a:cubicBezTo>
                    <a:pt x="16" y="69"/>
                    <a:pt x="21" y="64"/>
                    <a:pt x="21" y="58"/>
                  </a:cubicBezTo>
                  <a:cubicBezTo>
                    <a:pt x="21" y="35"/>
                    <a:pt x="21" y="35"/>
                    <a:pt x="21" y="35"/>
                  </a:cubicBezTo>
                  <a:cubicBezTo>
                    <a:pt x="61" y="75"/>
                    <a:pt x="61" y="75"/>
                    <a:pt x="61" y="75"/>
                  </a:cubicBezTo>
                  <a:cubicBezTo>
                    <a:pt x="63" y="77"/>
                    <a:pt x="66" y="78"/>
                    <a:pt x="68" y="78"/>
                  </a:cubicBezTo>
                  <a:cubicBezTo>
                    <a:pt x="71" y="78"/>
                    <a:pt x="74" y="77"/>
                    <a:pt x="76" y="75"/>
                  </a:cubicBezTo>
                  <a:cubicBezTo>
                    <a:pt x="80" y="71"/>
                    <a:pt x="80" y="65"/>
                    <a:pt x="76" y="61"/>
                  </a:cubicBezTo>
                  <a:cubicBezTo>
                    <a:pt x="36" y="21"/>
                    <a:pt x="36" y="21"/>
                    <a:pt x="36" y="21"/>
                  </a:cubicBezTo>
                  <a:cubicBezTo>
                    <a:pt x="59" y="21"/>
                    <a:pt x="59" y="21"/>
                    <a:pt x="59" y="21"/>
                  </a:cubicBezTo>
                  <a:cubicBezTo>
                    <a:pt x="65" y="21"/>
                    <a:pt x="69" y="16"/>
                    <a:pt x="69" y="10"/>
                  </a:cubicBezTo>
                  <a:cubicBezTo>
                    <a:pt x="69" y="4"/>
                    <a:pt x="65" y="0"/>
                    <a:pt x="59" y="0"/>
                  </a:cubicBezTo>
                  <a:cubicBezTo>
                    <a:pt x="10" y="0"/>
                    <a:pt x="10" y="0"/>
                    <a:pt x="10" y="0"/>
                  </a:cubicBezTo>
                  <a:cubicBezTo>
                    <a:pt x="10" y="0"/>
                    <a:pt x="9" y="0"/>
                    <a:pt x="8" y="0"/>
                  </a:cubicBezTo>
                  <a:cubicBezTo>
                    <a:pt x="7" y="0"/>
                    <a:pt x="7" y="0"/>
                    <a:pt x="7" y="0"/>
                  </a:cubicBezTo>
                  <a:cubicBezTo>
                    <a:pt x="6" y="0"/>
                    <a:pt x="6" y="0"/>
                    <a:pt x="6" y="0"/>
                  </a:cubicBezTo>
                  <a:cubicBezTo>
                    <a:pt x="6" y="1"/>
                    <a:pt x="6" y="1"/>
                    <a:pt x="5" y="1"/>
                  </a:cubicBezTo>
                  <a:cubicBezTo>
                    <a:pt x="5" y="1"/>
                    <a:pt x="5" y="1"/>
                    <a:pt x="5" y="1"/>
                  </a:cubicBezTo>
                  <a:cubicBezTo>
                    <a:pt x="3" y="2"/>
                    <a:pt x="2" y="3"/>
                    <a:pt x="2" y="4"/>
                  </a:cubicBezTo>
                  <a:cubicBezTo>
                    <a:pt x="1" y="5"/>
                    <a:pt x="1" y="5"/>
                    <a:pt x="1" y="5"/>
                  </a:cubicBezTo>
                  <a:cubicBezTo>
                    <a:pt x="1" y="6"/>
                    <a:pt x="1" y="6"/>
                    <a:pt x="1" y="6"/>
                  </a:cubicBezTo>
                  <a:cubicBezTo>
                    <a:pt x="0" y="7"/>
                    <a:pt x="0" y="7"/>
                    <a:pt x="0" y="7"/>
                  </a:cubicBezTo>
                  <a:cubicBezTo>
                    <a:pt x="0" y="8"/>
                    <a:pt x="0" y="8"/>
                    <a:pt x="0" y="8"/>
                  </a:cubicBezTo>
                  <a:cubicBezTo>
                    <a:pt x="0" y="9"/>
                    <a:pt x="0" y="9"/>
                    <a:pt x="0" y="10"/>
                  </a:cubicBezTo>
                  <a:cubicBezTo>
                    <a:pt x="0" y="58"/>
                    <a:pt x="0" y="58"/>
                    <a:pt x="0" y="58"/>
                  </a:cubicBezTo>
                  <a:cubicBezTo>
                    <a:pt x="0" y="64"/>
                    <a:pt x="5" y="69"/>
                    <a:pt x="10" y="69"/>
                  </a:cubicBezTo>
                  <a:close/>
                  <a:moveTo>
                    <a:pt x="102" y="78"/>
                  </a:moveTo>
                  <a:cubicBezTo>
                    <a:pt x="104" y="78"/>
                    <a:pt x="107" y="77"/>
                    <a:pt x="109" y="75"/>
                  </a:cubicBezTo>
                  <a:cubicBezTo>
                    <a:pt x="149" y="35"/>
                    <a:pt x="149" y="35"/>
                    <a:pt x="149" y="35"/>
                  </a:cubicBezTo>
                  <a:cubicBezTo>
                    <a:pt x="149" y="58"/>
                    <a:pt x="149" y="58"/>
                    <a:pt x="149" y="58"/>
                  </a:cubicBezTo>
                  <a:cubicBezTo>
                    <a:pt x="149" y="64"/>
                    <a:pt x="154" y="69"/>
                    <a:pt x="160" y="69"/>
                  </a:cubicBezTo>
                  <a:cubicBezTo>
                    <a:pt x="165" y="69"/>
                    <a:pt x="170" y="64"/>
                    <a:pt x="170" y="58"/>
                  </a:cubicBezTo>
                  <a:cubicBezTo>
                    <a:pt x="170" y="10"/>
                    <a:pt x="170" y="10"/>
                    <a:pt x="170" y="10"/>
                  </a:cubicBezTo>
                  <a:cubicBezTo>
                    <a:pt x="170" y="9"/>
                    <a:pt x="170" y="9"/>
                    <a:pt x="170" y="8"/>
                  </a:cubicBezTo>
                  <a:cubicBezTo>
                    <a:pt x="170" y="7"/>
                    <a:pt x="170" y="7"/>
                    <a:pt x="170" y="7"/>
                  </a:cubicBezTo>
                  <a:cubicBezTo>
                    <a:pt x="169" y="6"/>
                    <a:pt x="169" y="6"/>
                    <a:pt x="169" y="6"/>
                  </a:cubicBezTo>
                  <a:cubicBezTo>
                    <a:pt x="169" y="6"/>
                    <a:pt x="169" y="5"/>
                    <a:pt x="169" y="5"/>
                  </a:cubicBezTo>
                  <a:cubicBezTo>
                    <a:pt x="168" y="4"/>
                    <a:pt x="168" y="4"/>
                    <a:pt x="168" y="4"/>
                  </a:cubicBezTo>
                  <a:cubicBezTo>
                    <a:pt x="167" y="3"/>
                    <a:pt x="166" y="2"/>
                    <a:pt x="165" y="1"/>
                  </a:cubicBezTo>
                  <a:cubicBezTo>
                    <a:pt x="165" y="1"/>
                    <a:pt x="165" y="1"/>
                    <a:pt x="165" y="1"/>
                  </a:cubicBezTo>
                  <a:cubicBezTo>
                    <a:pt x="164" y="0"/>
                    <a:pt x="164" y="0"/>
                    <a:pt x="164" y="0"/>
                  </a:cubicBezTo>
                  <a:cubicBezTo>
                    <a:pt x="162" y="0"/>
                    <a:pt x="162" y="0"/>
                    <a:pt x="162" y="0"/>
                  </a:cubicBezTo>
                  <a:cubicBezTo>
                    <a:pt x="162" y="0"/>
                    <a:pt x="162" y="0"/>
                    <a:pt x="162" y="0"/>
                  </a:cubicBezTo>
                  <a:cubicBezTo>
                    <a:pt x="161" y="0"/>
                    <a:pt x="160" y="0"/>
                    <a:pt x="160" y="0"/>
                  </a:cubicBezTo>
                  <a:cubicBezTo>
                    <a:pt x="111" y="0"/>
                    <a:pt x="111" y="0"/>
                    <a:pt x="111" y="0"/>
                  </a:cubicBezTo>
                  <a:cubicBezTo>
                    <a:pt x="105" y="0"/>
                    <a:pt x="101" y="4"/>
                    <a:pt x="101" y="10"/>
                  </a:cubicBezTo>
                  <a:cubicBezTo>
                    <a:pt x="101" y="16"/>
                    <a:pt x="105" y="21"/>
                    <a:pt x="111" y="21"/>
                  </a:cubicBezTo>
                  <a:cubicBezTo>
                    <a:pt x="134" y="21"/>
                    <a:pt x="134" y="21"/>
                    <a:pt x="134" y="21"/>
                  </a:cubicBezTo>
                  <a:cubicBezTo>
                    <a:pt x="94" y="61"/>
                    <a:pt x="94" y="61"/>
                    <a:pt x="94" y="61"/>
                  </a:cubicBezTo>
                  <a:cubicBezTo>
                    <a:pt x="90" y="65"/>
                    <a:pt x="90" y="71"/>
                    <a:pt x="94" y="75"/>
                  </a:cubicBezTo>
                  <a:cubicBezTo>
                    <a:pt x="96" y="77"/>
                    <a:pt x="99" y="78"/>
                    <a:pt x="102" y="78"/>
                  </a:cubicBezTo>
                  <a:close/>
                  <a:moveTo>
                    <a:pt x="160" y="101"/>
                  </a:moveTo>
                  <a:cubicBezTo>
                    <a:pt x="154" y="101"/>
                    <a:pt x="149" y="106"/>
                    <a:pt x="149" y="112"/>
                  </a:cubicBezTo>
                  <a:cubicBezTo>
                    <a:pt x="149" y="134"/>
                    <a:pt x="149" y="134"/>
                    <a:pt x="149" y="134"/>
                  </a:cubicBezTo>
                  <a:cubicBezTo>
                    <a:pt x="110" y="95"/>
                    <a:pt x="110" y="95"/>
                    <a:pt x="110" y="95"/>
                  </a:cubicBezTo>
                  <a:cubicBezTo>
                    <a:pt x="108" y="93"/>
                    <a:pt x="105" y="92"/>
                    <a:pt x="102" y="92"/>
                  </a:cubicBezTo>
                  <a:cubicBezTo>
                    <a:pt x="100" y="92"/>
                    <a:pt x="97" y="93"/>
                    <a:pt x="95" y="95"/>
                  </a:cubicBezTo>
                  <a:cubicBezTo>
                    <a:pt x="91" y="99"/>
                    <a:pt x="91" y="105"/>
                    <a:pt x="95" y="109"/>
                  </a:cubicBezTo>
                  <a:cubicBezTo>
                    <a:pt x="135" y="149"/>
                    <a:pt x="135" y="149"/>
                    <a:pt x="135" y="149"/>
                  </a:cubicBezTo>
                  <a:cubicBezTo>
                    <a:pt x="112" y="149"/>
                    <a:pt x="112" y="149"/>
                    <a:pt x="112" y="149"/>
                  </a:cubicBezTo>
                  <a:cubicBezTo>
                    <a:pt x="106" y="149"/>
                    <a:pt x="102" y="154"/>
                    <a:pt x="102" y="159"/>
                  </a:cubicBezTo>
                  <a:cubicBezTo>
                    <a:pt x="102" y="165"/>
                    <a:pt x="106" y="170"/>
                    <a:pt x="112" y="170"/>
                  </a:cubicBezTo>
                  <a:cubicBezTo>
                    <a:pt x="160" y="170"/>
                    <a:pt x="160" y="170"/>
                    <a:pt x="160" y="170"/>
                  </a:cubicBezTo>
                  <a:cubicBezTo>
                    <a:pt x="160" y="170"/>
                    <a:pt x="161" y="170"/>
                    <a:pt x="162" y="169"/>
                  </a:cubicBezTo>
                  <a:cubicBezTo>
                    <a:pt x="163" y="169"/>
                    <a:pt x="163" y="169"/>
                    <a:pt x="163" y="169"/>
                  </a:cubicBezTo>
                  <a:cubicBezTo>
                    <a:pt x="164" y="169"/>
                    <a:pt x="164" y="169"/>
                    <a:pt x="164" y="169"/>
                  </a:cubicBezTo>
                  <a:cubicBezTo>
                    <a:pt x="165" y="168"/>
                    <a:pt x="165" y="168"/>
                    <a:pt x="165" y="168"/>
                  </a:cubicBezTo>
                  <a:cubicBezTo>
                    <a:pt x="165" y="168"/>
                    <a:pt x="165" y="168"/>
                    <a:pt x="165" y="168"/>
                  </a:cubicBezTo>
                  <a:cubicBezTo>
                    <a:pt x="167" y="167"/>
                    <a:pt x="168" y="166"/>
                    <a:pt x="168" y="165"/>
                  </a:cubicBezTo>
                  <a:cubicBezTo>
                    <a:pt x="169" y="164"/>
                    <a:pt x="169" y="164"/>
                    <a:pt x="169" y="164"/>
                  </a:cubicBezTo>
                  <a:cubicBezTo>
                    <a:pt x="169" y="163"/>
                    <a:pt x="169" y="163"/>
                    <a:pt x="169" y="163"/>
                  </a:cubicBezTo>
                  <a:cubicBezTo>
                    <a:pt x="170" y="162"/>
                    <a:pt x="170" y="162"/>
                    <a:pt x="170" y="162"/>
                  </a:cubicBezTo>
                  <a:cubicBezTo>
                    <a:pt x="170" y="161"/>
                    <a:pt x="170" y="161"/>
                    <a:pt x="170" y="161"/>
                  </a:cubicBezTo>
                  <a:cubicBezTo>
                    <a:pt x="170" y="161"/>
                    <a:pt x="170" y="160"/>
                    <a:pt x="170" y="159"/>
                  </a:cubicBezTo>
                  <a:cubicBezTo>
                    <a:pt x="170" y="112"/>
                    <a:pt x="170" y="112"/>
                    <a:pt x="170" y="112"/>
                  </a:cubicBezTo>
                  <a:cubicBezTo>
                    <a:pt x="170" y="106"/>
                    <a:pt x="165" y="101"/>
                    <a:pt x="160" y="101"/>
                  </a:cubicBezTo>
                  <a:close/>
                </a:path>
              </a:pathLst>
            </a:custGeom>
            <a:solidFill>
              <a:srgbClr val="C00000"/>
            </a:solidFill>
            <a:ln w="12700" cap="flat" cmpd="sng" algn="ctr">
              <a:solidFill>
                <a:srgbClr val="E7E6E6">
                  <a:lumMod val="75000"/>
                </a:srgbClr>
              </a:solidFill>
              <a:prstDash val="solid"/>
              <a:miter lim="800000"/>
            </a:ln>
            <a:effectLst/>
          </p:spPr>
          <p:txBody>
            <a:bodyPr rot="0" spcFirstLastPara="0" vertOverflow="overflow" horzOverflow="overflow" vert="horz" wrap="square" lIns="68510" tIns="34255" rIns="68510" bIns="34255" numCol="1" spcCol="0" rtlCol="0" fromWordArt="0" anchor="ctr" anchorCtr="0" forceAA="0" compatLnSpc="1">
              <a:prstTxWarp prst="textNoShape">
                <a:avLst/>
              </a:prstTxWarp>
              <a:noAutofit/>
            </a:bodyPr>
            <a:lstStyle/>
            <a:p>
              <a:pPr algn="ctr" defTabSz="685173">
                <a:defRPr/>
              </a:pPr>
              <a:endParaRPr lang="zh-CN" altLang="en-US" sz="600" b="1">
                <a:solidFill>
                  <a:srgbClr val="666666"/>
                </a:solidFill>
                <a:latin typeface="微软雅黑" panose="020B0503020204020204" pitchFamily="34" charset="-122"/>
                <a:ea typeface="微软雅黑" panose="020B0503020204020204" pitchFamily="34" charset="-122"/>
                <a:cs typeface="+mn-ea"/>
              </a:endParaRPr>
            </a:p>
          </p:txBody>
        </p:sp>
      </p:grpSp>
      <p:sp>
        <p:nvSpPr>
          <p:cNvPr id="307" name="矩形: 圆角 306">
            <a:extLst>
              <a:ext uri="{FF2B5EF4-FFF2-40B4-BE49-F238E27FC236}">
                <a16:creationId xmlns:a16="http://schemas.microsoft.com/office/drawing/2014/main" id="{1E6E08EB-AA2C-4253-A2E2-6BFFF7BE34F9}"/>
              </a:ext>
            </a:extLst>
          </p:cNvPr>
          <p:cNvSpPr>
            <a:spLocks/>
          </p:cNvSpPr>
          <p:nvPr/>
        </p:nvSpPr>
        <p:spPr>
          <a:xfrm>
            <a:off x="3919027" y="4299467"/>
            <a:ext cx="1238372" cy="677830"/>
          </a:xfrm>
          <a:prstGeom prst="roundRect">
            <a:avLst/>
          </a:prstGeom>
          <a:noFill/>
          <a:ln w="6350">
            <a:solidFill>
              <a:srgbClr val="83817F"/>
            </a:solidFill>
            <a:prstDash val="dash"/>
          </a:ln>
        </p:spPr>
        <p:txBody>
          <a:bodyPr wrap="square" lIns="51401" tIns="25701" rIns="51401" bIns="25701" rtlCol="0" anchor="ctr">
            <a:noAutofit/>
          </a:bodyPr>
          <a:lstStyle/>
          <a:p>
            <a:pPr algn="ctr" defTabSz="685526" fontAlgn="base">
              <a:lnSpc>
                <a:spcPct val="150000"/>
              </a:lnSpc>
              <a:spcBef>
                <a:spcPct val="0"/>
              </a:spcBef>
              <a:spcAft>
                <a:spcPct val="0"/>
              </a:spcAft>
              <a:buClr>
                <a:prstClr val="black">
                  <a:lumMod val="50000"/>
                  <a:lumOff val="50000"/>
                </a:prstClr>
              </a:buClr>
              <a:buSzPct val="60000"/>
              <a:defRPr/>
            </a:pPr>
            <a:endParaRPr lang="zh-CN" altLang="en-US" sz="900" b="1" dirty="0">
              <a:solidFill>
                <a:srgbClr val="C00000"/>
              </a:solidFill>
              <a:latin typeface=" 微软雅黑"/>
              <a:ea typeface="微软雅黑" panose="020B0503020204020204" pitchFamily="34" charset="-122"/>
              <a:sym typeface="Arial" panose="020B0604020202020204" pitchFamily="34" charset="0"/>
            </a:endParaRPr>
          </a:p>
        </p:txBody>
      </p:sp>
      <p:sp>
        <p:nvSpPr>
          <p:cNvPr id="308" name="矩形 307">
            <a:extLst>
              <a:ext uri="{FF2B5EF4-FFF2-40B4-BE49-F238E27FC236}">
                <a16:creationId xmlns:a16="http://schemas.microsoft.com/office/drawing/2014/main" id="{1214CC57-0C04-4D71-8F97-5E8EAE1F86FA}"/>
              </a:ext>
            </a:extLst>
          </p:cNvPr>
          <p:cNvSpPr/>
          <p:nvPr/>
        </p:nvSpPr>
        <p:spPr>
          <a:xfrm>
            <a:off x="4190750" y="4806341"/>
            <a:ext cx="797554" cy="207749"/>
          </a:xfrm>
          <a:prstGeom prst="rect">
            <a:avLst/>
          </a:prstGeom>
        </p:spPr>
        <p:txBody>
          <a:bodyPr wrap="square">
            <a:spAutoFit/>
          </a:bodyPr>
          <a:lstStyle/>
          <a:p>
            <a:pPr algn="ctr" defTabSz="685526">
              <a:defRPr/>
            </a:pPr>
            <a:r>
              <a:rPr lang="en-US" altLang="zh-CN" sz="750" b="1" dirty="0">
                <a:solidFill>
                  <a:prstClr val="black"/>
                </a:solidFill>
                <a:latin typeface="微软雅黑" panose="020B0503020204020204" pitchFamily="34" charset="-122"/>
                <a:ea typeface="微软雅黑" panose="020B0503020204020204" pitchFamily="34" charset="-122"/>
              </a:rPr>
              <a:t>Bank 2</a:t>
            </a:r>
            <a:endParaRPr lang="en-US" sz="750" b="1" dirty="0">
              <a:solidFill>
                <a:prstClr val="black"/>
              </a:solidFill>
              <a:latin typeface="微软雅黑" panose="020B0503020204020204" pitchFamily="34" charset="-122"/>
              <a:ea typeface="微软雅黑" panose="020B0503020204020204" pitchFamily="34" charset="-122"/>
            </a:endParaRPr>
          </a:p>
        </p:txBody>
      </p:sp>
      <p:grpSp>
        <p:nvGrpSpPr>
          <p:cNvPr id="310" name="组合 309">
            <a:extLst>
              <a:ext uri="{FF2B5EF4-FFF2-40B4-BE49-F238E27FC236}">
                <a16:creationId xmlns:a16="http://schemas.microsoft.com/office/drawing/2014/main" id="{B7337A1F-66C7-443E-ABC9-59AEDC1F2D68}"/>
              </a:ext>
            </a:extLst>
          </p:cNvPr>
          <p:cNvGrpSpPr/>
          <p:nvPr/>
        </p:nvGrpSpPr>
        <p:grpSpPr>
          <a:xfrm>
            <a:off x="4791154" y="4514558"/>
            <a:ext cx="332653" cy="228852"/>
            <a:chOff x="1388228" y="4457070"/>
            <a:chExt cx="676037" cy="423823"/>
          </a:xfrm>
        </p:grpSpPr>
        <p:pic>
          <p:nvPicPr>
            <p:cNvPr id="311" name="图片 310" descr="笔记本电脑.png">
              <a:extLst>
                <a:ext uri="{FF2B5EF4-FFF2-40B4-BE49-F238E27FC236}">
                  <a16:creationId xmlns:a16="http://schemas.microsoft.com/office/drawing/2014/main" id="{6A9D0A45-E8AD-4F68-A0F9-4F035581B484}"/>
                </a:ext>
              </a:extLst>
            </p:cNvPr>
            <p:cNvPicPr>
              <a:picLocks noChangeAspect="1"/>
            </p:cNvPicPr>
            <p:nvPr/>
          </p:nvPicPr>
          <p:blipFill>
            <a:blip r:embed="rId6" cstate="print"/>
            <a:stretch>
              <a:fillRect/>
            </a:stretch>
          </p:blipFill>
          <p:spPr>
            <a:xfrm>
              <a:off x="1388228" y="4457070"/>
              <a:ext cx="676037" cy="423823"/>
            </a:xfrm>
            <a:prstGeom prst="rect">
              <a:avLst/>
            </a:prstGeom>
          </p:spPr>
        </p:pic>
        <p:pic>
          <p:nvPicPr>
            <p:cNvPr id="312" name="图片 311">
              <a:extLst>
                <a:ext uri="{FF2B5EF4-FFF2-40B4-BE49-F238E27FC236}">
                  <a16:creationId xmlns:a16="http://schemas.microsoft.com/office/drawing/2014/main" id="{6AE50017-6A67-449B-8F99-40840C6D511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74452" y="4509735"/>
              <a:ext cx="315316" cy="252590"/>
            </a:xfrm>
            <a:prstGeom prst="rect">
              <a:avLst/>
            </a:prstGeom>
          </p:spPr>
        </p:pic>
      </p:grpSp>
      <p:cxnSp>
        <p:nvCxnSpPr>
          <p:cNvPr id="313" name="直接箭头连接符 312">
            <a:extLst>
              <a:ext uri="{FF2B5EF4-FFF2-40B4-BE49-F238E27FC236}">
                <a16:creationId xmlns:a16="http://schemas.microsoft.com/office/drawing/2014/main" id="{AF8C49D4-F004-4100-B628-732E11AA3FD8}"/>
              </a:ext>
            </a:extLst>
          </p:cNvPr>
          <p:cNvCxnSpPr>
            <a:stCxn id="311" idx="1"/>
            <a:endCxn id="304" idx="3"/>
          </p:cNvCxnSpPr>
          <p:nvPr/>
        </p:nvCxnSpPr>
        <p:spPr>
          <a:xfrm flipH="1" flipV="1">
            <a:off x="4443584" y="4628984"/>
            <a:ext cx="347569"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14" name="文本框 313">
            <a:extLst>
              <a:ext uri="{FF2B5EF4-FFF2-40B4-BE49-F238E27FC236}">
                <a16:creationId xmlns:a16="http://schemas.microsoft.com/office/drawing/2014/main" id="{174EA1B4-CC39-4758-9009-3C97B9F8396C}"/>
              </a:ext>
            </a:extLst>
          </p:cNvPr>
          <p:cNvSpPr txBox="1"/>
          <p:nvPr/>
        </p:nvSpPr>
        <p:spPr>
          <a:xfrm>
            <a:off x="4573957" y="4476824"/>
            <a:ext cx="97772" cy="126958"/>
          </a:xfrm>
          <a:prstGeom prst="rect">
            <a:avLst/>
          </a:prstGeom>
          <a:noFill/>
        </p:spPr>
        <p:txBody>
          <a:bodyPr wrap="square" lIns="0" tIns="0" rIns="0" bIns="0" rtlCol="0">
            <a:spAutoFit/>
          </a:bodyPr>
          <a:lstStyle/>
          <a:p>
            <a:pPr algn="ctr"/>
            <a:r>
              <a:rPr kumimoji="1" lang="zh-CN" altLang="en-US" sz="825" b="1" dirty="0">
                <a:solidFill>
                  <a:schemeClr val="bg2">
                    <a:lumMod val="10000"/>
                  </a:schemeClr>
                </a:solidFill>
                <a:latin typeface="微软雅黑" panose="020B0503020204020204" pitchFamily="34" charset="-122"/>
                <a:ea typeface="微软雅黑" panose="020B0503020204020204" pitchFamily="34" charset="-122"/>
              </a:rPr>
              <a:t>①</a:t>
            </a:r>
          </a:p>
        </p:txBody>
      </p:sp>
      <p:cxnSp>
        <p:nvCxnSpPr>
          <p:cNvPr id="23" name="直接连接符 22">
            <a:extLst>
              <a:ext uri="{FF2B5EF4-FFF2-40B4-BE49-F238E27FC236}">
                <a16:creationId xmlns:a16="http://schemas.microsoft.com/office/drawing/2014/main" id="{D13DFA3C-603D-40C2-B7DD-D980DDFDA7AF}"/>
              </a:ext>
            </a:extLst>
          </p:cNvPr>
          <p:cNvCxnSpPr>
            <a:stCxn id="237" idx="3"/>
            <a:endCxn id="304" idx="1"/>
          </p:cNvCxnSpPr>
          <p:nvPr/>
        </p:nvCxnSpPr>
        <p:spPr>
          <a:xfrm>
            <a:off x="3249912" y="3896396"/>
            <a:ext cx="789607" cy="732588"/>
          </a:xfrm>
          <a:prstGeom prst="line">
            <a:avLst/>
          </a:prstGeom>
          <a:ln>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AE3571AC-8B8C-40AF-A16B-02B6F904E405}"/>
              </a:ext>
            </a:extLst>
          </p:cNvPr>
          <p:cNvGrpSpPr/>
          <p:nvPr/>
        </p:nvGrpSpPr>
        <p:grpSpPr>
          <a:xfrm>
            <a:off x="1891812" y="3927268"/>
            <a:ext cx="2917062" cy="492041"/>
            <a:chOff x="2292881" y="4544226"/>
            <a:chExt cx="3890935" cy="656311"/>
          </a:xfrm>
        </p:grpSpPr>
        <p:cxnSp>
          <p:nvCxnSpPr>
            <p:cNvPr id="27" name="直接连接符 26">
              <a:extLst>
                <a:ext uri="{FF2B5EF4-FFF2-40B4-BE49-F238E27FC236}">
                  <a16:creationId xmlns:a16="http://schemas.microsoft.com/office/drawing/2014/main" id="{38306734-A81A-471D-A3F6-119EF7E538CD}"/>
                </a:ext>
              </a:extLst>
            </p:cNvPr>
            <p:cNvCxnSpPr/>
            <p:nvPr/>
          </p:nvCxnSpPr>
          <p:spPr>
            <a:xfrm flipV="1">
              <a:off x="2292881" y="4617625"/>
              <a:ext cx="0" cy="582912"/>
            </a:xfrm>
            <a:prstGeom prst="line">
              <a:avLst/>
            </a:prstGeom>
            <a:ln>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F63F616F-CE91-4F44-9314-643E61669C34}"/>
                </a:ext>
              </a:extLst>
            </p:cNvPr>
            <p:cNvCxnSpPr>
              <a:cxnSpLocks/>
            </p:cNvCxnSpPr>
            <p:nvPr/>
          </p:nvCxnSpPr>
          <p:spPr>
            <a:xfrm>
              <a:off x="2311687" y="4544226"/>
              <a:ext cx="3872129" cy="22290"/>
            </a:xfrm>
            <a:prstGeom prst="line">
              <a:avLst/>
            </a:prstGeom>
            <a:ln>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24" name="文本框 323">
            <a:extLst>
              <a:ext uri="{FF2B5EF4-FFF2-40B4-BE49-F238E27FC236}">
                <a16:creationId xmlns:a16="http://schemas.microsoft.com/office/drawing/2014/main" id="{C83466B5-B1CE-435C-AC8C-52D9ABDDAB2E}"/>
              </a:ext>
            </a:extLst>
          </p:cNvPr>
          <p:cNvSpPr txBox="1"/>
          <p:nvPr/>
        </p:nvSpPr>
        <p:spPr>
          <a:xfrm>
            <a:off x="2301129" y="3998945"/>
            <a:ext cx="287740" cy="126958"/>
          </a:xfrm>
          <a:prstGeom prst="rect">
            <a:avLst/>
          </a:prstGeom>
          <a:noFill/>
        </p:spPr>
        <p:txBody>
          <a:bodyPr wrap="square" lIns="0" tIns="0" rIns="0" bIns="0" rtlCol="0">
            <a:spAutoFit/>
          </a:bodyPr>
          <a:lstStyle/>
          <a:p>
            <a:pPr algn="ctr"/>
            <a:r>
              <a:rPr kumimoji="1" lang="zh-CN" altLang="en-US" sz="825" b="1" dirty="0">
                <a:solidFill>
                  <a:srgbClr val="C00000"/>
                </a:solidFill>
                <a:latin typeface="微软雅黑" panose="020B0503020204020204" pitchFamily="34" charset="-122"/>
                <a:ea typeface="微软雅黑" panose="020B0503020204020204" pitchFamily="34" charset="-122"/>
              </a:rPr>
              <a:t>④⑤</a:t>
            </a:r>
          </a:p>
        </p:txBody>
      </p:sp>
      <p:sp>
        <p:nvSpPr>
          <p:cNvPr id="2" name="矩形 1">
            <a:extLst>
              <a:ext uri="{FF2B5EF4-FFF2-40B4-BE49-F238E27FC236}">
                <a16:creationId xmlns:a16="http://schemas.microsoft.com/office/drawing/2014/main" id="{A2A4E16D-798B-4D17-8724-968F8CF36E74}"/>
              </a:ext>
            </a:extLst>
          </p:cNvPr>
          <p:cNvSpPr/>
          <p:nvPr/>
        </p:nvSpPr>
        <p:spPr>
          <a:xfrm>
            <a:off x="188712" y="376749"/>
            <a:ext cx="8760567" cy="2744719"/>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53" tIns="34277" rIns="68553" bIns="34277" numCol="1" spcCol="0" rtlCol="0" fromWordArt="0" anchor="ctr" anchorCtr="0" forceAA="0" compatLnSpc="1">
            <a:prstTxWarp prst="textNoShape">
              <a:avLst/>
            </a:prstTxWarp>
            <a:noAutofit/>
          </a:bodyPr>
          <a:lstStyle/>
          <a:p>
            <a:pPr algn="ctr"/>
            <a:endParaRPr lang="zh-CN" altLang="en-US" sz="1349"/>
          </a:p>
        </p:txBody>
      </p:sp>
      <p:sp>
        <p:nvSpPr>
          <p:cNvPr id="5" name="文本框 4">
            <a:extLst>
              <a:ext uri="{FF2B5EF4-FFF2-40B4-BE49-F238E27FC236}">
                <a16:creationId xmlns:a16="http://schemas.microsoft.com/office/drawing/2014/main" id="{3179DEE8-8F81-4991-BDFD-F68624FEAA81}"/>
              </a:ext>
            </a:extLst>
          </p:cNvPr>
          <p:cNvSpPr txBox="1"/>
          <p:nvPr/>
        </p:nvSpPr>
        <p:spPr>
          <a:xfrm>
            <a:off x="3222297" y="428895"/>
            <a:ext cx="2688236" cy="184666"/>
          </a:xfrm>
          <a:prstGeom prst="rect">
            <a:avLst/>
          </a:prstGeom>
          <a:solidFill>
            <a:schemeClr val="tx2"/>
          </a:solidFill>
        </p:spPr>
        <p:txBody>
          <a:bodyPr wrap="none" lIns="0" tIns="0" rIns="0" bIns="0" rtlCol="0">
            <a:spAutoFit/>
          </a:bodyPr>
          <a:lstStyle/>
          <a:p>
            <a:pPr algn="l"/>
            <a:r>
              <a:rPr kumimoji="1" lang="en-US" altLang="zh-CN" sz="1200" dirty="0">
                <a:solidFill>
                  <a:schemeClr val="bg1"/>
                </a:solidFill>
                <a:latin typeface="Microsoft YaHei" panose="020B0503020204020204" pitchFamily="34" charset="-122"/>
                <a:ea typeface="Microsoft YaHei" panose="020B0503020204020204" pitchFamily="34" charset="-122"/>
              </a:rPr>
              <a:t>Underlay Network Deployment View</a:t>
            </a:r>
            <a:endParaRPr kumimoji="1" lang="zh-CN" altLang="en-US" sz="1200" dirty="0">
              <a:solidFill>
                <a:schemeClr val="bg1"/>
              </a:solidFill>
              <a:latin typeface="Microsoft YaHei" panose="020B0503020204020204" pitchFamily="34" charset="-122"/>
              <a:ea typeface="Microsoft YaHei" panose="020B0503020204020204" pitchFamily="34" charset="-122"/>
            </a:endParaRPr>
          </a:p>
        </p:txBody>
      </p:sp>
      <p:sp>
        <p:nvSpPr>
          <p:cNvPr id="6" name="梯形 5">
            <a:extLst>
              <a:ext uri="{FF2B5EF4-FFF2-40B4-BE49-F238E27FC236}">
                <a16:creationId xmlns:a16="http://schemas.microsoft.com/office/drawing/2014/main" id="{1DEF0D2D-E391-4D45-8D07-9D0F53A3C16D}"/>
              </a:ext>
            </a:extLst>
          </p:cNvPr>
          <p:cNvSpPr/>
          <p:nvPr/>
        </p:nvSpPr>
        <p:spPr>
          <a:xfrm rot="10800000">
            <a:off x="1282281" y="3128570"/>
            <a:ext cx="6498644" cy="347763"/>
          </a:xfrm>
          <a:prstGeom prst="trapezoid">
            <a:avLst>
              <a:gd name="adj" fmla="val 282288"/>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53" tIns="34277" rIns="68553" bIns="34277" numCol="1" spcCol="0" rtlCol="0" fromWordArt="0" anchor="ctr" anchorCtr="0" forceAA="0" compatLnSpc="1">
            <a:prstTxWarp prst="textNoShape">
              <a:avLst/>
            </a:prstTxWarp>
            <a:noAutofit/>
          </a:bodyPr>
          <a:lstStyle/>
          <a:p>
            <a:pPr algn="ctr"/>
            <a:endParaRPr lang="zh-CN" altLang="en-US" sz="1349"/>
          </a:p>
        </p:txBody>
      </p:sp>
      <p:sp>
        <p:nvSpPr>
          <p:cNvPr id="269" name="矩形 268">
            <a:extLst>
              <a:ext uri="{FF2B5EF4-FFF2-40B4-BE49-F238E27FC236}">
                <a16:creationId xmlns:a16="http://schemas.microsoft.com/office/drawing/2014/main" id="{7F7E1A86-2FB1-4A4F-829B-7299A5D949DB}"/>
              </a:ext>
            </a:extLst>
          </p:cNvPr>
          <p:cNvSpPr/>
          <p:nvPr/>
        </p:nvSpPr>
        <p:spPr>
          <a:xfrm>
            <a:off x="1097844" y="3476251"/>
            <a:ext cx="6611217" cy="161231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53" tIns="34277" rIns="68553" bIns="34277" numCol="1" spcCol="0" rtlCol="0" fromWordArt="0" anchor="ctr" anchorCtr="0" forceAA="0" compatLnSpc="1">
            <a:prstTxWarp prst="textNoShape">
              <a:avLst/>
            </a:prstTxWarp>
            <a:noAutofit/>
          </a:bodyPr>
          <a:lstStyle/>
          <a:p>
            <a:pPr algn="ctr"/>
            <a:endParaRPr lang="zh-CN" altLang="en-US" sz="1349"/>
          </a:p>
        </p:txBody>
      </p:sp>
      <p:sp>
        <p:nvSpPr>
          <p:cNvPr id="274" name="文本框 273">
            <a:extLst>
              <a:ext uri="{FF2B5EF4-FFF2-40B4-BE49-F238E27FC236}">
                <a16:creationId xmlns:a16="http://schemas.microsoft.com/office/drawing/2014/main" id="{8B6B65D0-532F-45D9-932F-276EA38584F8}"/>
              </a:ext>
            </a:extLst>
          </p:cNvPr>
          <p:cNvSpPr txBox="1"/>
          <p:nvPr/>
        </p:nvSpPr>
        <p:spPr>
          <a:xfrm>
            <a:off x="2557016" y="3207839"/>
            <a:ext cx="3755836" cy="207621"/>
          </a:xfrm>
          <a:prstGeom prst="rect">
            <a:avLst/>
          </a:prstGeom>
          <a:solidFill>
            <a:schemeClr val="tx2"/>
          </a:solidFill>
        </p:spPr>
        <p:txBody>
          <a:bodyPr wrap="none" lIns="0" tIns="0" rIns="0" bIns="0" rtlCol="0">
            <a:spAutoFit/>
          </a:bodyPr>
          <a:lstStyle/>
          <a:p>
            <a:pPr algn="l"/>
            <a:r>
              <a:rPr kumimoji="1" lang="en-US" altLang="zh-CN" sz="1349" dirty="0">
                <a:solidFill>
                  <a:schemeClr val="bg1"/>
                </a:solidFill>
                <a:latin typeface="Microsoft YaHei" panose="020B0503020204020204" pitchFamily="34" charset="-122"/>
                <a:ea typeface="Microsoft YaHei" panose="020B0503020204020204" pitchFamily="34" charset="-122"/>
              </a:rPr>
              <a:t>Agent Gateway Interconnection Overlay View</a:t>
            </a:r>
            <a:endParaRPr kumimoji="1" lang="zh-CN" altLang="en-US" sz="1349" dirty="0">
              <a:solidFill>
                <a:schemeClr val="bg1"/>
              </a:solidFill>
              <a:latin typeface="Microsoft YaHei" panose="020B0503020204020204" pitchFamily="34" charset="-122"/>
              <a:ea typeface="Microsoft YaHei" panose="020B0503020204020204" pitchFamily="34" charset="-122"/>
            </a:endParaRPr>
          </a:p>
        </p:txBody>
      </p:sp>
      <p:sp>
        <p:nvSpPr>
          <p:cNvPr id="275" name="TextBox 125">
            <a:extLst>
              <a:ext uri="{FF2B5EF4-FFF2-40B4-BE49-F238E27FC236}">
                <a16:creationId xmlns:a16="http://schemas.microsoft.com/office/drawing/2014/main" id="{941E8641-5363-425E-A650-B4804F52B39D}"/>
              </a:ext>
            </a:extLst>
          </p:cNvPr>
          <p:cNvSpPr txBox="1"/>
          <p:nvPr/>
        </p:nvSpPr>
        <p:spPr>
          <a:xfrm>
            <a:off x="3199204" y="2453624"/>
            <a:ext cx="608125" cy="276999"/>
          </a:xfrm>
          <a:prstGeom prst="rect">
            <a:avLst/>
          </a:prstGeom>
          <a:noFill/>
        </p:spPr>
        <p:txBody>
          <a:bodyPr wrap="square" lIns="0" rIns="0" rtlCol="0">
            <a:spAutoFit/>
          </a:bodyPr>
          <a:lstStyle/>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a:t>
            </a:r>
            <a:r>
              <a:rPr lang="zh-CN" altLang="en-US" sz="600" b="1" dirty="0">
                <a:solidFill>
                  <a:srgbClr val="C00000"/>
                </a:solidFill>
                <a:latin typeface="微软雅黑" panose="020B0503020204020204" pitchFamily="34" charset="-122"/>
                <a:ea typeface="微软雅黑" panose="020B0503020204020204" pitchFamily="34" charset="-122"/>
              </a:rPr>
              <a:t> </a:t>
            </a:r>
            <a:endParaRPr lang="en-US" altLang="zh-CN" sz="600" b="1" dirty="0">
              <a:solidFill>
                <a:srgbClr val="C00000"/>
              </a:solidFill>
              <a:latin typeface="微软雅黑" panose="020B0503020204020204" pitchFamily="34" charset="-122"/>
              <a:ea typeface="微软雅黑" panose="020B0503020204020204" pitchFamily="34" charset="-122"/>
            </a:endParaRPr>
          </a:p>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Gateway</a:t>
            </a:r>
          </a:p>
        </p:txBody>
      </p:sp>
      <p:sp>
        <p:nvSpPr>
          <p:cNvPr id="280" name="矩形 279">
            <a:extLst>
              <a:ext uri="{FF2B5EF4-FFF2-40B4-BE49-F238E27FC236}">
                <a16:creationId xmlns:a16="http://schemas.microsoft.com/office/drawing/2014/main" id="{817D9881-5BE9-4705-BEF6-180D347F0DD5}"/>
              </a:ext>
            </a:extLst>
          </p:cNvPr>
          <p:cNvSpPr/>
          <p:nvPr/>
        </p:nvSpPr>
        <p:spPr>
          <a:xfrm>
            <a:off x="5768753" y="872346"/>
            <a:ext cx="874715" cy="369332"/>
          </a:xfrm>
          <a:prstGeom prst="rect">
            <a:avLst/>
          </a:prstGeom>
        </p:spPr>
        <p:txBody>
          <a:bodyPr wrap="square">
            <a:spAutoFit/>
          </a:bodyPr>
          <a:lstStyle/>
          <a:p>
            <a:pPr algn="ctr" defTabSz="685526">
              <a:defRPr/>
            </a:pPr>
            <a:r>
              <a:rPr lang="en-US" altLang="zh-CN" sz="900" b="1" dirty="0">
                <a:solidFill>
                  <a:prstClr val="black"/>
                </a:solidFill>
                <a:latin typeface="微软雅黑" panose="020B0503020204020204" pitchFamily="34" charset="-122"/>
                <a:ea typeface="微软雅黑" panose="020B0503020204020204" pitchFamily="34" charset="-122"/>
              </a:rPr>
              <a:t>Bank</a:t>
            </a:r>
          </a:p>
          <a:p>
            <a:pPr algn="ctr" defTabSz="685526">
              <a:defRPr/>
            </a:pPr>
            <a:r>
              <a:rPr lang="en-US" altLang="zh-CN" sz="900" b="1" dirty="0">
                <a:solidFill>
                  <a:prstClr val="black"/>
                </a:solidFill>
                <a:latin typeface="微软雅黑" panose="020B0503020204020204" pitchFamily="34" charset="-122"/>
                <a:ea typeface="微软雅黑" panose="020B0503020204020204" pitchFamily="34" charset="-122"/>
              </a:rPr>
              <a:t>Data Center</a:t>
            </a:r>
            <a:endParaRPr lang="en-US" sz="900" b="1" dirty="0">
              <a:solidFill>
                <a:prstClr val="black"/>
              </a:solidFill>
              <a:latin typeface="微软雅黑" panose="020B0503020204020204" pitchFamily="34" charset="-122"/>
              <a:ea typeface="微软雅黑" panose="020B0503020204020204" pitchFamily="34" charset="-122"/>
            </a:endParaRPr>
          </a:p>
        </p:txBody>
      </p:sp>
      <p:sp>
        <p:nvSpPr>
          <p:cNvPr id="282" name="文本框 281">
            <a:extLst>
              <a:ext uri="{FF2B5EF4-FFF2-40B4-BE49-F238E27FC236}">
                <a16:creationId xmlns:a16="http://schemas.microsoft.com/office/drawing/2014/main" id="{7051F54E-1347-4BA5-A8D6-82AE43133C7E}"/>
              </a:ext>
            </a:extLst>
          </p:cNvPr>
          <p:cNvSpPr txBox="1"/>
          <p:nvPr/>
        </p:nvSpPr>
        <p:spPr>
          <a:xfrm>
            <a:off x="5934872" y="2756940"/>
            <a:ext cx="1077452" cy="196208"/>
          </a:xfrm>
          <a:prstGeom prst="rect">
            <a:avLst/>
          </a:prstGeom>
          <a:noFill/>
        </p:spPr>
        <p:txBody>
          <a:bodyPr wrap="square" rtlCol="0" anchor="ctr">
            <a:spAutoFit/>
          </a:bodyPr>
          <a:lstStyle>
            <a:defPPr>
              <a:defRPr lang="zh-CN"/>
            </a:defPPr>
            <a:lvl1pPr marR="0" lvl="0" indent="0" algn="ctr" defTabSz="913765" fontAlgn="auto">
              <a:lnSpc>
                <a:spcPct val="100000"/>
              </a:lnSpc>
              <a:spcBef>
                <a:spcPts val="0"/>
              </a:spcBef>
              <a:spcAft>
                <a:spcPts val="0"/>
              </a:spcAft>
              <a:buClrTx/>
              <a:buSzTx/>
              <a:buFontTx/>
              <a:buNone/>
              <a:tabLst/>
              <a:defRPr kumimoji="0" sz="1200" b="1" i="0" u="none" strike="noStrike" kern="0" cap="none" spc="0" normalizeH="0" baseline="0">
                <a:ln>
                  <a:noFill/>
                </a:ln>
                <a:solidFill>
                  <a:srgbClr val="C00000"/>
                </a:solidFill>
                <a:effectLst/>
                <a:uLnTx/>
                <a:uFillTx/>
                <a:latin typeface="Calibri" panose="020F0502020204030204"/>
                <a:ea typeface="等线" panose="02010600030101010101" pitchFamily="2" charset="-122"/>
                <a:cs typeface="+mn-ea"/>
              </a:defRPr>
            </a:lvl1pPr>
          </a:lstStyle>
          <a:p>
            <a:pPr defTabSz="685050">
              <a:defRPr/>
            </a:pPr>
            <a:r>
              <a:rPr lang="en-US" altLang="zh-CN" sz="675" dirty="0">
                <a:solidFill>
                  <a:srgbClr val="1D1D1A"/>
                </a:solidFill>
                <a:latin typeface="微软雅黑" panose="020B0503020204020204" pitchFamily="34" charset="-122"/>
                <a:ea typeface="微软雅黑" panose="020B0503020204020204" pitchFamily="34" charset="-122"/>
                <a:sym typeface="+mn-lt"/>
              </a:rPr>
              <a:t>Network Area</a:t>
            </a:r>
            <a:endParaRPr lang="en-US" sz="675" dirty="0">
              <a:solidFill>
                <a:srgbClr val="1D1D1A"/>
              </a:solidFill>
              <a:latin typeface="微软雅黑" panose="020B0503020204020204" pitchFamily="34" charset="-122"/>
              <a:ea typeface="微软雅黑" panose="020B0503020204020204" pitchFamily="34" charset="-122"/>
              <a:sym typeface="+mn-lt"/>
            </a:endParaRPr>
          </a:p>
        </p:txBody>
      </p:sp>
      <p:sp>
        <p:nvSpPr>
          <p:cNvPr id="283" name="文本框 282">
            <a:extLst>
              <a:ext uri="{FF2B5EF4-FFF2-40B4-BE49-F238E27FC236}">
                <a16:creationId xmlns:a16="http://schemas.microsoft.com/office/drawing/2014/main" id="{96F2B5B0-070B-46B7-9B17-3666EB6562C2}"/>
              </a:ext>
            </a:extLst>
          </p:cNvPr>
          <p:cNvSpPr txBox="1"/>
          <p:nvPr/>
        </p:nvSpPr>
        <p:spPr>
          <a:xfrm>
            <a:off x="7447773" y="2746438"/>
            <a:ext cx="1045158" cy="196208"/>
          </a:xfrm>
          <a:prstGeom prst="rect">
            <a:avLst/>
          </a:prstGeom>
          <a:noFill/>
        </p:spPr>
        <p:txBody>
          <a:bodyPr wrap="square" rtlCol="0" anchor="ctr">
            <a:spAutoFit/>
          </a:bodyPr>
          <a:lstStyle>
            <a:defPPr>
              <a:defRPr lang="zh-CN"/>
            </a:defPPr>
            <a:lvl1pPr marR="0" lvl="0" indent="0" algn="ctr" defTabSz="913765" fontAlgn="auto">
              <a:lnSpc>
                <a:spcPct val="100000"/>
              </a:lnSpc>
              <a:spcBef>
                <a:spcPts val="0"/>
              </a:spcBef>
              <a:spcAft>
                <a:spcPts val="0"/>
              </a:spcAft>
              <a:buClrTx/>
              <a:buSzTx/>
              <a:buFontTx/>
              <a:buNone/>
              <a:tabLst/>
              <a:defRPr kumimoji="0" sz="1200" b="1" i="0" u="none" strike="noStrike" kern="0" cap="none" spc="0" normalizeH="0" baseline="0">
                <a:ln>
                  <a:noFill/>
                </a:ln>
                <a:solidFill>
                  <a:srgbClr val="C00000"/>
                </a:solidFill>
                <a:effectLst/>
                <a:uLnTx/>
                <a:uFillTx/>
                <a:latin typeface="Calibri" panose="020F0502020204030204"/>
                <a:ea typeface="等线" panose="02010600030101010101" pitchFamily="2" charset="-122"/>
                <a:cs typeface="+mn-ea"/>
              </a:defRPr>
            </a:lvl1pPr>
          </a:lstStyle>
          <a:p>
            <a:pPr defTabSz="685050">
              <a:defRPr/>
            </a:pPr>
            <a:r>
              <a:rPr lang="en-US" altLang="zh-CN" sz="675" dirty="0">
                <a:solidFill>
                  <a:srgbClr val="1D1D1A"/>
                </a:solidFill>
                <a:latin typeface="微软雅黑" panose="020B0503020204020204" pitchFamily="34" charset="-122"/>
                <a:ea typeface="微软雅黑" panose="020B0503020204020204" pitchFamily="34" charset="-122"/>
                <a:sym typeface="+mn-lt"/>
              </a:rPr>
              <a:t>Computing Area</a:t>
            </a:r>
            <a:endParaRPr lang="en-US" sz="675" dirty="0">
              <a:solidFill>
                <a:srgbClr val="1D1D1A"/>
              </a:solidFill>
              <a:latin typeface="微软雅黑" panose="020B0503020204020204" pitchFamily="34" charset="-122"/>
              <a:ea typeface="微软雅黑" panose="020B0503020204020204" pitchFamily="34" charset="-122"/>
              <a:sym typeface="+mn-lt"/>
            </a:endParaRPr>
          </a:p>
        </p:txBody>
      </p:sp>
      <p:sp>
        <p:nvSpPr>
          <p:cNvPr id="284" name="矩形 283">
            <a:extLst>
              <a:ext uri="{FF2B5EF4-FFF2-40B4-BE49-F238E27FC236}">
                <a16:creationId xmlns:a16="http://schemas.microsoft.com/office/drawing/2014/main" id="{C0F4BC3E-4D7E-449B-A276-F55E74FEB849}"/>
              </a:ext>
            </a:extLst>
          </p:cNvPr>
          <p:cNvSpPr/>
          <p:nvPr/>
        </p:nvSpPr>
        <p:spPr>
          <a:xfrm>
            <a:off x="6143268" y="1687398"/>
            <a:ext cx="564182" cy="276999"/>
          </a:xfrm>
          <a:prstGeom prst="rect">
            <a:avLst/>
          </a:prstGeom>
        </p:spPr>
        <p:txBody>
          <a:bodyPr wrap="square">
            <a:spAutoFit/>
          </a:bodyPr>
          <a:lstStyle/>
          <a:p>
            <a:pPr algn="ctr" defTabSz="685526">
              <a:spcBef>
                <a:spcPct val="0"/>
              </a:spcBef>
              <a:spcAft>
                <a:spcPct val="0"/>
              </a:spcAft>
              <a:defRPr/>
            </a:pPr>
            <a:r>
              <a:rPr lang="en-US" altLang="zh-CN" sz="600" dirty="0">
                <a:solidFill>
                  <a:prstClr val="black"/>
                </a:solidFill>
                <a:latin typeface="微软雅黑" panose="020B0503020204020204" pitchFamily="34" charset="-122"/>
                <a:ea typeface="微软雅黑" panose="020B0503020204020204" pitchFamily="34" charset="-122"/>
              </a:rPr>
              <a:t>Network</a:t>
            </a:r>
          </a:p>
          <a:p>
            <a:pPr algn="ctr" defTabSz="685526">
              <a:spcBef>
                <a:spcPct val="0"/>
              </a:spcBef>
              <a:spcAft>
                <a:spcPct val="0"/>
              </a:spcAft>
              <a:defRPr/>
            </a:pPr>
            <a:r>
              <a:rPr lang="en-US" altLang="zh-CN" sz="600" dirty="0">
                <a:solidFill>
                  <a:prstClr val="black"/>
                </a:solidFill>
                <a:latin typeface="微软雅黑" panose="020B0503020204020204" pitchFamily="34" charset="-122"/>
                <a:ea typeface="微软雅黑" panose="020B0503020204020204" pitchFamily="34" charset="-122"/>
              </a:rPr>
              <a:t>Leaf</a:t>
            </a:r>
            <a:endParaRPr lang="en-US" sz="600" dirty="0">
              <a:solidFill>
                <a:srgbClr val="C00000"/>
              </a:solidFill>
              <a:latin typeface="微软雅黑" panose="020B0503020204020204" pitchFamily="34" charset="-122"/>
              <a:ea typeface="微软雅黑" panose="020B0503020204020204" pitchFamily="34" charset="-122"/>
            </a:endParaRPr>
          </a:p>
        </p:txBody>
      </p:sp>
      <p:sp>
        <p:nvSpPr>
          <p:cNvPr id="288" name="矩形 287">
            <a:extLst>
              <a:ext uri="{FF2B5EF4-FFF2-40B4-BE49-F238E27FC236}">
                <a16:creationId xmlns:a16="http://schemas.microsoft.com/office/drawing/2014/main" id="{DDC178A6-4C9A-4093-BAAE-8F94F4089AAA}"/>
              </a:ext>
            </a:extLst>
          </p:cNvPr>
          <p:cNvSpPr/>
          <p:nvPr/>
        </p:nvSpPr>
        <p:spPr>
          <a:xfrm>
            <a:off x="7297466" y="1849883"/>
            <a:ext cx="617618" cy="276999"/>
          </a:xfrm>
          <a:prstGeom prst="rect">
            <a:avLst/>
          </a:prstGeom>
        </p:spPr>
        <p:txBody>
          <a:bodyPr wrap="square">
            <a:spAutoFit/>
          </a:bodyPr>
          <a:lstStyle/>
          <a:p>
            <a:pPr algn="ctr" defTabSz="685526">
              <a:spcBef>
                <a:spcPct val="0"/>
              </a:spcBef>
              <a:spcAft>
                <a:spcPct val="0"/>
              </a:spcAft>
              <a:defRPr/>
            </a:pPr>
            <a:r>
              <a:rPr lang="en-US" altLang="zh-CN" sz="600" dirty="0">
                <a:solidFill>
                  <a:prstClr val="black"/>
                </a:solidFill>
                <a:latin typeface="微软雅黑" panose="020B0503020204020204" pitchFamily="34" charset="-122"/>
                <a:ea typeface="微软雅黑" panose="020B0503020204020204" pitchFamily="34" charset="-122"/>
              </a:rPr>
              <a:t>Computing Leaf</a:t>
            </a:r>
            <a:endParaRPr lang="en-US" sz="600" dirty="0">
              <a:solidFill>
                <a:srgbClr val="C00000"/>
              </a:solidFill>
              <a:latin typeface="微软雅黑" panose="020B0503020204020204" pitchFamily="34" charset="-122"/>
              <a:ea typeface="微软雅黑" panose="020B0503020204020204" pitchFamily="34" charset="-122"/>
            </a:endParaRPr>
          </a:p>
        </p:txBody>
      </p:sp>
      <p:sp>
        <p:nvSpPr>
          <p:cNvPr id="289" name="TextBox 125">
            <a:extLst>
              <a:ext uri="{FF2B5EF4-FFF2-40B4-BE49-F238E27FC236}">
                <a16:creationId xmlns:a16="http://schemas.microsoft.com/office/drawing/2014/main" id="{E807053E-EE68-4A99-94B0-4FB81B99BED8}"/>
              </a:ext>
            </a:extLst>
          </p:cNvPr>
          <p:cNvSpPr txBox="1"/>
          <p:nvPr/>
        </p:nvSpPr>
        <p:spPr>
          <a:xfrm>
            <a:off x="5771437" y="2446064"/>
            <a:ext cx="608125" cy="276999"/>
          </a:xfrm>
          <a:prstGeom prst="rect">
            <a:avLst/>
          </a:prstGeom>
          <a:noFill/>
        </p:spPr>
        <p:txBody>
          <a:bodyPr wrap="square" lIns="0" rIns="0" rtlCol="0">
            <a:spAutoFit/>
          </a:bodyPr>
          <a:lstStyle/>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a:t>
            </a:r>
            <a:r>
              <a:rPr lang="zh-CN" altLang="en-US" sz="600" b="1" dirty="0">
                <a:solidFill>
                  <a:srgbClr val="C00000"/>
                </a:solidFill>
                <a:latin typeface="微软雅黑" panose="020B0503020204020204" pitchFamily="34" charset="-122"/>
                <a:ea typeface="微软雅黑" panose="020B0503020204020204" pitchFamily="34" charset="-122"/>
              </a:rPr>
              <a:t> </a:t>
            </a:r>
            <a:endParaRPr lang="en-US" altLang="zh-CN" sz="600" b="1" dirty="0">
              <a:solidFill>
                <a:srgbClr val="C00000"/>
              </a:solidFill>
              <a:latin typeface="微软雅黑" panose="020B0503020204020204" pitchFamily="34" charset="-122"/>
              <a:ea typeface="微软雅黑" panose="020B0503020204020204" pitchFamily="34" charset="-122"/>
            </a:endParaRPr>
          </a:p>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Gateway</a:t>
            </a:r>
          </a:p>
        </p:txBody>
      </p:sp>
      <p:sp>
        <p:nvSpPr>
          <p:cNvPr id="291" name="TextBox 125">
            <a:extLst>
              <a:ext uri="{FF2B5EF4-FFF2-40B4-BE49-F238E27FC236}">
                <a16:creationId xmlns:a16="http://schemas.microsoft.com/office/drawing/2014/main" id="{053B03A0-6D33-4772-BF1A-DF1575A8C178}"/>
              </a:ext>
            </a:extLst>
          </p:cNvPr>
          <p:cNvSpPr txBox="1"/>
          <p:nvPr/>
        </p:nvSpPr>
        <p:spPr>
          <a:xfrm>
            <a:off x="6465319" y="2449135"/>
            <a:ext cx="608125" cy="276999"/>
          </a:xfrm>
          <a:prstGeom prst="rect">
            <a:avLst/>
          </a:prstGeom>
          <a:noFill/>
        </p:spPr>
        <p:txBody>
          <a:bodyPr wrap="square" lIns="0" rIns="0" rtlCol="0">
            <a:spAutoFit/>
          </a:bodyPr>
          <a:lstStyle/>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a:t>
            </a:r>
            <a:r>
              <a:rPr lang="zh-CN" altLang="en-US" sz="600" b="1" dirty="0">
                <a:solidFill>
                  <a:srgbClr val="C00000"/>
                </a:solidFill>
                <a:latin typeface="微软雅黑" panose="020B0503020204020204" pitchFamily="34" charset="-122"/>
                <a:ea typeface="微软雅黑" panose="020B0503020204020204" pitchFamily="34" charset="-122"/>
              </a:rPr>
              <a:t> </a:t>
            </a:r>
            <a:endParaRPr lang="en-US" altLang="zh-CN" sz="600" b="1" dirty="0">
              <a:solidFill>
                <a:srgbClr val="C00000"/>
              </a:solidFill>
              <a:latin typeface="微软雅黑" panose="020B0503020204020204" pitchFamily="34" charset="-122"/>
              <a:ea typeface="微软雅黑" panose="020B0503020204020204" pitchFamily="34" charset="-122"/>
            </a:endParaRPr>
          </a:p>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Gateway</a:t>
            </a:r>
          </a:p>
        </p:txBody>
      </p:sp>
      <p:sp>
        <p:nvSpPr>
          <p:cNvPr id="292" name="TextBox 125">
            <a:extLst>
              <a:ext uri="{FF2B5EF4-FFF2-40B4-BE49-F238E27FC236}">
                <a16:creationId xmlns:a16="http://schemas.microsoft.com/office/drawing/2014/main" id="{0D11E5A2-CBB5-4524-910E-731402B086D8}"/>
              </a:ext>
            </a:extLst>
          </p:cNvPr>
          <p:cNvSpPr txBox="1"/>
          <p:nvPr/>
        </p:nvSpPr>
        <p:spPr>
          <a:xfrm>
            <a:off x="1370796" y="3538656"/>
            <a:ext cx="839219" cy="184666"/>
          </a:xfrm>
          <a:prstGeom prst="rect">
            <a:avLst/>
          </a:prstGeom>
          <a:noFill/>
        </p:spPr>
        <p:txBody>
          <a:bodyPr wrap="square" lIns="0" rIns="0" rtlCol="0">
            <a:spAutoFit/>
          </a:bodyPr>
          <a:lstStyle/>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 Gateway</a:t>
            </a:r>
          </a:p>
        </p:txBody>
      </p:sp>
      <p:sp>
        <p:nvSpPr>
          <p:cNvPr id="293" name="TextBox 125">
            <a:extLst>
              <a:ext uri="{FF2B5EF4-FFF2-40B4-BE49-F238E27FC236}">
                <a16:creationId xmlns:a16="http://schemas.microsoft.com/office/drawing/2014/main" id="{A201DEA8-66E2-40BC-983A-5A5B05D77811}"/>
              </a:ext>
            </a:extLst>
          </p:cNvPr>
          <p:cNvSpPr txBox="1"/>
          <p:nvPr/>
        </p:nvSpPr>
        <p:spPr>
          <a:xfrm>
            <a:off x="2655825" y="3535181"/>
            <a:ext cx="839219" cy="184666"/>
          </a:xfrm>
          <a:prstGeom prst="rect">
            <a:avLst/>
          </a:prstGeom>
          <a:noFill/>
        </p:spPr>
        <p:txBody>
          <a:bodyPr wrap="square" lIns="0" rIns="0" rtlCol="0">
            <a:spAutoFit/>
          </a:bodyPr>
          <a:lstStyle/>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 Gateway</a:t>
            </a:r>
          </a:p>
        </p:txBody>
      </p:sp>
      <p:sp>
        <p:nvSpPr>
          <p:cNvPr id="294" name="TextBox 125">
            <a:extLst>
              <a:ext uri="{FF2B5EF4-FFF2-40B4-BE49-F238E27FC236}">
                <a16:creationId xmlns:a16="http://schemas.microsoft.com/office/drawing/2014/main" id="{1856C3E6-E6C8-4D2F-A228-3A3C58A6B6D7}"/>
              </a:ext>
            </a:extLst>
          </p:cNvPr>
          <p:cNvSpPr txBox="1"/>
          <p:nvPr/>
        </p:nvSpPr>
        <p:spPr>
          <a:xfrm>
            <a:off x="3855307" y="3544040"/>
            <a:ext cx="839219" cy="184666"/>
          </a:xfrm>
          <a:prstGeom prst="rect">
            <a:avLst/>
          </a:prstGeom>
          <a:noFill/>
        </p:spPr>
        <p:txBody>
          <a:bodyPr wrap="square" lIns="0" rIns="0" rtlCol="0">
            <a:spAutoFit/>
          </a:bodyPr>
          <a:lstStyle/>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 Gateway</a:t>
            </a:r>
          </a:p>
        </p:txBody>
      </p:sp>
      <p:sp>
        <p:nvSpPr>
          <p:cNvPr id="295" name="TextBox 125">
            <a:extLst>
              <a:ext uri="{FF2B5EF4-FFF2-40B4-BE49-F238E27FC236}">
                <a16:creationId xmlns:a16="http://schemas.microsoft.com/office/drawing/2014/main" id="{D3F187BF-B213-46F5-99E0-95B33EDCA264}"/>
              </a:ext>
            </a:extLst>
          </p:cNvPr>
          <p:cNvSpPr txBox="1"/>
          <p:nvPr/>
        </p:nvSpPr>
        <p:spPr>
          <a:xfrm>
            <a:off x="3835560" y="4282457"/>
            <a:ext cx="839219" cy="184666"/>
          </a:xfrm>
          <a:prstGeom prst="rect">
            <a:avLst/>
          </a:prstGeom>
          <a:noFill/>
        </p:spPr>
        <p:txBody>
          <a:bodyPr wrap="square" lIns="0" rIns="0" rtlCol="0">
            <a:spAutoFit/>
          </a:bodyPr>
          <a:lstStyle/>
          <a:p>
            <a:pPr algn="ctr" defTabSz="685526">
              <a:spcBef>
                <a:spcPct val="0"/>
              </a:spcBef>
              <a:spcAft>
                <a:spcPct val="0"/>
              </a:spcAft>
              <a:defRPr/>
            </a:pPr>
            <a:r>
              <a:rPr lang="en-US" altLang="zh-CN" sz="600" b="1" dirty="0">
                <a:solidFill>
                  <a:srgbClr val="C00000"/>
                </a:solidFill>
                <a:latin typeface="微软雅黑" panose="020B0503020204020204" pitchFamily="34" charset="-122"/>
                <a:ea typeface="微软雅黑" panose="020B0503020204020204" pitchFamily="34" charset="-122"/>
              </a:rPr>
              <a:t>Agent Gateway</a:t>
            </a:r>
          </a:p>
        </p:txBody>
      </p:sp>
      <p:sp>
        <p:nvSpPr>
          <p:cNvPr id="296" name="Title 1">
            <a:extLst>
              <a:ext uri="{FF2B5EF4-FFF2-40B4-BE49-F238E27FC236}">
                <a16:creationId xmlns:a16="http://schemas.microsoft.com/office/drawing/2014/main" id="{07F3A7C1-C601-482C-84E9-CE06C783E655}"/>
              </a:ext>
            </a:extLst>
          </p:cNvPr>
          <p:cNvSpPr>
            <a:spLocks noGrp="1"/>
          </p:cNvSpPr>
          <p:nvPr>
            <p:ph type="title"/>
          </p:nvPr>
        </p:nvSpPr>
        <p:spPr bwMode="auto">
          <a:xfrm>
            <a:off x="22303" y="-95052"/>
            <a:ext cx="8229600" cy="479970"/>
          </a:xfrm>
        </p:spPr>
        <p:txBody>
          <a:bodyPr>
            <a:noAutofit/>
          </a:bodyPr>
          <a:lstStyle/>
          <a:p>
            <a:pPr algn="l">
              <a:defRPr/>
            </a:pPr>
            <a:r>
              <a:rPr lang="en-US" altLang="zh-CN" sz="1800" dirty="0"/>
              <a:t>Networking view of the IPO Auditing use case</a:t>
            </a:r>
            <a:endParaRPr lang="en-US" sz="1800" dirty="0"/>
          </a:p>
        </p:txBody>
      </p:sp>
    </p:spTree>
    <p:extLst>
      <p:ext uri="{BB962C8B-B14F-4D97-AF65-F5344CB8AC3E}">
        <p14:creationId xmlns:p14="http://schemas.microsoft.com/office/powerpoint/2010/main" val="1031591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5536" y="987574"/>
            <a:ext cx="8208912" cy="3785652"/>
          </a:xfrm>
          <a:prstGeom prst="rect">
            <a:avLst/>
          </a:prstGeom>
          <a:noFill/>
        </p:spPr>
        <p:txBody>
          <a:bodyPr wrap="square" rtlCol="0">
            <a:spAutoFit/>
          </a:bodyPr>
          <a:lstStyle/>
          <a:p>
            <a:r>
              <a:rPr lang="en-US" altLang="zh-CN" sz="1600" b="1" dirty="0"/>
              <a:t>Agent Gateway as an Unified Service Point</a:t>
            </a:r>
          </a:p>
          <a:p>
            <a:pPr marL="446405" lvl="1" indent="-268605">
              <a:buFont typeface="Arial" panose="020B0604020202020204" pitchFamily="34" charset="0"/>
              <a:buChar char="•"/>
            </a:pPr>
            <a:r>
              <a:rPr lang="en-US" altLang="zh-CN" sz="1600" dirty="0"/>
              <a:t>The unified gateway ensures that application partners only need to interface with UnionPay at one point. </a:t>
            </a:r>
          </a:p>
          <a:p>
            <a:pPr marL="446405" lvl="1" indent="-268605">
              <a:buFont typeface="Arial" panose="020B0604020202020204" pitchFamily="34" charset="0"/>
              <a:buChar char="•"/>
            </a:pPr>
            <a:r>
              <a:rPr lang="en-US" altLang="zh-CN" sz="1600" dirty="0"/>
              <a:t>UnionPay could efficiently connect over 3,000 commercial banks and financial institutions via a single interface.</a:t>
            </a:r>
          </a:p>
          <a:p>
            <a:pPr marL="446405" lvl="1" indent="-268605">
              <a:buFont typeface="Arial" panose="020B0604020202020204" pitchFamily="34" charset="0"/>
              <a:buChar char="•"/>
            </a:pPr>
            <a:endParaRPr lang="en-US" altLang="zh-CN" sz="1600" dirty="0"/>
          </a:p>
          <a:p>
            <a:r>
              <a:rPr lang="en-US" altLang="zh-CN" sz="1600" b="1" dirty="0"/>
              <a:t>Intelligent and Secure Communication Enabler</a:t>
            </a:r>
          </a:p>
          <a:p>
            <a:pPr marL="446405" lvl="1" indent="-268605">
              <a:buFont typeface="Arial" panose="020B0604020202020204" pitchFamily="34" charset="0"/>
              <a:buChar char="•"/>
            </a:pPr>
            <a:r>
              <a:rPr lang="en-US" altLang="zh-CN" sz="1600" dirty="0"/>
              <a:t>The UnionPay Smart Gateway is capable of understanding the application partner's business needs, decomposing the tasks, and then forwarding them to the target bank Agents for execution, leading to more efficient transactions.</a:t>
            </a:r>
          </a:p>
          <a:p>
            <a:pPr marL="446405" lvl="1" indent="-268605">
              <a:buFont typeface="Arial" panose="020B0604020202020204" pitchFamily="34" charset="0"/>
              <a:buChar char="•"/>
            </a:pPr>
            <a:r>
              <a:rPr lang="en-US" altLang="zh-CN" sz="1600" dirty="0"/>
              <a:t>This mechanism gives UnionPay deep control over the business flow, enabling it to achieve business penetration management and connection management for both the application partners and the commercial banks.</a:t>
            </a:r>
          </a:p>
          <a:p>
            <a:pPr marL="446405" lvl="1" indent="-268605">
              <a:buFont typeface="Arial" panose="020B0604020202020204" pitchFamily="34" charset="0"/>
              <a:buChar char="•"/>
            </a:pPr>
            <a:r>
              <a:rPr lang="en-US" altLang="zh-CN" sz="1600" dirty="0"/>
              <a:t>Data sharing could also leverage the gateway system, benefiting all partners and encouraging further banking service innovations.</a:t>
            </a:r>
          </a:p>
        </p:txBody>
      </p:sp>
      <p:sp>
        <p:nvSpPr>
          <p:cNvPr id="4" name="Title 1"/>
          <p:cNvSpPr>
            <a:spLocks noGrp="1"/>
          </p:cNvSpPr>
          <p:nvPr>
            <p:ph type="title"/>
          </p:nvPr>
        </p:nvSpPr>
        <p:spPr bwMode="auto">
          <a:xfrm>
            <a:off x="251520" y="195486"/>
            <a:ext cx="8229600" cy="479970"/>
          </a:xfrm>
        </p:spPr>
        <p:txBody>
          <a:bodyPr>
            <a:noAutofit/>
          </a:bodyPr>
          <a:lstStyle/>
          <a:p>
            <a:pPr algn="l">
              <a:defRPr/>
            </a:pPr>
            <a:r>
              <a:rPr lang="en-US" altLang="zh-CN" sz="2800" b="1" dirty="0"/>
              <a:t>Conclusion</a:t>
            </a:r>
            <a:endParaRPr lang="en-US" sz="28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标题 1"/>
          <p:cNvSpPr>
            <a:spLocks noGrp="1"/>
          </p:cNvSpPr>
          <p:nvPr>
            <p:ph type="title"/>
          </p:nvPr>
        </p:nvSpPr>
        <p:spPr bwMode="auto">
          <a:xfrm>
            <a:off x="628650" y="1275606"/>
            <a:ext cx="7886700" cy="1047100"/>
          </a:xfrm>
        </p:spPr>
        <p:txBody>
          <a:bodyPr>
            <a:noAutofit/>
          </a:bodyPr>
          <a:lstStyle/>
          <a:p>
            <a:pPr>
              <a:defRPr/>
            </a:pPr>
            <a:r>
              <a:rPr lang="en-US" sz="4800" dirty="0"/>
              <a:t>Thank You!</a:t>
            </a:r>
            <a:endParaRPr lang="zh-CN" sz="4800" dirty="0"/>
          </a:p>
        </p:txBody>
      </p:sp>
      <p:sp>
        <p:nvSpPr>
          <p:cNvPr id="4" name="文本框 3">
            <a:extLst>
              <a:ext uri="{FF2B5EF4-FFF2-40B4-BE49-F238E27FC236}">
                <a16:creationId xmlns:a16="http://schemas.microsoft.com/office/drawing/2014/main" id="{9FE369E3-4C82-4B50-9B92-8577CBF989A8}"/>
              </a:ext>
            </a:extLst>
          </p:cNvPr>
          <p:cNvSpPr txBox="1"/>
          <p:nvPr/>
        </p:nvSpPr>
        <p:spPr>
          <a:xfrm>
            <a:off x="1475656" y="3147814"/>
            <a:ext cx="7128792" cy="738664"/>
          </a:xfrm>
          <a:prstGeom prst="rect">
            <a:avLst/>
          </a:prstGeom>
          <a:noFill/>
        </p:spPr>
        <p:txBody>
          <a:bodyPr wrap="square" rtlCol="0">
            <a:spAutoFit/>
          </a:bodyPr>
          <a:lstStyle/>
          <a:p>
            <a:r>
              <a:rPr lang="en-US" altLang="zh-CN" dirty="0"/>
              <a:t>Further reading:</a:t>
            </a:r>
          </a:p>
          <a:p>
            <a:pPr marL="171450" indent="-171450">
              <a:buFont typeface="Arial" panose="020B0604020202020204" pitchFamily="34" charset="0"/>
              <a:buChar char="•"/>
            </a:pPr>
            <a:r>
              <a:rPr lang="en-US" altLang="zh-CN" sz="1200" dirty="0">
                <a:hlinkClick r:id="rId3"/>
              </a:rPr>
              <a:t>https://datatracker.ietf.org/doc/draft-men-rtgwg-agent-networking-in-digibank/</a:t>
            </a:r>
            <a:endParaRPr lang="en-US" altLang="zh-CN" sz="1200" dirty="0"/>
          </a:p>
          <a:p>
            <a:pPr marL="171450" indent="-171450">
              <a:buFont typeface="Arial" panose="020B0604020202020204" pitchFamily="34" charset="0"/>
              <a:buChar char="•"/>
            </a:pPr>
            <a:r>
              <a:rPr lang="en-US" altLang="zh-CN" sz="1200" dirty="0">
                <a:hlinkClick r:id="rId4"/>
              </a:rPr>
              <a:t>https://datatracker.ietf.org/doc/draft-zlgsgl-rtgwg-agents-networking-framework/</a:t>
            </a:r>
            <a:endParaRPr lang="en-US" altLang="zh-CN" sz="12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9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Arial"/>
      </a:majorFont>
      <a:minorFont>
        <a:latin typeface="Arial"/>
        <a:ea typeface="微软雅黑"/>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majorFont>
      <a:minorFont>
        <a:latin typeface="等线"/>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1143</TotalTime>
  <Words>926</Words>
  <Application>Microsoft Office PowerPoint</Application>
  <DocSecurity>0</DocSecurity>
  <PresentationFormat>全屏显示(16:9)</PresentationFormat>
  <Paragraphs>181</Paragraphs>
  <Slides>8</Slides>
  <Notes>6</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8</vt:i4>
      </vt:variant>
    </vt:vector>
  </HeadingPairs>
  <TitlesOfParts>
    <vt:vector size="25" baseType="lpstr">
      <vt:lpstr> 微软雅黑</vt:lpstr>
      <vt:lpstr>Arial Unicode MS</vt:lpstr>
      <vt:lpstr>FrutigerNext LT Light</vt:lpstr>
      <vt:lpstr>FrutigerNext LT Regular</vt:lpstr>
      <vt:lpstr>MS PGothic</vt:lpstr>
      <vt:lpstr>Noto Sans</vt:lpstr>
      <vt:lpstr>等线</vt:lpstr>
      <vt:lpstr>黑体</vt:lpstr>
      <vt:lpstr>宋体</vt:lpstr>
      <vt:lpstr>微软雅黑</vt:lpstr>
      <vt:lpstr>微软雅黑</vt:lpstr>
      <vt:lpstr>Arial</vt:lpstr>
      <vt:lpstr>Calibri</vt:lpstr>
      <vt:lpstr>Wingdings</vt:lpstr>
      <vt:lpstr>Office 主题</vt:lpstr>
      <vt:lpstr>9_内容Copytext </vt:lpstr>
      <vt:lpstr>1_Office 主题</vt:lpstr>
      <vt:lpstr>Agentic Digital Banking:  Scenarios &amp; Solution Architecture</vt:lpstr>
      <vt:lpstr>Content</vt:lpstr>
      <vt:lpstr>High-level illustration of digital banking system</vt:lpstr>
      <vt:lpstr>Examples of agentic banking service </vt:lpstr>
      <vt:lpstr>IPO Auditing Use Case and the Solution System Architecture</vt:lpstr>
      <vt:lpstr>Networking view of the IPO Auditing use case</vt:lpstr>
      <vt:lpstr>Conclusion</vt:lpstr>
      <vt:lpstr>Thank You!</vt:lpstr>
    </vt:vector>
  </TitlesOfParts>
  <Manager/>
  <Company>Huawei Technologies Co.,Ltd.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Anima研讨</dc:title>
  <dc:subject/>
  <dc:creator>l00171929</dc:creator>
  <cp:keywords/>
  <dc:description/>
  <cp:lastModifiedBy>Bing Liu</cp:lastModifiedBy>
  <cp:revision>214</cp:revision>
  <dcterms:created xsi:type="dcterms:W3CDTF">2016-11-01T09:59:38Z</dcterms:created>
  <dcterms:modified xsi:type="dcterms:W3CDTF">2025-11-06T12:03:38Z</dcterms:modified>
  <cp:category/>
  <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(3)maVZ1nDG1h2yIbGD9VuHfeMufZtI4fmRomGZpfJSNTGOlsom2S88ObMnHqiYi5wqp7bjANj9
P91UCSpnxQBbvDPC82hsgvhS81NZ9/bRcu0zN2z8VGiKzydq4dRZZgkYd0Lk0meDpasa/yrx
fuYf7+eHQPWykMTU7zaVdr8JJp44kb6M93JLmJN8Wqs0q+1JzMLlT7DqD7p82P7OVNKBuqnS
zE3EFHGLPBcpGtF8/R</vt:lpwstr>
  </property>
  <property fmtid="{D5CDD505-2E9C-101B-9397-08002B2CF9AE}" pid="3" name="_2015_ms_pID_7253431">
    <vt:lpwstr>C9buEkHZ65SFt7hI5clf0TU5mCEMD9xHDsRGC68fbWRUxjighfFrOb
lpE3B4hr0waON3oDHDP3e8rXiuHhDwt9rHt/ZQWWKwL7qPcJAI+AZicLj21WTToZUXgJ1Eew
EQxOgdEdGWbrWTVgoq0zfnocJDdxCGBJhRe69YgO6bnaWi4v10Qz5xYRyZA0TFPjKRRd+E9s
JmDirdHoIrKxWG4l2AlkgEynuGHPra8yorLh</vt:lpwstr>
  </property>
  <property fmtid="{D5CDD505-2E9C-101B-9397-08002B2CF9AE}" pid="4" name="_2015_ms_pID_7253432">
    <vt:lpwstr>LA==</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1523614148</vt:lpwstr>
  </property>
</Properties>
</file>