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4.xml" ContentType="application/vnd.openxmlformats-officedocument.presentationml.slideLayou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notesSlides/notesSlide5.xml" ContentType="application/vnd.openxmlformats-officedocument.presentationml.notesSlide+xml"/>
  <Override PartName="/ppt/slideLayouts/slideLayout2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5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atatracker.ietf.org/meeting/120/materials/slides-120-eodir-sessb-note-well-dos-and-donts" TargetMode="Externa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0B460-2A45-658C-30BF-E6799E672D47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469412" name="Google Shape;66;g7179d949db_7_6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130103" name="Google Shape;67;g7179d949db_7_6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hlinkClick r:id="rId3" tooltip="https://datatracker.ietf.org/meeting/120/materials/slides-120-eodir-sessb-note-well-dos-and-donts"/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457200" lvl="0" indent="-30479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  <a:defRPr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5E4E94-632B-D7EB-EE64-B61232D633A2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2559CE-5FB0-241C-BD01-718A5BFEA746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5D6DA9-D3C3-C42A-FE66-22E2999AA4FD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" name="PlaceHolder 2" hidden="0"/>
          <p:cNvSpPr>
            <a:spLocks noGrp="1"/>
          </p:cNvSpPr>
          <p:nvPr isPhoto="0" userDrawn="0">
            <p:ph type="subTitle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 hidden="0"/>
          <p:cNvSpPr>
            <a:spLocks noGrp="1"/>
          </p:cNvSpPr>
          <p:nvPr isPhoto="0" userDrawn="0">
            <p:ph type="subTitle" hasCustomPrompt="0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5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5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5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6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7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 hidden="0"/>
          <p:cNvSpPr>
            <a:spLocks noGrp="1"/>
          </p:cNvSpPr>
          <p:nvPr isPhoto="0" userDrawn="0">
            <p:ph type="subTitle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 hidden="0"/>
          <p:cNvSpPr>
            <a:spLocks noGrp="1"/>
          </p:cNvSpPr>
          <p:nvPr isPhoto="0" userDrawn="0">
            <p:ph type="subTitle" hasCustomPrompt="0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Seventh Outline Level</a:t>
            </a:r>
            <a:endParaRPr/>
          </a:p>
        </p:txBody>
      </p:sp>
      <p:sp>
        <p:nvSpPr>
          <p:cNvPr id="2" name="PlaceHolder 3" hidden="0"/>
          <p:cNvSpPr>
            <a:spLocks noGrp="1"/>
          </p:cNvSpPr>
          <p:nvPr isPhoto="0" userDrawn="0">
            <p:ph type="sldNum" hasCustomPrompt="0"/>
          </p:nvPr>
        </p:nvSpPr>
        <p:spPr bwMode="auto">
          <a:xfrm>
            <a:off x="8741520" y="6247440"/>
            <a:ext cx="2840400" cy="472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defRPr/>
            </a:pPr>
            <a:fld id="{A7A7B0FD-0031-4FA4-8ECF-AA4CE4155D40}" type="slidenum">
              <a:rPr lang="en-US" sz="1400" b="0" strike="noStrike" spc="-1">
                <a:latin typeface="Times New Roman"/>
              </a:rPr>
              <a:t/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en-US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0" name="PlaceHolder 2" hidden="0"/>
          <p:cNvSpPr>
            <a:spLocks noGrp="1"/>
          </p:cNvSpPr>
          <p:nvPr isPhoto="0" userDrawn="0">
            <p:ph type="body" hasCustomPrompt="0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latin typeface="Arial"/>
              </a:rPr>
              <a:t>Seventh Outline Level</a:t>
            </a:r>
            <a:endParaRPr/>
          </a:p>
        </p:txBody>
      </p:sp>
      <p:sp>
        <p:nvSpPr>
          <p:cNvPr id="41" name="PlaceHolder 3" hidden="0"/>
          <p:cNvSpPr>
            <a:spLocks noGrp="1"/>
          </p:cNvSpPr>
          <p:nvPr isPhoto="0" userDrawn="0">
            <p:ph type="sldNum" hasCustomPrompt="0"/>
          </p:nvPr>
        </p:nvSpPr>
        <p:spPr bwMode="auto">
          <a:xfrm>
            <a:off x="8741520" y="6247440"/>
            <a:ext cx="2840400" cy="472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defRPr/>
            </a:pPr>
            <a:fld id="{8ED03F8D-CF59-49EF-A4C2-C856542C994C}" type="slidenum">
              <a:rPr lang="en-US" sz="1400" b="0" strike="noStrike" spc="-1">
                <a:latin typeface="Times New Roman"/>
              </a:rPr>
              <a:t/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te@cs.fau.de)" TargetMode="External"/><Relationship Id="rId4" Type="http://schemas.openxmlformats.org/officeDocument/2006/relationships/hyperlink" Target="http://pangran@chinaunicom.cn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ietf.org/meeting/side-meetings/" TargetMode="External"/><Relationship Id="rId4" Type="http://schemas.openxmlformats.org/officeDocument/2006/relationships/hyperlink" Target="http://enterprise@ietf.org" TargetMode="External"/><Relationship Id="rId5" Type="http://schemas.openxmlformats.org/officeDocument/2006/relationships/hyperlink" Target="https://notes.ietf.org/notes-ietf-124-public-side-meeting-ioa@enterprise" TargetMode="External"/><Relationship Id="rId6" Type="http://schemas.openxmlformats.org/officeDocument/2006/relationships/hyperlink" Target="https://github.com/qzhgao/Enterprise-Network/tree/main/ietf124-IoA@Enterprise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Title 1" hidden="0"/>
          <p:cNvSpPr/>
          <p:nvPr isPhoto="0" userDrawn="0"/>
        </p:nvSpPr>
        <p:spPr bwMode="auto">
          <a:xfrm>
            <a:off x="133917" y="366355"/>
            <a:ext cx="11919960" cy="416209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b" anchorCtr="0" forceAA="0" upright="0" compatLnSpc="0">
            <a:normAutofit fontScale="85000" lnSpcReduction="3000"/>
          </a:bodyPr>
          <a:lstStyle/>
          <a:p>
            <a:pPr algn="ctr">
              <a:lnSpc>
                <a:spcPct val="90000"/>
              </a:lnSpc>
              <a:defRPr/>
            </a:pPr>
            <a:br>
              <a:rPr/>
            </a:br>
            <a:r>
              <a:rPr lang="en-US" sz="7200" b="0" i="0" u="none" strike="noStrike" cap="none" spc="0">
                <a:solidFill>
                  <a:srgbClr val="000000"/>
                </a:solidFill>
                <a:latin typeface="Calibri Light"/>
                <a:cs typeface="Calibri Light"/>
              </a:rPr>
              <a:t>IETF 124 Public Side Meeting </a:t>
            </a:r>
            <a:endParaRPr lang="en-US" sz="4800" b="0" i="0" u="none" strike="noStrike" cap="none" spc="0">
              <a:solidFill>
                <a:srgbClr val="000000"/>
              </a:solidFill>
              <a:latin typeface="Calibri Light"/>
              <a:cs typeface="Calibri Light"/>
            </a:endParaRPr>
          </a:p>
          <a:p>
            <a:pPr algn="ctr">
              <a:lnSpc>
                <a:spcPct val="90000"/>
              </a:lnSpc>
              <a:defRPr/>
            </a:pPr>
            <a:endParaRPr lang="en-US" sz="4800" b="0" i="0" u="none" strike="noStrike" cap="none" spc="0">
              <a:solidFill>
                <a:srgbClr val="000000"/>
              </a:solidFill>
              <a:latin typeface="Calibri Light"/>
              <a:cs typeface="Calibri Light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 Light"/>
                <a:cs typeface="Calibri Light"/>
              </a:rPr>
              <a:t>Internet of Agents @ Enterprise (</a:t>
            </a:r>
            <a:r>
              <a:rPr lang="en-US" sz="48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IoA@Enterprise</a:t>
            </a:r>
            <a:r>
              <a:rPr lang="en-US" sz="4800" b="0" i="0" u="none" strike="noStrike" cap="none" spc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  <a:endParaRPr lang="en-US" sz="4800" b="0" i="0" u="none" strike="noStrike" cap="none" spc="0">
              <a:solidFill>
                <a:srgbClr val="000000"/>
              </a:solidFill>
              <a:latin typeface="Calibri Light"/>
              <a:cs typeface="Calibri Light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600" b="0" strike="noStrike" spc="0">
                <a:solidFill>
                  <a:srgbClr val="000000"/>
                </a:solidFill>
                <a:latin typeface="Calibri Light"/>
              </a:rPr>
              <a:t> </a:t>
            </a:r>
            <a:br>
              <a:rPr/>
            </a:br>
            <a:br>
              <a:rPr/>
            </a:br>
            <a:endParaRPr/>
          </a:p>
          <a:p>
            <a:pPr algn="ctr">
              <a:lnSpc>
                <a:spcPct val="90000"/>
              </a:lnSpc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IETF124 Montreal, Nov 06, 18:30-19:30 AM, P6-7</a:t>
            </a:r>
            <a:br>
              <a:rPr/>
            </a:br>
            <a:br>
              <a:rPr/>
            </a:br>
            <a:endParaRPr lang="en-US" sz="4800" b="0" strike="noStrike" spc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8" name="Subtitle 2" hidden="0"/>
          <p:cNvSpPr/>
          <p:nvPr isPhoto="0" userDrawn="0"/>
        </p:nvSpPr>
        <p:spPr bwMode="auto">
          <a:xfrm>
            <a:off x="711990" y="4366022"/>
            <a:ext cx="10929532" cy="233573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t" anchorCtr="0" forceAA="0" upright="0" compatLnSpc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  <a:defRPr/>
            </a:pPr>
            <a:r>
              <a:rPr lang="en-US" sz="2600" b="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Toerless Eckert, Futurewei USA (</a:t>
            </a:r>
            <a:r>
              <a:rPr lang="en-US" sz="2600" b="0" u="sng" strike="noStrike" spc="0">
                <a:solidFill>
                  <a:srgbClr val="0563C1"/>
                </a:solidFill>
                <a:latin typeface="Calibri"/>
                <a:ea typeface="Calibri"/>
                <a:cs typeface="Calibri"/>
                <a:hlinkClick r:id="rId3" tooltip="mailto:tte@cs.fau.de)"/>
              </a:rPr>
              <a:t>tte@cs.fau.de)</a:t>
            </a:r>
            <a:r>
              <a:rPr lang="en-US" sz="2600" b="0" strike="noStrik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600" b="0" strike="noStrik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999"/>
              </a:spcBef>
              <a:tabLst>
                <a:tab pos="0" algn="l"/>
              </a:tabLst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Ran Pang </a:t>
            </a:r>
            <a:r>
              <a:rPr lang="en-US" sz="2600" b="0" i="0" u="sng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4" tooltip="http://pangran@chinaunicom.cn"/>
              </a:rPr>
              <a:t>pangran@chinaunicom.cn</a:t>
            </a:r>
            <a:endParaRPr lang="en-US" sz="2600" b="0" strike="noStrik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999"/>
              </a:spcBef>
              <a:tabLst>
                <a:tab pos="0" algn="l"/>
              </a:tabLst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Textfeld 118" hidden="0"/>
          <p:cNvSpPr txBox="1"/>
          <p:nvPr isPhoto="0" userDrawn="0"/>
        </p:nvSpPr>
        <p:spPr bwMode="auto">
          <a:xfrm>
            <a:off x="11517480" y="6274440"/>
            <a:ext cx="3852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defRPr/>
            </a:pPr>
            <a:fld id="{5737347B-70C3-4F59-B8E1-8E1644D4A232}" type="slidenum">
              <a:rPr lang="en-US" sz="2400" b="0" strike="noStrike" spc="-1">
                <a:latin typeface="Times New Roman"/>
              </a:rPr>
              <a:t/>
            </a:fld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275620" name="Google Shape;69;p12"/>
          <p:cNvSpPr txBox="1">
            <a:spLocks noGrp="1"/>
          </p:cNvSpPr>
          <p:nvPr>
            <p:ph type="title"/>
          </p:nvPr>
        </p:nvSpPr>
        <p:spPr bwMode="auto">
          <a:xfrm>
            <a:off x="535899" y="21799"/>
            <a:ext cx="11363999" cy="80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  <a:defRPr/>
            </a:pPr>
            <a:r>
              <a:rPr lang="en-US" sz="3600">
                <a:latin typeface="Inter"/>
                <a:ea typeface="Inter"/>
                <a:cs typeface="Inter"/>
              </a:rPr>
              <a:t>Note Well</a:t>
            </a:r>
            <a:endParaRPr sz="3600" i="0" u="none" strike="noStrik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74119502" name="Google Shape;70;p12"/>
          <p:cNvSpPr txBox="1"/>
          <p:nvPr/>
        </p:nvSpPr>
        <p:spPr bwMode="auto">
          <a:xfrm>
            <a:off x="415599" y="921649"/>
            <a:ext cx="11360799" cy="546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9" tIns="45699" rIns="91399" bIns="45699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By participating in the IETF you agree to follow IETF processes and policies. This Note Well is a reminder </a:t>
            </a:r>
            <a:b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</a:b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of some of those policies. For a linked version of this text, please visit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www.ietf.org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/note-well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or use the QR code below.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171450" lvl="0" indent="-171450" algn="l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IETF participants are expected to behave in a professional manner and extend respect and courtesy to their colleagues at all times (see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7154: IETF Guidelines for Conduct and IETF Anti-Harassment Policy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). If you have any concerns about behavior, please contact the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Ombudsteam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 who have a duty of confidentiality and extensive powers to act, as set out in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7776: IETF Anti-Harassment Procedures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171450" lvl="0" indent="-171450" algn="l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If you are aware that any IETF contribution (as defined in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5378: Rights Contributors Provide to the IETF Trust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) is covered by patents or patent applications that are owned or controlled by you, your employer or your sponsor, you must disclose that fact, or not participate in the discussion </a:t>
            </a:r>
            <a:b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</a:b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(see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8179: Intellectual Property Rights in IETF Technology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).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171450" lvl="0" indent="-171450" algn="l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For detailed process information consult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2026: Internet Standards Process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and </a:t>
            </a:r>
            <a:b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</a:b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RFC 2418: IETF Working Group Guidelines and Procedures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and updates to those.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171450" lvl="0" indent="-171450" algn="l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IETF routinely makes public written, audio, video, and photographic records </a:t>
            </a:r>
            <a:b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</a:b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of IETF activities, including your personal information as set out in the </a:t>
            </a:r>
            <a:r>
              <a:rPr lang="en-US" sz="1800" i="1">
                <a:solidFill>
                  <a:srgbClr val="000000"/>
                </a:solidFill>
                <a:latin typeface="Inter"/>
                <a:ea typeface="Inter"/>
                <a:cs typeface="Inter"/>
              </a:rPr>
              <a:t>IETF Privacy Statement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. 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0" lvl="0" indent="0" algn="l">
              <a:lnSpc>
                <a:spcPct val="114999"/>
              </a:lnSpc>
              <a:spcBef>
                <a:spcPts val="999"/>
              </a:spcBef>
              <a:spcAft>
                <a:spcPts val="999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</a:rPr>
              <a:t>For advice, please talk to Working Group chairs or Area Directors.</a:t>
            </a:r>
            <a:endParaRPr sz="1800">
              <a:solidFill>
                <a:srgbClr val="434343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6375355" name="Google Shape;71;p12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9986499" y="4051566"/>
            <a:ext cx="1844399" cy="184439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47890" name="Title 3_0" hidden="0"/>
          <p:cNvSpPr/>
          <p:nvPr isPhoto="0" userDrawn="0"/>
        </p:nvSpPr>
        <p:spPr bwMode="auto">
          <a:xfrm>
            <a:off x="553320" y="238680"/>
            <a:ext cx="105148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ctr" anchorCtr="0" forceAA="0" upright="0" compatLnSpc="0">
            <a:normAutofit fontScale="80000" lnSpcReduction="4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Calibri Light"/>
              </a:rPr>
              <a:t>Introduction</a:t>
            </a:r>
            <a:endParaRPr lang="en-US" sz="3200" b="0" strike="noStrike" spc="0">
              <a:latin typeface="Arial"/>
            </a:endParaRPr>
          </a:p>
        </p:txBody>
      </p:sp>
      <p:sp>
        <p:nvSpPr>
          <p:cNvPr id="334181139" name="Content Placeholder 1_0" hidden="0"/>
          <p:cNvSpPr/>
          <p:nvPr isPhoto="0" userDrawn="0"/>
        </p:nvSpPr>
        <p:spPr bwMode="auto">
          <a:xfrm flipH="0" flipV="0">
            <a:off x="271564" y="802632"/>
            <a:ext cx="11679349" cy="600539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t" anchorCtr="0" forceAA="0" upright="0" compatLnSpc="0">
            <a:normAutofit fontScale="80000" lnSpcReduction="4000"/>
          </a:bodyPr>
          <a:lstStyle/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Public Side Meeting of IETF124 rules: </a:t>
            </a:r>
            <a:r>
              <a:rPr lang="en-US" sz="2400" b="0" i="0" u="sng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 tooltip="https://www.ietf.org/meeting/side-meetings/"/>
              </a:rPr>
              <a:t>https://www.ietf.org/meeting/side-meetings/</a:t>
            </a:r>
            <a:endParaRPr sz="24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	You need to be registered for IETF124 to participate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Note Well of IETF applies to these side meetings as well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8"/>
              </a:spcBef>
              <a:tabLst>
                <a:tab pos="0" algn="l"/>
              </a:tabLst>
              <a:defRPr/>
            </a:pPr>
            <a:r>
              <a:rPr lang="en-US" sz="2400" b="0" i="1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Get together of IETF participants interested in Enterprise topics</a:t>
            </a:r>
            <a:br>
              <a:rPr lang="en-US" sz="2400" b="0" i="1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</a:br>
            <a:r>
              <a:rPr lang="en-US" sz="2400" b="0" i="1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Mailing list (also to continue discuss of todays topics): </a:t>
            </a:r>
            <a:r>
              <a:rPr lang="en-US" sz="2600" b="0" i="1" u="sng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  <a:hlinkClick r:id="rId4" tooltip="http://enterprise@ietf.org"/>
              </a:rPr>
              <a:t>enterprise@ietf.org</a:t>
            </a:r>
            <a:endParaRPr sz="2600" b="0" i="1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sz="28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Agenda,  Notes page</a:t>
            </a:r>
            <a:endParaRPr lang="en-US" sz="28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760050" lvl="1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r>
              <a:rPr lang="de-DE" sz="26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https://notes.ietf.org/notes-ietf-124-public-side-meeting-ioa@enterprise"/>
              </a:rPr>
              <a:t>https://notes.ietf.org/notes-ietf-124-public-side-meeting-ioa@enterprise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760050" lvl="1">
              <a:lnSpc>
                <a:spcPct val="90000"/>
              </a:lnSpc>
              <a:spcBef>
                <a:spcPts val="996"/>
              </a:spcBef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Linked from the Trello Schedule Board 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60050" lvl="1">
              <a:lnSpc>
                <a:spcPct val="90000"/>
              </a:lnSpc>
              <a:spcBef>
                <a:spcPts val="996"/>
              </a:spcBef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Feel free to add yourself to the Participants list on that notes page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No mandate for participant collection in IETF side meetings!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60050" lvl="1">
              <a:lnSpc>
                <a:spcPct val="90000"/>
              </a:lnSpc>
              <a:spcBef>
                <a:spcPts val="996"/>
              </a:spcBef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Github for slides (hopefully later also recording): </a:t>
            </a:r>
            <a:b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PingFang SC"/>
                <a:cs typeface="Calibri"/>
              </a:rPr>
              <a:t>	</a:t>
            </a:r>
            <a:r>
              <a:rPr sz="2000" u="sng">
                <a:solidFill>
                  <a:schemeClr val="hlink"/>
                </a:solidFill>
                <a:hlinkClick r:id="rId6" tooltip="https://github.com/qzhgao/Enterprise-Network/tree/main/ietf124-IoA@Enterprise"/>
              </a:rPr>
              <a:t>https://github.com/qzhgao/Enterprise-Network/tree/main/ietf124-IoA@Enterprise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60050" lvl="1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r>
              <a:rPr lang="en-US" sz="2600" b="1" i="0" u="none" strike="noStrike" cap="none" spc="0">
                <a:solidFill>
                  <a:srgbClr val="FF0000"/>
                </a:solidFill>
                <a:latin typeface="Calibri"/>
                <a:ea typeface="PingFang SC"/>
                <a:cs typeface="Calibri"/>
              </a:rPr>
              <a:t>We would like to record the session!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</p:txBody>
      </p:sp>
      <p:sp>
        <p:nvSpPr>
          <p:cNvPr id="1883022507" name="Textfeld 121" hidden="0"/>
          <p:cNvSpPr txBox="1"/>
          <p:nvPr isPhoto="0" userDrawn="0"/>
        </p:nvSpPr>
        <p:spPr bwMode="auto">
          <a:xfrm>
            <a:off x="11517480" y="6274800"/>
            <a:ext cx="3852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defRPr/>
            </a:pPr>
            <a:fld id="{12B31A82-AD48-5AFF-A5ED-6136618ED97B}" type="slidenum">
              <a:rPr lang="en-US" sz="2400" b="0" strike="noStrike" spc="0">
                <a:latin typeface="Times New Roman"/>
              </a:rPr>
              <a:t/>
            </a:fld>
            <a:endParaRPr lang="en-US" sz="2400" b="0" strike="noStrike" spc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71605" name="Title 3_0" hidden="0"/>
          <p:cNvSpPr/>
          <p:nvPr isPhoto="0" userDrawn="0"/>
        </p:nvSpPr>
        <p:spPr bwMode="auto">
          <a:xfrm>
            <a:off x="553320" y="238680"/>
            <a:ext cx="105148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ctr" anchorCtr="0" forceAA="0" upright="0" compatLnSpc="0">
            <a:normAutofit fontScale="80000" lnSpcReduction="4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Calibri Light"/>
              </a:rPr>
              <a:t>Agenda</a:t>
            </a:r>
            <a:endParaRPr lang="en-US" sz="3200" b="0" strike="noStrike" spc="0">
              <a:latin typeface="Arial"/>
            </a:endParaRPr>
          </a:p>
        </p:txBody>
      </p:sp>
      <p:sp>
        <p:nvSpPr>
          <p:cNvPr id="46672244" name="Content Placeholder 1_0" hidden="0"/>
          <p:cNvSpPr/>
          <p:nvPr isPhoto="0" userDrawn="0"/>
        </p:nvSpPr>
        <p:spPr bwMode="auto">
          <a:xfrm flipH="0" flipV="0">
            <a:off x="271563" y="802632"/>
            <a:ext cx="11679348" cy="600539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t" anchorCtr="0" forceAA="0" upright="0" compatLnSpc="0">
            <a:normAutofit fontScale="60000" lnSpcReduction="8000"/>
          </a:bodyPr>
          <a:lstStyle/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Agents Networking Scenarios and Requirements in Enterprise Networks, 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 China Unicom (onsite)</a:t>
            </a: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Agentic Digital Banking: Scenarios &amp; Solution Architecture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 UnionPay (remote)</a:t>
            </a: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Use Cases of Agent Networking for Network Operation and Management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 Huawei (remote)</a:t>
            </a: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AI Agent Security Requirements</a:t>
            </a:r>
            <a:endParaRPr lang="en-US" sz="26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 Huawei (onsite)</a:t>
            </a: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4.  </a:t>
            </a:r>
            <a:r>
              <a:rPr lang="en-US" sz="48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Open discussion &amp; Wrap-up</a:t>
            </a:r>
            <a:endParaRPr sz="2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760050" lvl="1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760050" lvl="1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760050" lvl="1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</p:txBody>
      </p:sp>
      <p:sp>
        <p:nvSpPr>
          <p:cNvPr id="1911659227" name="Textfeld 121" hidden="0"/>
          <p:cNvSpPr txBox="1"/>
          <p:nvPr isPhoto="0" userDrawn="0"/>
        </p:nvSpPr>
        <p:spPr bwMode="auto">
          <a:xfrm>
            <a:off x="11517480" y="6274800"/>
            <a:ext cx="3852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defRPr/>
            </a:pPr>
            <a:fld id="{B1019B0D-4210-C1A8-5F40-A03FF65EBB6D}" type="slidenum">
              <a:rPr lang="en-US" sz="2400" b="0" strike="noStrike" spc="0">
                <a:latin typeface="Times New Roman"/>
              </a:rPr>
              <a:t/>
            </a:fld>
            <a:endParaRPr lang="en-US" sz="2400" b="0" strike="noStrike" spc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513223" name="Title 3_0" hidden="0"/>
          <p:cNvSpPr/>
          <p:nvPr isPhoto="0" userDrawn="0"/>
        </p:nvSpPr>
        <p:spPr bwMode="auto">
          <a:xfrm>
            <a:off x="553320" y="238680"/>
            <a:ext cx="105148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ctr" anchorCtr="0" forceAA="0" upright="0" compatLnSpc="0">
            <a:normAutofit fontScale="80000" lnSpcReduction="4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Calibri Light"/>
              </a:rPr>
              <a:t>Open Discussion</a:t>
            </a:r>
            <a:endParaRPr lang="en-US" sz="3200" b="0" strike="noStrike" spc="0">
              <a:latin typeface="Arial"/>
            </a:endParaRPr>
          </a:p>
        </p:txBody>
      </p:sp>
      <p:sp>
        <p:nvSpPr>
          <p:cNvPr id="706032316" name="Content Placeholder 1_0" hidden="0"/>
          <p:cNvSpPr/>
          <p:nvPr isPhoto="0" userDrawn="0"/>
        </p:nvSpPr>
        <p:spPr bwMode="auto">
          <a:xfrm flipH="0" flipV="0">
            <a:off x="271563" y="802632"/>
            <a:ext cx="11679348" cy="600539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clip" vert="horz" wrap="square" lIns="90000" tIns="45000" rIns="90000" bIns="45000" numCol="1" spcCol="0" rtlCol="0" fromWordArt="0" anchor="t" anchorCtr="0" forceAA="0" upright="0" compatLnSpc="0">
            <a:normAutofit/>
          </a:bodyPr>
          <a:lstStyle/>
          <a:p>
            <a:pPr marL="360000" lvl="0">
              <a:lnSpc>
                <a:spcPct val="90000"/>
              </a:lnSpc>
              <a:spcBef>
                <a:spcPts val="997"/>
              </a:spcBef>
              <a:tabLst>
                <a:tab pos="0" algn="l"/>
              </a:tabLst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Calibri"/>
              <a:ea typeface="PingFang SC"/>
              <a:cs typeface="Calibri"/>
            </a:endParaRPr>
          </a:p>
        </p:txBody>
      </p:sp>
      <p:sp>
        <p:nvSpPr>
          <p:cNvPr id="2063203198" name="Textfeld 121" hidden="0"/>
          <p:cNvSpPr txBox="1"/>
          <p:nvPr isPhoto="0" userDrawn="0"/>
        </p:nvSpPr>
        <p:spPr bwMode="auto">
          <a:xfrm>
            <a:off x="11517480" y="6274800"/>
            <a:ext cx="3852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defRPr/>
            </a:pPr>
            <a:fld id="{3F9CC6BD-71BF-8144-264C-8F27BD9B6B7C}" type="slidenum">
              <a:rPr lang="en-US" sz="2400" b="0" strike="noStrike" spc="0">
                <a:latin typeface="Times New Roman"/>
              </a:rPr>
              <a:t/>
            </a:fld>
            <a:endParaRPr lang="en-US" sz="2400" b="0" strike="noStrike" spc="0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ONLYOFFICE/8.1.1.27</Application>
  <DocSecurity>0</DocSecurity>
  <PresentationFormat>Breitbild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Theme 1</vt:lpstr>
      <vt:lpstr>Theme 2</vt:lpstr>
      <vt:lpstr>Slide 1</vt:lpstr>
      <vt:lpstr>Slide 2</vt:lpstr>
      <vt:lpstr>Slide 3</vt:lpstr>
      <vt:lpstr>Slide 4</vt:lpstr>
      <vt:lpstr>Slide 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Execution of actions with ancillary data</dc:title>
  <dc:subject/>
  <dc:creator>Toerless Eckert</dc:creator>
  <cp:keywords/>
  <dc:description/>
  <dc:identifier/>
  <dc:language>en-US</dc:language>
  <cp:lastModifiedBy/>
  <cp:revision>107</cp:revision>
  <dcterms:created xsi:type="dcterms:W3CDTF">2021-06-09T15:44:28Z</dcterms:created>
  <dcterms:modified xsi:type="dcterms:W3CDTF">2025-11-06T20:21:27Z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